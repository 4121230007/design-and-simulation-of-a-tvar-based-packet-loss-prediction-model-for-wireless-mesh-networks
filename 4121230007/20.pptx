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2.xml" ContentType="application/vnd.openxmlformats-officedocument.theme+xml"/>
  <Override PartName="/ppt/theme/theme31.xml" ContentType="application/vnd.openxmlformats-officedocument.theme+xml"/>
  <Override PartName="/ppt/theme/theme1.xml" ContentType="application/vnd.openxmlformats-officedocument.theme+xml"/>
  <Override PartName="/ppt/presentation.xml" ContentType="application/vnd.openxmlformats-officedocument.presentationml.presentation.main+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Masters/slideMaster16.xml" ContentType="application/vnd.openxmlformats-officedocument.presentationml.slideMaster+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11.xml" ContentType="application/vnd.openxmlformats-officedocument.presentationml.notesSlide+xml"/>
  <Override PartName="/ppt/slideLayouts/slideLayout23.xml" ContentType="application/vnd.openxmlformats-officedocument.presentationml.slideLayout+xml"/>
  <Override PartName="/ppt/slideLayouts/slideLayout1.xml" ContentType="application/vnd.openxmlformats-officedocument.presentationml.slideLayout+xml"/>
  <Override PartName="/ppt/slideLayouts/slideLayout20.xml" ContentType="application/vnd.openxmlformats-officedocument.presentationml.slideLayout+xml"/>
  <Override PartName="/ppt/slideLayouts/slideLayout2.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26.xml" ContentType="application/vnd.openxmlformats-officedocument.presentationml.slideLayout+xml"/>
  <Override PartName="/ppt/slideLayouts/slideLayout4.xml" ContentType="application/vnd.openxmlformats-officedocument.presentationml.slideLayout+xml"/>
  <Override PartName="/ppt/slideLayouts/slideLayout27.xml" ContentType="application/vnd.openxmlformats-officedocument.presentationml.slideLayout+xml"/>
  <Override PartName="/ppt/slideLayouts/slideLayout5.xml" ContentType="application/vnd.openxmlformats-officedocument.presentationml.slideLayout+xml"/>
  <Override PartName="/ppt/slideLayouts/slideLayout24.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embedTrueTypeFonts="1">
  <p:sldMasterIdLst>
    <p:sldMasterId id="2147483648" r:id="rId2"/>
    <p:sldMasterId id="214748366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x="12192000" cy="6858000"/>
  <p:notesSz cx="6858000" cy="9144000"/>
  <p:embeddedFontLst>
    <p:embeddedFont>
      <p:font typeface="Lato"/>
      <p:regular r:id="rId26"/>
      <p:bold r:id="rId27"/>
      <p:italic r:id="rId28"/>
      <p:boldItalic r:id="rId29"/>
    </p:embeddedFont>
    <p:embeddedFont>
      <p:font typeface="Gill Sans"/>
    </p:embeddedFont>
    <p:embeddedFont>
      <p:font typeface="Poppins SemiBold"/>
    </p:embeddedFont>
    <p:embeddedFont>
      <p:font typeface="Poppins"/>
      <p:regular r:id="rId30"/>
      <p:bold r:id="rId31"/>
      <p:italic r:id="rId32"/>
      <p:boldItalic r:id="rId31"/>
    </p:embeddedFont>
    <p:embeddedFont>
      <p:font typeface="Lucida Sans"/>
      <p:regular r:id="rId33"/>
    </p:embeddedFont>
  </p:embeddedFon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16.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font" Target="fonts/Font_1_Lato_Regular.fntdata"/><Relationship Id="rId27" Type="http://schemas.openxmlformats.org/officeDocument/2006/relationships/font" Target="fonts/Font_2_Lato_Bold.fntdata"/><Relationship Id="rId28" Type="http://schemas.openxmlformats.org/officeDocument/2006/relationships/font" Target="fonts/Font_3_Lato_Italic.fntdata"/><Relationship Id="rId29" Type="http://schemas.openxmlformats.org/officeDocument/2006/relationships/font" Target="fonts/Font_4_Lato_BoldItalic.fntdata"/><Relationship Id="rId30" Type="http://schemas.openxmlformats.org/officeDocument/2006/relationships/font" Target="fonts/Font_5_Poppins_Regular.fntdata"/><Relationship Id="rId31" Type="http://schemas.openxmlformats.org/officeDocument/2006/relationships/font" Target="fonts/Font_6_Poppins_Bold.fntdata"/><Relationship Id="rId32" Type="http://schemas.openxmlformats.org/officeDocument/2006/relationships/font" Target="fonts/Font_7_Poppins_Italic.fntdata"/><Relationship Id="rId33" Type="http://schemas.openxmlformats.org/officeDocument/2006/relationships/font" Target="fonts/Font_8_Lucida_Sans_Regular.fntdata"/><Relationship Id="rId3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1.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1800" b="0" u="none" strike="noStrike">
                <a:solidFill>
                  <a:srgbClr val="000000"/>
                </a:solidFill>
                <a:effectLst/>
                <a:uFillTx/>
                <a:latin typeface="Arial"/>
              </a:rPr>
              <a:t>Click to move the slide</a:t>
            </a:r>
            <a:endParaRPr lang="en-US" sz="1800" b="0" u="none" strike="noStrike">
              <a:solidFill>
                <a:srgbClr val="000000"/>
              </a:solidFill>
              <a:effectLst/>
              <a:uFillTx/>
              <a:latin typeface="Arial"/>
            </a:endParaRPr>
          </a:p>
        </p:txBody>
      </p:sp>
      <p:sp>
        <p:nvSpPr>
          <p:cNvPr id="177"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178"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79" name="PlaceHolder 4"/>
          <p:cNvSpPr>
            <a:spLocks noGrp="1"/>
          </p:cNvSpPr>
          <p:nvPr>
            <p:ph type="dt" idx="9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80" name="PlaceHolder 5"/>
          <p:cNvSpPr>
            <a:spLocks noGrp="1"/>
          </p:cNvSpPr>
          <p:nvPr>
            <p:ph type="ftr" idx="9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81" name="PlaceHolder 6"/>
          <p:cNvSpPr>
            <a:spLocks noGrp="1"/>
          </p:cNvSpPr>
          <p:nvPr>
            <p:ph type="sldNum" idx="9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B030CEB5-83C2-4EE4-A8DF-A87CB804CA2F}"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PlaceHolder 1"/>
          <p:cNvSpPr>
            <a:spLocks noGrp="1"/>
          </p:cNvSpPr>
          <p:nvPr>
            <p:ph type="sldImg"/>
          </p:nvPr>
        </p:nvSpPr>
        <p:spPr>
          <a:xfrm>
            <a:off x="685800" y="1143000"/>
            <a:ext cx="5482800" cy="3082680"/>
          </a:xfrm>
          <a:prstGeom prst="rect">
            <a:avLst/>
          </a:prstGeom>
          <a:ln w="0">
            <a:noFill/>
          </a:ln>
        </p:spPr>
      </p:sp>
      <p:sp>
        <p:nvSpPr>
          <p:cNvPr id="506"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507" name="PlaceHolder 3"/>
          <p:cNvSpPr>
            <a:spLocks noGrp="1"/>
          </p:cNvSpPr>
          <p:nvPr>
            <p:ph type="sldNum" idx="94"/>
          </p:nvPr>
        </p:nvSpPr>
        <p:spPr>
          <a:xfrm>
            <a:off x="3884760" y="8685360"/>
            <a:ext cx="2968200" cy="455040"/>
          </a:xfrm>
          <a:prstGeom prst="rect">
            <a:avLst/>
          </a:prstGeom>
          <a:noFill/>
          <a:ln w="0">
            <a:noFill/>
          </a:ln>
        </p:spPr>
        <p:txBody>
          <a:bodyPr lIns="91440" tIns="45720" rIns="91440" bIns="45720" anchor="b">
            <a:noAutofit/>
          </a:bodyPr>
          <a:p>
            <a:pPr indent="0" algn="l">
              <a:buNone/>
            </a:pPr>
            <a:endParaRPr lang="en-US" sz="14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8" name="PlaceHolder 1"/>
          <p:cNvSpPr>
            <a:spLocks noGrp="1"/>
          </p:cNvSpPr>
          <p:nvPr>
            <p:ph type="sldImg"/>
          </p:nvPr>
        </p:nvSpPr>
        <p:spPr>
          <a:xfrm>
            <a:off x="533520" y="764280"/>
            <a:ext cx="6702840" cy="3769560"/>
          </a:xfrm>
          <a:prstGeom prst="rect">
            <a:avLst/>
          </a:prstGeom>
          <a:ln w="0">
            <a:noFill/>
          </a:ln>
        </p:spPr>
      </p:sp>
      <p:sp>
        <p:nvSpPr>
          <p:cNvPr id="509"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D0D0D"/>
                </a:solidFill>
                <a:effectLst/>
                <a:uFillTx/>
                <a:latin typeface="Calibri"/>
                <a:ea typeface="Calibri"/>
              </a:rPr>
              <a:t>Grand View Research growing at a compound annual growth rate (CAGR) of 8.6% from 2023 to 2030 </a:t>
            </a:r>
            <a:endParaRPr lang="en-US" sz="2000" b="0" u="none" strike="noStrik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PlaceHolder 1"/>
          <p:cNvSpPr>
            <a:spLocks noGrp="1"/>
          </p:cNvSpPr>
          <p:nvPr>
            <p:ph type="sldImg"/>
          </p:nvPr>
        </p:nvSpPr>
        <p:spPr>
          <a:xfrm>
            <a:off x="1440" y="0"/>
            <a:ext cx="0" cy="0"/>
          </a:xfrm>
          <a:prstGeom prst="rect">
            <a:avLst/>
          </a:prstGeom>
          <a:ln w="0">
            <a:noFill/>
          </a:ln>
        </p:spPr>
      </p:sp>
      <p:sp>
        <p:nvSpPr>
          <p:cNvPr id="511" name="PlaceHolder 2"/>
          <p:cNvSpPr>
            <a:spLocks noGrp="1"/>
          </p:cNvSpPr>
          <p:nvPr>
            <p:ph type="body"/>
          </p:nvPr>
        </p:nvSpPr>
        <p:spPr>
          <a:xfrm>
            <a:off x="777240" y="4777560"/>
            <a:ext cx="6214320" cy="4522680"/>
          </a:xfrm>
          <a:prstGeom prst="rect">
            <a:avLst/>
          </a:prstGeom>
          <a:noFill/>
          <a:ln w="0">
            <a:noFill/>
          </a:ln>
        </p:spPr>
        <p:txBody>
          <a:bodyPr lIns="0" tIns="0" rIns="0" bIns="0" anchor="t">
            <a:noAutofit/>
          </a:bodyPr>
          <a:p>
            <a:pPr indent="0" algn="l">
              <a:lnSpc>
                <a:spcPct val="100000"/>
              </a:lnSpc>
              <a:buNone/>
              <a:tabLst>
                <a:tab pos="0" algn="l"/>
              </a:tabLst>
            </a:pPr>
            <a:r>
              <a:rPr lang="en-US" sz="1000" b="0" u="none" strike="noStrike">
                <a:solidFill>
                  <a:srgbClr val="000000"/>
                </a:solidFill>
                <a:effectLst/>
                <a:uFillTx/>
                <a:latin typeface="Arial"/>
                <a:ea typeface="Arial"/>
              </a:rPr>
              <a:t> A 100 meter node spacing was introduced, this was chosen to give the model relatively good connectivity and better reach for the packets while also keeping the packet loss realistic.</a:t>
            </a:r>
            <a:endParaRPr lang="en-US" sz="1000" b="0" u="none" strike="noStrike">
              <a:solidFill>
                <a:srgbClr val="000000"/>
              </a:solidFill>
              <a:effectLst/>
              <a:uFillTx/>
              <a:latin typeface="Arial"/>
            </a:endParaRPr>
          </a:p>
          <a:p>
            <a:pPr indent="0" algn="l">
              <a:lnSpc>
                <a:spcPct val="100000"/>
              </a:lnSpc>
              <a:spcBef>
                <a:spcPts val="2180"/>
              </a:spcBef>
              <a:buNone/>
              <a:tabLst>
                <a:tab pos="0" algn="l"/>
              </a:tabLst>
            </a:pPr>
            <a:r>
              <a:rPr lang="en-US" sz="1000" b="0" u="none" strike="noStrike">
                <a:solidFill>
                  <a:srgbClr val="000000"/>
                </a:solidFill>
                <a:effectLst/>
                <a:uFillTx/>
                <a:latin typeface="Calibri"/>
                <a:ea typeface="Calibri"/>
              </a:rPr>
              <a:t>with 4 columns and 3 rows with the top row being incomplete </a:t>
            </a:r>
            <a:endParaRPr lang="en-US" sz="1000" b="0" u="none" strike="noStrike">
              <a:solidFill>
                <a:srgbClr val="000000"/>
              </a:solidFill>
              <a:effectLst/>
              <a:uFillTx/>
              <a:latin typeface="Arial"/>
            </a:endParaRPr>
          </a:p>
          <a:p>
            <a:pPr indent="0" algn="l">
              <a:lnSpc>
                <a:spcPct val="100000"/>
              </a:lnSpc>
              <a:spcBef>
                <a:spcPts val="2180"/>
              </a:spcBef>
              <a:buNone/>
              <a:tabLst>
                <a:tab pos="0" algn="l"/>
              </a:tabLst>
            </a:pPr>
            <a:endParaRPr lang="en-US" sz="1000" b="0" u="none" strike="noStrik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2" name="PlaceHolder 1"/>
          <p:cNvSpPr>
            <a:spLocks noGrp="1"/>
          </p:cNvSpPr>
          <p:nvPr>
            <p:ph type="sldImg"/>
          </p:nvPr>
        </p:nvSpPr>
        <p:spPr>
          <a:xfrm>
            <a:off x="533520" y="764280"/>
            <a:ext cx="6702840" cy="3769560"/>
          </a:xfrm>
          <a:prstGeom prst="rect">
            <a:avLst/>
          </a:prstGeom>
          <a:ln w="0">
            <a:noFill/>
          </a:ln>
        </p:spPr>
      </p:sp>
      <p:sp>
        <p:nvSpPr>
          <p:cNvPr id="513"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ea typeface="Arial"/>
              </a:rPr>
              <a:t>Regime switching: between 40 second and 90 second intervals </a:t>
            </a:r>
            <a:endParaRPr lang="en-US" sz="2000" b="0" u="none" strike="noStrik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6.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6.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6.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g3f3e00d81be_143_0)">
    <p:bg>
      <p:bgPr>
        <a:solidFill>
          <a:srgbClr val="000000"/>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3"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 name="PlaceHolder 3"/>
          <p:cNvSpPr>
            <a:spLocks noGrp="1"/>
          </p:cNvSpPr>
          <p:nvPr>
            <p:ph type="dt" idx="1"/>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5" name="PlaceHolder 4"/>
          <p:cNvSpPr>
            <a:spLocks noGrp="1"/>
          </p:cNvSpPr>
          <p:nvPr>
            <p:ph type="ftr" idx="2"/>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6" name="PlaceHolder 5"/>
          <p:cNvSpPr>
            <a:spLocks noGrp="1"/>
          </p:cNvSpPr>
          <p:nvPr>
            <p:ph type="sldNum" idx="3"/>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g3f3e00d81be_150_0)">
    <p:bg>
      <p:bgPr>
        <a:solidFill>
          <a:srgbClr val="000000"/>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8"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9" name="PlaceHolder 3"/>
          <p:cNvSpPr>
            <a:spLocks noGrp="1"/>
          </p:cNvSpPr>
          <p:nvPr>
            <p:ph type="dt" idx="4"/>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10" name="PlaceHolder 4"/>
          <p:cNvSpPr>
            <a:spLocks noGrp="1"/>
          </p:cNvSpPr>
          <p:nvPr>
            <p:ph type="ftr" idx="5"/>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11" name="PlaceHolder 5"/>
          <p:cNvSpPr>
            <a:spLocks noGrp="1"/>
          </p:cNvSpPr>
          <p:nvPr>
            <p:ph type="sldNum" idx="6"/>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g3f3e00d81be_157_0)">
    <p:bg>
      <p:bgPr>
        <a:solidFill>
          <a:srgbClr val="000000"/>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13"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4" name="PlaceHolder 3"/>
          <p:cNvSpPr>
            <a:spLocks noGrp="1"/>
          </p:cNvSpPr>
          <p:nvPr>
            <p:ph type="dt" idx="7"/>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15" name="PlaceHolder 4"/>
          <p:cNvSpPr>
            <a:spLocks noGrp="1"/>
          </p:cNvSpPr>
          <p:nvPr>
            <p:ph type="ftr" idx="8"/>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16" name="PlaceHolder 5"/>
          <p:cNvSpPr>
            <a:spLocks noGrp="1"/>
          </p:cNvSpPr>
          <p:nvPr>
            <p:ph type="sldNum" idx="9"/>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g3f3e00d81be_171_0)">
    <p:bg>
      <p:bgPr>
        <a:solidFill>
          <a:srgbClr val="000000"/>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18"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9" name="PlaceHolder 3"/>
          <p:cNvSpPr>
            <a:spLocks noGrp="1"/>
          </p:cNvSpPr>
          <p:nvPr>
            <p:ph type="dt" idx="10"/>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20" name="PlaceHolder 4"/>
          <p:cNvSpPr>
            <a:spLocks noGrp="1"/>
          </p:cNvSpPr>
          <p:nvPr>
            <p:ph type="ftr" idx="11"/>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21" name="PlaceHolder 5"/>
          <p:cNvSpPr>
            <a:spLocks noGrp="1"/>
          </p:cNvSpPr>
          <p:nvPr>
            <p:ph type="sldNum" idx="12"/>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g3f3e00d81be_36_0)">
    <p:bg>
      <p:bgPr>
        <a:solidFill>
          <a:srgbClr val="000000"/>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23"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24" name="PlaceHolder 3"/>
          <p:cNvSpPr>
            <a:spLocks noGrp="1"/>
          </p:cNvSpPr>
          <p:nvPr>
            <p:ph type="dt" idx="13"/>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25" name="PlaceHolder 4"/>
          <p:cNvSpPr>
            <a:spLocks noGrp="1"/>
          </p:cNvSpPr>
          <p:nvPr>
            <p:ph type="ftr" idx="14"/>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26" name="PlaceHolder 5"/>
          <p:cNvSpPr>
            <a:spLocks noGrp="1"/>
          </p:cNvSpPr>
          <p:nvPr>
            <p:ph type="sldNum" idx="15"/>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g3f3e00d81be_92_0)">
    <p:bg>
      <p:bgPr>
        <a:solidFill>
          <a:srgbClr val="000000"/>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28"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29" name="PlaceHolder 3"/>
          <p:cNvSpPr>
            <a:spLocks noGrp="1"/>
          </p:cNvSpPr>
          <p:nvPr>
            <p:ph type="dt" idx="16"/>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30" name="PlaceHolder 4"/>
          <p:cNvSpPr>
            <a:spLocks noGrp="1"/>
          </p:cNvSpPr>
          <p:nvPr>
            <p:ph type="ftr" idx="17"/>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31" name="PlaceHolder 5"/>
          <p:cNvSpPr>
            <a:spLocks noGrp="1"/>
          </p:cNvSpPr>
          <p:nvPr>
            <p:ph type="sldNum" idx="18"/>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bg>
      <p:bgPr>
        <a:solidFill>
          <a:srgbClr val="000000"/>
        </a:solidFill>
      </p:bgPr>
    </p:bg>
    <p:spTree>
      <p:nvGrpSpPr>
        <p:cNvPr id="1" name=""/>
        <p:cNvGrpSpPr/>
        <p:nvPr/>
      </p:nvGrpSpPr>
      <p:grpSpPr>
        <a:xfrm>
          <a:off x="0" y="0"/>
          <a:ext cx="0" cy="0"/>
          <a:chOff x="0" y="0"/>
          <a:chExt cx="0" cy="0"/>
        </a:xfrm>
      </p:grpSpPr>
      <p:sp>
        <p:nvSpPr>
          <p:cNvPr id="32" name="Google Shape;23;p37"/>
          <p:cNvSpPr/>
          <p:nvPr/>
        </p:nvSpPr>
        <p:spPr>
          <a:xfrm>
            <a:off x="4038480" y="2334600"/>
            <a:ext cx="3305520" cy="3183480"/>
          </a:xfrm>
          <a:prstGeom prst="ellipse">
            <a:avLst/>
          </a:prstGeom>
          <a:blipFill rotWithShape="0">
            <a:blip r:embed="rId2"/>
            <a:srcRect/>
            <a:stretch/>
          </a:blipFill>
          <a:ln w="0">
            <a:noFill/>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33" name="Google Shape;24;p37"/>
          <p:cNvSpPr/>
          <p:nvPr/>
        </p:nvSpPr>
        <p:spPr>
          <a:xfrm>
            <a:off x="0" y="0"/>
            <a:ext cx="12188520" cy="6173280"/>
          </a:xfrm>
          <a:prstGeom prst="rect">
            <a:avLst/>
          </a:prstGeom>
          <a:solidFill>
            <a:srgbClr val="FFFFCC">
              <a:alpha val="86000"/>
            </a:srgbClr>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34" name="Google Shape;25;p37"/>
          <p:cNvSpPr/>
          <p:nvPr/>
        </p:nvSpPr>
        <p:spPr>
          <a:xfrm>
            <a:off x="0" y="0"/>
            <a:ext cx="9140400" cy="18216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sp>
        <p:nvSpPr>
          <p:cNvPr id="35" name="Google Shape;26;p37"/>
          <p:cNvSpPr/>
          <p:nvPr/>
        </p:nvSpPr>
        <p:spPr>
          <a:xfrm>
            <a:off x="9144000" y="0"/>
            <a:ext cx="3044520" cy="182160"/>
          </a:xfrm>
          <a:prstGeom prst="rect">
            <a:avLst/>
          </a:prstGeom>
          <a:solidFill>
            <a:schemeClr val="accent4"/>
          </a:solidFill>
          <a:ln w="12700">
            <a:solidFill>
              <a:srgbClr val="FFC000"/>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36" name="Google Shape;27;p37"/>
          <p:cNvSpPr/>
          <p:nvPr/>
        </p:nvSpPr>
        <p:spPr>
          <a:xfrm>
            <a:off x="0" y="6176880"/>
            <a:ext cx="12188520" cy="67752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pic>
        <p:nvPicPr>
          <p:cNvPr id="37" name="Google Shape;28;p37"/>
          <p:cNvPicPr/>
          <p:nvPr/>
        </p:nvPicPr>
        <p:blipFill>
          <a:blip r:embed="rId3"/>
          <a:stretch/>
        </p:blipFill>
        <p:spPr>
          <a:xfrm>
            <a:off x="8210520" y="6176880"/>
            <a:ext cx="3978000" cy="681480"/>
          </a:xfrm>
          <a:prstGeom prst="rect">
            <a:avLst/>
          </a:prstGeom>
          <a:noFill/>
          <a:ln w="0">
            <a:noFill/>
          </a:ln>
        </p:spPr>
      </p:pic>
      <p:sp>
        <p:nvSpPr>
          <p:cNvPr id="38"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39"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0" name="PlaceHolder 3"/>
          <p:cNvSpPr>
            <a:spLocks noGrp="1"/>
          </p:cNvSpPr>
          <p:nvPr>
            <p:ph type="dt" idx="19"/>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41" name="PlaceHolder 4"/>
          <p:cNvSpPr>
            <a:spLocks noGrp="1"/>
          </p:cNvSpPr>
          <p:nvPr>
            <p:ph type="ftr" idx="20"/>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42" name="PlaceHolder 5"/>
          <p:cNvSpPr>
            <a:spLocks noGrp="1"/>
          </p:cNvSpPr>
          <p:nvPr>
            <p:ph type="sldNum" idx="21"/>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g3f3e00d81be_15_0)">
    <p:bg>
      <p:bgPr>
        <a:solidFill>
          <a:srgbClr val="000000"/>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44"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5" name="PlaceHolder 3"/>
          <p:cNvSpPr>
            <a:spLocks noGrp="1"/>
          </p:cNvSpPr>
          <p:nvPr>
            <p:ph type="dt" idx="22"/>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46" name="PlaceHolder 4"/>
          <p:cNvSpPr>
            <a:spLocks noGrp="1"/>
          </p:cNvSpPr>
          <p:nvPr>
            <p:ph type="ftr" idx="23"/>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47" name="PlaceHolder 5"/>
          <p:cNvSpPr>
            <a:spLocks noGrp="1"/>
          </p:cNvSpPr>
          <p:nvPr>
            <p:ph type="sldNum" idx="24"/>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g3f3e00d81be_22_0)">
    <p:bg>
      <p:bgPr>
        <a:solidFill>
          <a:srgbClr val="000000"/>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49"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50" name="PlaceHolder 3"/>
          <p:cNvSpPr>
            <a:spLocks noGrp="1"/>
          </p:cNvSpPr>
          <p:nvPr>
            <p:ph type="dt" idx="25"/>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51" name="PlaceHolder 4"/>
          <p:cNvSpPr>
            <a:spLocks noGrp="1"/>
          </p:cNvSpPr>
          <p:nvPr>
            <p:ph type="ftr" idx="26"/>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52" name="PlaceHolder 5"/>
          <p:cNvSpPr>
            <a:spLocks noGrp="1"/>
          </p:cNvSpPr>
          <p:nvPr>
            <p:ph type="sldNum" idx="27"/>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g3f3e00d81be_29_0)">
    <p:bg>
      <p:bgPr>
        <a:solidFill>
          <a:srgbClr val="000000"/>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54"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55" name="PlaceHolder 3"/>
          <p:cNvSpPr>
            <a:spLocks noGrp="1"/>
          </p:cNvSpPr>
          <p:nvPr>
            <p:ph type="dt" idx="28"/>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56" name="PlaceHolder 4"/>
          <p:cNvSpPr>
            <a:spLocks noGrp="1"/>
          </p:cNvSpPr>
          <p:nvPr>
            <p:ph type="ftr" idx="29"/>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57" name="PlaceHolder 5"/>
          <p:cNvSpPr>
            <a:spLocks noGrp="1"/>
          </p:cNvSpPr>
          <p:nvPr>
            <p:ph type="sldNum" idx="30"/>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g3f3e00d81be_43_0)">
    <p:bg>
      <p:bgPr>
        <a:solidFill>
          <a:srgbClr val="000000"/>
        </a:solidFill>
      </p:bgPr>
    </p:bg>
    <p:spTree>
      <p:nvGrpSpPr>
        <p:cNvPr id="1" name=""/>
        <p:cNvGrpSpPr/>
        <p:nvPr/>
      </p:nvGrpSpPr>
      <p:grpSpPr>
        <a:xfrm>
          <a:off x="0" y="0"/>
          <a:ext cx="0" cy="0"/>
          <a:chOff x="0" y="0"/>
          <a:chExt cx="0" cy="0"/>
        </a:xfrm>
      </p:grpSpPr>
      <p:sp>
        <p:nvSpPr>
          <p:cNvPr id="58"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59"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60" name="PlaceHolder 3"/>
          <p:cNvSpPr>
            <a:spLocks noGrp="1"/>
          </p:cNvSpPr>
          <p:nvPr>
            <p:ph type="dt" idx="31"/>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61" name="PlaceHolder 4"/>
          <p:cNvSpPr>
            <a:spLocks noGrp="1"/>
          </p:cNvSpPr>
          <p:nvPr>
            <p:ph type="ftr" idx="32"/>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62" name="PlaceHolder 5"/>
          <p:cNvSpPr>
            <a:spLocks noGrp="1"/>
          </p:cNvSpPr>
          <p:nvPr>
            <p:ph type="sldNum" idx="33"/>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g3f3e00d81be_99_0)">
    <p:bg>
      <p:bgPr>
        <a:solidFill>
          <a:srgbClr val="000000"/>
        </a:solidFill>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64"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65" name="PlaceHolder 3"/>
          <p:cNvSpPr>
            <a:spLocks noGrp="1"/>
          </p:cNvSpPr>
          <p:nvPr>
            <p:ph type="dt" idx="34"/>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66" name="PlaceHolder 4"/>
          <p:cNvSpPr>
            <a:spLocks noGrp="1"/>
          </p:cNvSpPr>
          <p:nvPr>
            <p:ph type="ftr" idx="35"/>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67" name="PlaceHolder 5"/>
          <p:cNvSpPr>
            <a:spLocks noGrp="1"/>
          </p:cNvSpPr>
          <p:nvPr>
            <p:ph type="sldNum" idx="36"/>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g3f3e00d81be_106_0)">
    <p:bg>
      <p:bgPr>
        <a:solidFill>
          <a:srgbClr val="000000"/>
        </a:solidFill>
      </p:bgPr>
    </p:bg>
    <p:spTree>
      <p:nvGrpSpPr>
        <p:cNvPr id="1" name=""/>
        <p:cNvGrpSpPr/>
        <p:nvPr/>
      </p:nvGrpSpPr>
      <p:grpSpPr>
        <a:xfrm>
          <a:off x="0" y="0"/>
          <a:ext cx="0" cy="0"/>
          <a:chOff x="0" y="0"/>
          <a:chExt cx="0" cy="0"/>
        </a:xfrm>
      </p:grpSpPr>
      <p:sp>
        <p:nvSpPr>
          <p:cNvPr id="68"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69"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70" name="PlaceHolder 3"/>
          <p:cNvSpPr>
            <a:spLocks noGrp="1"/>
          </p:cNvSpPr>
          <p:nvPr>
            <p:ph type="dt" idx="37"/>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71" name="PlaceHolder 4"/>
          <p:cNvSpPr>
            <a:spLocks noGrp="1"/>
          </p:cNvSpPr>
          <p:nvPr>
            <p:ph type="ftr" idx="38"/>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72" name="PlaceHolder 5"/>
          <p:cNvSpPr>
            <a:spLocks noGrp="1"/>
          </p:cNvSpPr>
          <p:nvPr>
            <p:ph type="sldNum" idx="39"/>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g3f3e00d81be_136_0)">
    <p:bg>
      <p:bgPr>
        <a:solidFill>
          <a:srgbClr val="000000"/>
        </a:solidFill>
      </p:bgPr>
    </p:bg>
    <p:spTree>
      <p:nvGrpSpPr>
        <p:cNvPr id="1" name=""/>
        <p:cNvGrpSpPr/>
        <p:nvPr/>
      </p:nvGrpSpPr>
      <p:grpSpPr>
        <a:xfrm>
          <a:off x="0" y="0"/>
          <a:ext cx="0" cy="0"/>
          <a:chOff x="0" y="0"/>
          <a:chExt cx="0" cy="0"/>
        </a:xfrm>
      </p:grpSpPr>
      <p:sp>
        <p:nvSpPr>
          <p:cNvPr id="73"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74"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75" name="PlaceHolder 3"/>
          <p:cNvSpPr>
            <a:spLocks noGrp="1"/>
          </p:cNvSpPr>
          <p:nvPr>
            <p:ph type="dt" idx="40"/>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76" name="PlaceHolder 4"/>
          <p:cNvSpPr>
            <a:spLocks noGrp="1"/>
          </p:cNvSpPr>
          <p:nvPr>
            <p:ph type="ftr" idx="41"/>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77" name="PlaceHolder 5"/>
          <p:cNvSpPr>
            <a:spLocks noGrp="1"/>
          </p:cNvSpPr>
          <p:nvPr>
            <p:ph type="sldNum" idx="42"/>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000000"/>
        </a:solidFill>
      </p:bgPr>
    </p:bg>
    <p:spTree>
      <p:nvGrpSpPr>
        <p:cNvPr id="1" name=""/>
        <p:cNvGrpSpPr/>
        <p:nvPr/>
      </p:nvGrpSpPr>
      <p:grpSpPr>
        <a:xfrm>
          <a:off x="0" y="0"/>
          <a:ext cx="0" cy="0"/>
          <a:chOff x="0" y="0"/>
          <a:chExt cx="0" cy="0"/>
        </a:xfrm>
      </p:grpSpPr>
      <p:sp>
        <p:nvSpPr>
          <p:cNvPr id="78" name="Google Shape;11;p23"/>
          <p:cNvSpPr/>
          <p:nvPr/>
        </p:nvSpPr>
        <p:spPr>
          <a:xfrm>
            <a:off x="4038480" y="2334600"/>
            <a:ext cx="3305520" cy="3183480"/>
          </a:xfrm>
          <a:prstGeom prst="ellipse">
            <a:avLst/>
          </a:prstGeom>
          <a:blipFill rotWithShape="0">
            <a:blip r:embed="rId2"/>
            <a:srcRect/>
            <a:stretch/>
          </a:blipFill>
          <a:ln w="0">
            <a:noFill/>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79" name="Google Shape;12;p23"/>
          <p:cNvSpPr/>
          <p:nvPr/>
        </p:nvSpPr>
        <p:spPr>
          <a:xfrm>
            <a:off x="0" y="0"/>
            <a:ext cx="12188520" cy="6173280"/>
          </a:xfrm>
          <a:prstGeom prst="rect">
            <a:avLst/>
          </a:prstGeom>
          <a:solidFill>
            <a:srgbClr val="FFFFCC">
              <a:alpha val="86000"/>
            </a:srgbClr>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80" name="Google Shape;13;p23"/>
          <p:cNvSpPr/>
          <p:nvPr/>
        </p:nvSpPr>
        <p:spPr>
          <a:xfrm>
            <a:off x="0" y="0"/>
            <a:ext cx="9140400" cy="18216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sp>
        <p:nvSpPr>
          <p:cNvPr id="81" name="Google Shape;14;p23"/>
          <p:cNvSpPr/>
          <p:nvPr/>
        </p:nvSpPr>
        <p:spPr>
          <a:xfrm>
            <a:off x="9144000" y="0"/>
            <a:ext cx="3044520" cy="182160"/>
          </a:xfrm>
          <a:prstGeom prst="rect">
            <a:avLst/>
          </a:prstGeom>
          <a:solidFill>
            <a:schemeClr val="accent4"/>
          </a:solidFill>
          <a:ln w="12700">
            <a:solidFill>
              <a:srgbClr val="FFC000"/>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82" name="Google Shape;15;p23"/>
          <p:cNvSpPr/>
          <p:nvPr/>
        </p:nvSpPr>
        <p:spPr>
          <a:xfrm>
            <a:off x="0" y="6176880"/>
            <a:ext cx="12188520" cy="67752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pic>
        <p:nvPicPr>
          <p:cNvPr id="83" name="Google Shape;16;p23"/>
          <p:cNvPicPr/>
          <p:nvPr/>
        </p:nvPicPr>
        <p:blipFill>
          <a:blip r:embed="rId3"/>
          <a:stretch/>
        </p:blipFill>
        <p:spPr>
          <a:xfrm>
            <a:off x="8210520" y="6176880"/>
            <a:ext cx="3978000" cy="681480"/>
          </a:xfrm>
          <a:prstGeom prst="rect">
            <a:avLst/>
          </a:prstGeom>
          <a:noFill/>
          <a:ln w="0">
            <a:noFill/>
          </a:ln>
        </p:spPr>
      </p:pic>
      <p:sp>
        <p:nvSpPr>
          <p:cNvPr id="84" name="PlaceHolder 1"/>
          <p:cNvSpPr>
            <a:spLocks noGrp="1"/>
          </p:cNvSpPr>
          <p:nvPr>
            <p:ph type="title"/>
          </p:nvPr>
        </p:nvSpPr>
        <p:spPr>
          <a:xfrm>
            <a:off x="1523880" y="1122480"/>
            <a:ext cx="9140400" cy="2383920"/>
          </a:xfrm>
          <a:prstGeom prst="rect">
            <a:avLst/>
          </a:prstGeom>
          <a:noFill/>
          <a:ln w="0">
            <a:noFill/>
          </a:ln>
        </p:spPr>
        <p:txBody>
          <a:bodyPr lIns="91440" tIns="45720" rIns="91440" bIns="45720" anchor="b">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85" name="PlaceHolder 2"/>
          <p:cNvSpPr>
            <a:spLocks noGrp="1"/>
          </p:cNvSpPr>
          <p:nvPr>
            <p:ph type="dt" idx="43"/>
          </p:nvPr>
        </p:nvSpPr>
        <p:spPr>
          <a:xfrm>
            <a:off x="838080" y="6356520"/>
            <a:ext cx="273960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86" name="PlaceHolder 3"/>
          <p:cNvSpPr>
            <a:spLocks noGrp="1"/>
          </p:cNvSpPr>
          <p:nvPr>
            <p:ph type="ftr" idx="44"/>
          </p:nvPr>
        </p:nvSpPr>
        <p:spPr>
          <a:xfrm>
            <a:off x="4038480" y="6356520"/>
            <a:ext cx="411120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87" name="PlaceHolder 4"/>
          <p:cNvSpPr>
            <a:spLocks noGrp="1"/>
          </p:cNvSpPr>
          <p:nvPr>
            <p:ph type="sldNum" idx="45"/>
          </p:nvPr>
        </p:nvSpPr>
        <p:spPr>
          <a:xfrm>
            <a:off x="8610480" y="6356520"/>
            <a:ext cx="273960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
        <p:nvSpPr>
          <p:cNvPr id="88" name="PlaceHolder 5"/>
          <p:cNvSpPr>
            <a:spLocks noGrp="1"/>
          </p:cNvSpPr>
          <p:nvPr>
            <p:ph type="body"/>
          </p:nvPr>
        </p:nvSpPr>
        <p:spPr>
          <a:xfrm>
            <a:off x="1712880" y="3832200"/>
            <a:ext cx="9183240" cy="179496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bg>
      <p:bgPr>
        <a:solidFill>
          <a:srgbClr val="000000"/>
        </a:solidFill>
      </p:bgPr>
    </p:bg>
    <p:spTree>
      <p:nvGrpSpPr>
        <p:cNvPr id="1" name=""/>
        <p:cNvGrpSpPr/>
        <p:nvPr/>
      </p:nvGrpSpPr>
      <p:grpSpPr>
        <a:xfrm>
          <a:off x="0" y="0"/>
          <a:ext cx="0" cy="0"/>
          <a:chOff x="0" y="0"/>
          <a:chExt cx="0" cy="0"/>
        </a:xfrm>
      </p:grpSpPr>
      <p:sp>
        <p:nvSpPr>
          <p:cNvPr id="89"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90"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91" name="PlaceHolder 3"/>
          <p:cNvSpPr>
            <a:spLocks noGrp="1"/>
          </p:cNvSpPr>
          <p:nvPr>
            <p:ph type="dt" idx="46"/>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92" name="PlaceHolder 4"/>
          <p:cNvSpPr>
            <a:spLocks noGrp="1"/>
          </p:cNvSpPr>
          <p:nvPr>
            <p:ph type="ftr" idx="47"/>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93" name="PlaceHolder 5"/>
          <p:cNvSpPr>
            <a:spLocks noGrp="1"/>
          </p:cNvSpPr>
          <p:nvPr>
            <p:ph type="sldNum" idx="48"/>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
    <p:bg>
      <p:bgPr>
        <a:solidFill>
          <a:srgbClr val="000000"/>
        </a:solidFill>
      </p:bgPr>
    </p:bg>
    <p:spTree>
      <p:nvGrpSpPr>
        <p:cNvPr id="1" name=""/>
        <p:cNvGrpSpPr/>
        <p:nvPr/>
      </p:nvGrpSpPr>
      <p:grpSpPr>
        <a:xfrm>
          <a:off x="0" y="0"/>
          <a:ext cx="0" cy="0"/>
          <a:chOff x="0" y="0"/>
          <a:chExt cx="0" cy="0"/>
        </a:xfrm>
      </p:grpSpPr>
      <p:sp>
        <p:nvSpPr>
          <p:cNvPr id="94"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95"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96" name="PlaceHolder 3"/>
          <p:cNvSpPr>
            <a:spLocks noGrp="1"/>
          </p:cNvSpPr>
          <p:nvPr>
            <p:ph type="dt" idx="49"/>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97" name="PlaceHolder 4"/>
          <p:cNvSpPr>
            <a:spLocks noGrp="1"/>
          </p:cNvSpPr>
          <p:nvPr>
            <p:ph type="ftr" idx="50"/>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98" name="PlaceHolder 5"/>
          <p:cNvSpPr>
            <a:spLocks noGrp="1"/>
          </p:cNvSpPr>
          <p:nvPr>
            <p:ph type="sldNum" idx="51"/>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bg>
      <p:bgPr>
        <a:solidFill>
          <a:srgbClr val="000000"/>
        </a:solidFill>
      </p:bgPr>
    </p:bg>
    <p:spTree>
      <p:nvGrpSpPr>
        <p:cNvPr id="1" name=""/>
        <p:cNvGrpSpPr/>
        <p:nvPr/>
      </p:nvGrpSpPr>
      <p:grpSpPr>
        <a:xfrm>
          <a:off x="0" y="0"/>
          <a:ext cx="0" cy="0"/>
          <a:chOff x="0" y="0"/>
          <a:chExt cx="0" cy="0"/>
        </a:xfrm>
      </p:grpSpPr>
      <p:sp>
        <p:nvSpPr>
          <p:cNvPr id="99"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100"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01" name="PlaceHolder 3"/>
          <p:cNvSpPr>
            <a:spLocks noGrp="1"/>
          </p:cNvSpPr>
          <p:nvPr>
            <p:ph type="dt" idx="52"/>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102" name="PlaceHolder 4"/>
          <p:cNvSpPr>
            <a:spLocks noGrp="1"/>
          </p:cNvSpPr>
          <p:nvPr>
            <p:ph type="ftr" idx="53"/>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103" name="PlaceHolder 5"/>
          <p:cNvSpPr>
            <a:spLocks noGrp="1"/>
          </p:cNvSpPr>
          <p:nvPr>
            <p:ph type="sldNum" idx="54"/>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bg>
      <p:bgPr>
        <a:solidFill>
          <a:srgbClr val="000000"/>
        </a:solidFill>
      </p:bgPr>
    </p:bg>
    <p:spTree>
      <p:nvGrpSpPr>
        <p:cNvPr id="1" name=""/>
        <p:cNvGrpSpPr/>
        <p:nvPr/>
      </p:nvGrpSpPr>
      <p:grpSpPr>
        <a:xfrm>
          <a:off x="0" y="0"/>
          <a:ext cx="0" cy="0"/>
          <a:chOff x="0" y="0"/>
          <a:chExt cx="0" cy="0"/>
        </a:xfrm>
      </p:grpSpPr>
      <p:sp>
        <p:nvSpPr>
          <p:cNvPr id="104"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105"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06" name="PlaceHolder 3"/>
          <p:cNvSpPr>
            <a:spLocks noGrp="1"/>
          </p:cNvSpPr>
          <p:nvPr>
            <p:ph type="dt" idx="55"/>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107" name="PlaceHolder 4"/>
          <p:cNvSpPr>
            <a:spLocks noGrp="1"/>
          </p:cNvSpPr>
          <p:nvPr>
            <p:ph type="ftr" idx="56"/>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108" name="PlaceHolder 5"/>
          <p:cNvSpPr>
            <a:spLocks noGrp="1"/>
          </p:cNvSpPr>
          <p:nvPr>
            <p:ph type="sldNum" idx="57"/>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
    <p:bg>
      <p:bgPr>
        <a:solidFill>
          <a:srgbClr val="000000"/>
        </a:solidFill>
      </p:bgPr>
    </p:bg>
    <p:spTree>
      <p:nvGrpSpPr>
        <p:cNvPr id="1" name=""/>
        <p:cNvGrpSpPr/>
        <p:nvPr/>
      </p:nvGrpSpPr>
      <p:grpSpPr>
        <a:xfrm>
          <a:off x="0" y="0"/>
          <a:ext cx="0" cy="0"/>
          <a:chOff x="0" y="0"/>
          <a:chExt cx="0" cy="0"/>
        </a:xfrm>
      </p:grpSpPr>
      <p:sp>
        <p:nvSpPr>
          <p:cNvPr id="109"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110"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11" name="PlaceHolder 3"/>
          <p:cNvSpPr>
            <a:spLocks noGrp="1"/>
          </p:cNvSpPr>
          <p:nvPr>
            <p:ph type="dt" idx="58"/>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112" name="PlaceHolder 4"/>
          <p:cNvSpPr>
            <a:spLocks noGrp="1"/>
          </p:cNvSpPr>
          <p:nvPr>
            <p:ph type="ftr" idx="59"/>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113" name="PlaceHolder 5"/>
          <p:cNvSpPr>
            <a:spLocks noGrp="1"/>
          </p:cNvSpPr>
          <p:nvPr>
            <p:ph type="sldNum" idx="60"/>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6">
    <p:bg>
      <p:bgPr>
        <a:solidFill>
          <a:srgbClr val="000000"/>
        </a:solidFill>
      </p:bgPr>
    </p:bg>
    <p:spTree>
      <p:nvGrpSpPr>
        <p:cNvPr id="1" name=""/>
        <p:cNvGrpSpPr/>
        <p:nvPr/>
      </p:nvGrpSpPr>
      <p:grpSpPr>
        <a:xfrm>
          <a:off x="0" y="0"/>
          <a:ext cx="0" cy="0"/>
          <a:chOff x="0" y="0"/>
          <a:chExt cx="0" cy="0"/>
        </a:xfrm>
      </p:grpSpPr>
      <p:sp>
        <p:nvSpPr>
          <p:cNvPr id="114" name="Google Shape;204;g3fb623e806a_0_289"/>
          <p:cNvSpPr/>
          <p:nvPr/>
        </p:nvSpPr>
        <p:spPr>
          <a:xfrm>
            <a:off x="4038480" y="2334600"/>
            <a:ext cx="3305520" cy="3183480"/>
          </a:xfrm>
          <a:prstGeom prst="ellipse">
            <a:avLst/>
          </a:prstGeom>
          <a:blipFill rotWithShape="0">
            <a:blip r:embed="rId2"/>
            <a:srcRect/>
            <a:stretch/>
          </a:blipFill>
          <a:ln w="0">
            <a:noFill/>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115" name="Google Shape;205;g3fb623e806a_0_289"/>
          <p:cNvSpPr/>
          <p:nvPr/>
        </p:nvSpPr>
        <p:spPr>
          <a:xfrm>
            <a:off x="0" y="0"/>
            <a:ext cx="12188520" cy="6173280"/>
          </a:xfrm>
          <a:prstGeom prst="rect">
            <a:avLst/>
          </a:prstGeom>
          <a:solidFill>
            <a:srgbClr val="FFFFCC">
              <a:alpha val="86000"/>
            </a:srgbClr>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116" name="Google Shape;206;g3fb623e806a_0_289"/>
          <p:cNvSpPr/>
          <p:nvPr/>
        </p:nvSpPr>
        <p:spPr>
          <a:xfrm>
            <a:off x="0" y="0"/>
            <a:ext cx="9140400" cy="18216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sp>
        <p:nvSpPr>
          <p:cNvPr id="117" name="Google Shape;207;g3fb623e806a_0_289"/>
          <p:cNvSpPr/>
          <p:nvPr/>
        </p:nvSpPr>
        <p:spPr>
          <a:xfrm>
            <a:off x="9144000" y="0"/>
            <a:ext cx="3044520" cy="182160"/>
          </a:xfrm>
          <a:prstGeom prst="rect">
            <a:avLst/>
          </a:prstGeom>
          <a:solidFill>
            <a:schemeClr val="accent4"/>
          </a:solidFill>
          <a:ln w="12700">
            <a:solidFill>
              <a:srgbClr val="FFC000"/>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118" name="Google Shape;208;g3fb623e806a_0_289"/>
          <p:cNvSpPr/>
          <p:nvPr/>
        </p:nvSpPr>
        <p:spPr>
          <a:xfrm>
            <a:off x="0" y="6176880"/>
            <a:ext cx="12188520" cy="67752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pic>
        <p:nvPicPr>
          <p:cNvPr id="119" name="Google Shape;209;g3fb623e806a_0_289"/>
          <p:cNvPicPr/>
          <p:nvPr/>
        </p:nvPicPr>
        <p:blipFill>
          <a:blip r:embed="rId3"/>
          <a:stretch/>
        </p:blipFill>
        <p:spPr>
          <a:xfrm>
            <a:off x="8210520" y="6176880"/>
            <a:ext cx="3978000" cy="681480"/>
          </a:xfrm>
          <a:prstGeom prst="rect">
            <a:avLst/>
          </a:prstGeom>
          <a:noFill/>
          <a:ln w="0">
            <a:noFill/>
          </a:ln>
        </p:spPr>
      </p:pic>
      <p:sp>
        <p:nvSpPr>
          <p:cNvPr id="120" name="PlaceHolder 1"/>
          <p:cNvSpPr>
            <a:spLocks noGrp="1"/>
          </p:cNvSpPr>
          <p:nvPr>
            <p:ph type="title"/>
          </p:nvPr>
        </p:nvSpPr>
        <p:spPr>
          <a:xfrm>
            <a:off x="1523880" y="1122480"/>
            <a:ext cx="9140400" cy="2383920"/>
          </a:xfrm>
          <a:prstGeom prst="rect">
            <a:avLst/>
          </a:prstGeom>
          <a:noFill/>
          <a:ln w="0">
            <a:noFill/>
          </a:ln>
        </p:spPr>
        <p:txBody>
          <a:bodyPr lIns="91440" tIns="45720" rIns="91440" bIns="45720" anchor="b">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121" name="PlaceHolder 2"/>
          <p:cNvSpPr>
            <a:spLocks noGrp="1"/>
          </p:cNvSpPr>
          <p:nvPr>
            <p:ph type="dt" idx="61"/>
          </p:nvPr>
        </p:nvSpPr>
        <p:spPr>
          <a:xfrm>
            <a:off x="838080" y="6356520"/>
            <a:ext cx="273960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122" name="PlaceHolder 3"/>
          <p:cNvSpPr>
            <a:spLocks noGrp="1"/>
          </p:cNvSpPr>
          <p:nvPr>
            <p:ph type="ftr" idx="62"/>
          </p:nvPr>
        </p:nvSpPr>
        <p:spPr>
          <a:xfrm>
            <a:off x="4038480" y="6356520"/>
            <a:ext cx="411120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123" name="PlaceHolder 4"/>
          <p:cNvSpPr>
            <a:spLocks noGrp="1"/>
          </p:cNvSpPr>
          <p:nvPr>
            <p:ph type="sldNum" idx="63"/>
          </p:nvPr>
        </p:nvSpPr>
        <p:spPr>
          <a:xfrm>
            <a:off x="8610480" y="6356520"/>
            <a:ext cx="273960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
        <p:nvSpPr>
          <p:cNvPr id="124" name="PlaceHolder 5"/>
          <p:cNvSpPr>
            <a:spLocks noGrp="1"/>
          </p:cNvSpPr>
          <p:nvPr>
            <p:ph type="body"/>
          </p:nvPr>
        </p:nvSpPr>
        <p:spPr>
          <a:xfrm>
            <a:off x="1712880" y="3832200"/>
            <a:ext cx="9183240" cy="179496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7">
    <p:bg>
      <p:bgPr>
        <a:solidFill>
          <a:srgbClr val="000000"/>
        </a:solidFill>
      </p:bgPr>
    </p:bg>
    <p:spTree>
      <p:nvGrpSpPr>
        <p:cNvPr id="1" name=""/>
        <p:cNvGrpSpPr/>
        <p:nvPr/>
      </p:nvGrpSpPr>
      <p:grpSpPr>
        <a:xfrm>
          <a:off x="0" y="0"/>
          <a:ext cx="0" cy="0"/>
          <a:chOff x="0" y="0"/>
          <a:chExt cx="0" cy="0"/>
        </a:xfrm>
      </p:grpSpPr>
      <p:sp>
        <p:nvSpPr>
          <p:cNvPr id="125"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126"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27" name="PlaceHolder 3"/>
          <p:cNvSpPr>
            <a:spLocks noGrp="1"/>
          </p:cNvSpPr>
          <p:nvPr>
            <p:ph type="dt" idx="64"/>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128" name="PlaceHolder 4"/>
          <p:cNvSpPr>
            <a:spLocks noGrp="1"/>
          </p:cNvSpPr>
          <p:nvPr>
            <p:ph type="ftr" idx="65"/>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129" name="PlaceHolder 5"/>
          <p:cNvSpPr>
            <a:spLocks noGrp="1"/>
          </p:cNvSpPr>
          <p:nvPr>
            <p:ph type="sldNum" idx="66"/>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8">
    <p:bg>
      <p:bgPr>
        <a:solidFill>
          <a:srgbClr val="000000"/>
        </a:solidFill>
      </p:bgPr>
    </p:bg>
    <p:spTree>
      <p:nvGrpSpPr>
        <p:cNvPr id="1" name=""/>
        <p:cNvGrpSpPr/>
        <p:nvPr/>
      </p:nvGrpSpPr>
      <p:grpSpPr>
        <a:xfrm>
          <a:off x="0" y="0"/>
          <a:ext cx="0" cy="0"/>
          <a:chOff x="0" y="0"/>
          <a:chExt cx="0" cy="0"/>
        </a:xfrm>
      </p:grpSpPr>
      <p:sp>
        <p:nvSpPr>
          <p:cNvPr id="130"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131"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32" name="PlaceHolder 3"/>
          <p:cNvSpPr>
            <a:spLocks noGrp="1"/>
          </p:cNvSpPr>
          <p:nvPr>
            <p:ph type="dt" idx="67"/>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133" name="PlaceHolder 4"/>
          <p:cNvSpPr>
            <a:spLocks noGrp="1"/>
          </p:cNvSpPr>
          <p:nvPr>
            <p:ph type="ftr" idx="68"/>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134" name="PlaceHolder 5"/>
          <p:cNvSpPr>
            <a:spLocks noGrp="1"/>
          </p:cNvSpPr>
          <p:nvPr>
            <p:ph type="sldNum" idx="69"/>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9">
    <p:bg>
      <p:bgPr>
        <a:solidFill>
          <a:srgbClr val="000000"/>
        </a:solidFill>
      </p:bgPr>
    </p:bg>
    <p:spTree>
      <p:nvGrpSpPr>
        <p:cNvPr id="1" name=""/>
        <p:cNvGrpSpPr/>
        <p:nvPr/>
      </p:nvGrpSpPr>
      <p:grpSpPr>
        <a:xfrm>
          <a:off x="0" y="0"/>
          <a:ext cx="0" cy="0"/>
          <a:chOff x="0" y="0"/>
          <a:chExt cx="0" cy="0"/>
        </a:xfrm>
      </p:grpSpPr>
      <p:sp>
        <p:nvSpPr>
          <p:cNvPr id="135"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136"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37" name="PlaceHolder 3"/>
          <p:cNvSpPr>
            <a:spLocks noGrp="1"/>
          </p:cNvSpPr>
          <p:nvPr>
            <p:ph type="dt" idx="70"/>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138" name="PlaceHolder 4"/>
          <p:cNvSpPr>
            <a:spLocks noGrp="1"/>
          </p:cNvSpPr>
          <p:nvPr>
            <p:ph type="ftr" idx="71"/>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139" name="PlaceHolder 5"/>
          <p:cNvSpPr>
            <a:spLocks noGrp="1"/>
          </p:cNvSpPr>
          <p:nvPr>
            <p:ph type="sldNum" idx="72"/>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0">
    <p:bg>
      <p:bgPr>
        <a:solidFill>
          <a:srgbClr val="000000"/>
        </a:solidFill>
      </p:bgPr>
    </p:bg>
    <p:spTree>
      <p:nvGrpSpPr>
        <p:cNvPr id="1" name=""/>
        <p:cNvGrpSpPr/>
        <p:nvPr/>
      </p:nvGrpSpPr>
      <p:grpSpPr>
        <a:xfrm>
          <a:off x="0" y="0"/>
          <a:ext cx="0" cy="0"/>
          <a:chOff x="0" y="0"/>
          <a:chExt cx="0" cy="0"/>
        </a:xfrm>
      </p:grpSpPr>
      <p:sp>
        <p:nvSpPr>
          <p:cNvPr id="140" name="Google Shape;138;g3fb623e806a_0_223"/>
          <p:cNvSpPr/>
          <p:nvPr/>
        </p:nvSpPr>
        <p:spPr>
          <a:xfrm>
            <a:off x="4038480" y="2334600"/>
            <a:ext cx="3305520" cy="3183480"/>
          </a:xfrm>
          <a:prstGeom prst="ellipse">
            <a:avLst/>
          </a:prstGeom>
          <a:blipFill rotWithShape="0">
            <a:blip r:embed="rId2"/>
            <a:srcRect/>
            <a:stretch/>
          </a:blipFill>
          <a:ln w="0">
            <a:noFill/>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141" name="Google Shape;139;g3fb623e806a_0_223"/>
          <p:cNvSpPr/>
          <p:nvPr/>
        </p:nvSpPr>
        <p:spPr>
          <a:xfrm>
            <a:off x="0" y="0"/>
            <a:ext cx="12188520" cy="6173280"/>
          </a:xfrm>
          <a:prstGeom prst="rect">
            <a:avLst/>
          </a:prstGeom>
          <a:solidFill>
            <a:srgbClr val="FFFFCC">
              <a:alpha val="86000"/>
            </a:srgbClr>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142" name="Google Shape;140;g3fb623e806a_0_223"/>
          <p:cNvSpPr/>
          <p:nvPr/>
        </p:nvSpPr>
        <p:spPr>
          <a:xfrm>
            <a:off x="0" y="0"/>
            <a:ext cx="9140400" cy="18216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sp>
        <p:nvSpPr>
          <p:cNvPr id="143" name="Google Shape;141;g3fb623e806a_0_223"/>
          <p:cNvSpPr/>
          <p:nvPr/>
        </p:nvSpPr>
        <p:spPr>
          <a:xfrm>
            <a:off x="9144000" y="0"/>
            <a:ext cx="3044520" cy="182160"/>
          </a:xfrm>
          <a:prstGeom prst="rect">
            <a:avLst/>
          </a:prstGeom>
          <a:solidFill>
            <a:schemeClr val="accent4"/>
          </a:solidFill>
          <a:ln w="12700">
            <a:solidFill>
              <a:srgbClr val="FFC000"/>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144" name="Google Shape;142;g3fb623e806a_0_223"/>
          <p:cNvSpPr/>
          <p:nvPr/>
        </p:nvSpPr>
        <p:spPr>
          <a:xfrm>
            <a:off x="0" y="6176880"/>
            <a:ext cx="12188520" cy="67752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pic>
        <p:nvPicPr>
          <p:cNvPr id="145" name="Google Shape;143;g3fb623e806a_0_223"/>
          <p:cNvPicPr/>
          <p:nvPr/>
        </p:nvPicPr>
        <p:blipFill>
          <a:blip r:embed="rId3"/>
          <a:stretch/>
        </p:blipFill>
        <p:spPr>
          <a:xfrm>
            <a:off x="8210520" y="6176880"/>
            <a:ext cx="3978000" cy="681480"/>
          </a:xfrm>
          <a:prstGeom prst="rect">
            <a:avLst/>
          </a:prstGeom>
          <a:noFill/>
          <a:ln w="0">
            <a:noFill/>
          </a:ln>
        </p:spPr>
      </p:pic>
      <p:sp>
        <p:nvSpPr>
          <p:cNvPr id="146"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147"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48" name="PlaceHolder 3"/>
          <p:cNvSpPr>
            <a:spLocks noGrp="1"/>
          </p:cNvSpPr>
          <p:nvPr>
            <p:ph type="dt" idx="73"/>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149" name="PlaceHolder 4"/>
          <p:cNvSpPr>
            <a:spLocks noGrp="1"/>
          </p:cNvSpPr>
          <p:nvPr>
            <p:ph type="ftr" idx="74"/>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150" name="PlaceHolder 5"/>
          <p:cNvSpPr>
            <a:spLocks noGrp="1"/>
          </p:cNvSpPr>
          <p:nvPr>
            <p:ph type="sldNum" idx="75"/>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1">
    <p:bg>
      <p:bgPr>
        <a:solidFill>
          <a:srgbClr val="000000"/>
        </a:solidFill>
      </p:bgPr>
    </p:bg>
    <p:spTree>
      <p:nvGrpSpPr>
        <p:cNvPr id="1" name=""/>
        <p:cNvGrpSpPr/>
        <p:nvPr/>
      </p:nvGrpSpPr>
      <p:grpSpPr>
        <a:xfrm>
          <a:off x="0" y="0"/>
          <a:ext cx="0" cy="0"/>
          <a:chOff x="0" y="0"/>
          <a:chExt cx="0" cy="0"/>
        </a:xfrm>
      </p:grpSpPr>
      <p:sp>
        <p:nvSpPr>
          <p:cNvPr id="151"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152"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53" name="PlaceHolder 3"/>
          <p:cNvSpPr>
            <a:spLocks noGrp="1"/>
          </p:cNvSpPr>
          <p:nvPr>
            <p:ph type="dt" idx="76"/>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154" name="PlaceHolder 4"/>
          <p:cNvSpPr>
            <a:spLocks noGrp="1"/>
          </p:cNvSpPr>
          <p:nvPr>
            <p:ph type="ftr" idx="77"/>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155" name="PlaceHolder 5"/>
          <p:cNvSpPr>
            <a:spLocks noGrp="1"/>
          </p:cNvSpPr>
          <p:nvPr>
            <p:ph type="sldNum" idx="78"/>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2">
    <p:bg>
      <p:bgPr>
        <a:solidFill>
          <a:srgbClr val="000000"/>
        </a:solidFill>
      </p:bgPr>
    </p:bg>
    <p:spTree>
      <p:nvGrpSpPr>
        <p:cNvPr id="1" name=""/>
        <p:cNvGrpSpPr/>
        <p:nvPr/>
      </p:nvGrpSpPr>
      <p:grpSpPr>
        <a:xfrm>
          <a:off x="0" y="0"/>
          <a:ext cx="0" cy="0"/>
          <a:chOff x="0" y="0"/>
          <a:chExt cx="0" cy="0"/>
        </a:xfrm>
      </p:grpSpPr>
      <p:sp>
        <p:nvSpPr>
          <p:cNvPr id="156"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157"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58" name="PlaceHolder 3"/>
          <p:cNvSpPr>
            <a:spLocks noGrp="1"/>
          </p:cNvSpPr>
          <p:nvPr>
            <p:ph type="dt" idx="79"/>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159" name="PlaceHolder 4"/>
          <p:cNvSpPr>
            <a:spLocks noGrp="1"/>
          </p:cNvSpPr>
          <p:nvPr>
            <p:ph type="ftr" idx="80"/>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160" name="PlaceHolder 5"/>
          <p:cNvSpPr>
            <a:spLocks noGrp="1"/>
          </p:cNvSpPr>
          <p:nvPr>
            <p:ph type="sldNum" idx="81"/>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3">
    <p:bg>
      <p:bgPr>
        <a:solidFill>
          <a:srgbClr val="000000"/>
        </a:solidFill>
      </p:bgPr>
    </p:bg>
    <p:spTree>
      <p:nvGrpSpPr>
        <p:cNvPr id="1" name=""/>
        <p:cNvGrpSpPr/>
        <p:nvPr/>
      </p:nvGrpSpPr>
      <p:grpSpPr>
        <a:xfrm>
          <a:off x="0" y="0"/>
          <a:ext cx="0" cy="0"/>
          <a:chOff x="0" y="0"/>
          <a:chExt cx="0" cy="0"/>
        </a:xfrm>
      </p:grpSpPr>
      <p:sp>
        <p:nvSpPr>
          <p:cNvPr id="161"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162"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63" name="PlaceHolder 3"/>
          <p:cNvSpPr>
            <a:spLocks noGrp="1"/>
          </p:cNvSpPr>
          <p:nvPr>
            <p:ph type="dt" idx="82"/>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164" name="PlaceHolder 4"/>
          <p:cNvSpPr>
            <a:spLocks noGrp="1"/>
          </p:cNvSpPr>
          <p:nvPr>
            <p:ph type="ftr" idx="83"/>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165" name="PlaceHolder 5"/>
          <p:cNvSpPr>
            <a:spLocks noGrp="1"/>
          </p:cNvSpPr>
          <p:nvPr>
            <p:ph type="sldNum" idx="84"/>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4">
    <p:bg>
      <p:bgPr>
        <a:solidFill>
          <a:srgbClr val="000000"/>
        </a:solidFill>
      </p:bgPr>
    </p:bg>
    <p:spTree>
      <p:nvGrpSpPr>
        <p:cNvPr id="1" name=""/>
        <p:cNvGrpSpPr/>
        <p:nvPr/>
      </p:nvGrpSpPr>
      <p:grpSpPr>
        <a:xfrm>
          <a:off x="0" y="0"/>
          <a:ext cx="0" cy="0"/>
          <a:chOff x="0" y="0"/>
          <a:chExt cx="0" cy="0"/>
        </a:xfrm>
      </p:grpSpPr>
      <p:sp>
        <p:nvSpPr>
          <p:cNvPr id="166"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167"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68" name="PlaceHolder 3"/>
          <p:cNvSpPr>
            <a:spLocks noGrp="1"/>
          </p:cNvSpPr>
          <p:nvPr>
            <p:ph type="dt" idx="85"/>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169" name="PlaceHolder 4"/>
          <p:cNvSpPr>
            <a:spLocks noGrp="1"/>
          </p:cNvSpPr>
          <p:nvPr>
            <p:ph type="ftr" idx="86"/>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170" name="PlaceHolder 5"/>
          <p:cNvSpPr>
            <a:spLocks noGrp="1"/>
          </p:cNvSpPr>
          <p:nvPr>
            <p:ph type="sldNum" idx="87"/>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000000"/>
        </a:solidFill>
      </p:bgPr>
    </p:bg>
    <p:spTree>
      <p:nvGrpSpPr>
        <p:cNvPr id="1" name=""/>
        <p:cNvGrpSpPr/>
        <p:nvPr/>
      </p:nvGrpSpPr>
      <p:grpSpPr>
        <a:xfrm>
          <a:off x="0" y="0"/>
          <a:ext cx="0" cy="0"/>
          <a:chOff x="0" y="0"/>
          <a:chExt cx="0" cy="0"/>
        </a:xfrm>
      </p:grpSpPr>
      <p:sp>
        <p:nvSpPr>
          <p:cNvPr id="171" name="PlaceHolder 1"/>
          <p:cNvSpPr>
            <a:spLocks noGrp="1"/>
          </p:cNvSpPr>
          <p:nvPr>
            <p:ph type="title"/>
          </p:nvPr>
        </p:nvSpPr>
        <p:spPr>
          <a:xfrm>
            <a:off x="838080" y="365040"/>
            <a:ext cx="10512000" cy="1321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172" name="PlaceHolder 2"/>
          <p:cNvSpPr>
            <a:spLocks noGrp="1"/>
          </p:cNvSpPr>
          <p:nvPr>
            <p:ph type="body"/>
          </p:nvPr>
        </p:nvSpPr>
        <p:spPr>
          <a:xfrm>
            <a:off x="838080" y="1825560"/>
            <a:ext cx="10512000" cy="4347720"/>
          </a:xfrm>
          <a:prstGeom prst="rect">
            <a:avLst/>
          </a:prstGeom>
          <a:noFill/>
          <a:ln w="0">
            <a:noFill/>
          </a:ln>
        </p:spPr>
        <p:txBody>
          <a:bodyPr lIns="91440" tIns="45720" rIns="91440" bIns="45720" anchor="t">
            <a:noAutofit/>
          </a:bodyPr>
          <a:lstStyle>
            <a:lvl1pPr algn="l">
              <a:lnSpc>
                <a:spcPct val="100000"/>
              </a:lnSpc>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73" name="PlaceHolder 3"/>
          <p:cNvSpPr>
            <a:spLocks noGrp="1"/>
          </p:cNvSpPr>
          <p:nvPr>
            <p:ph type="dt" idx="88"/>
          </p:nvPr>
        </p:nvSpPr>
        <p:spPr>
          <a:xfrm>
            <a:off x="609480" y="6356520"/>
            <a:ext cx="2841120" cy="3614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174" name="PlaceHolder 4"/>
          <p:cNvSpPr>
            <a:spLocks noGrp="1"/>
          </p:cNvSpPr>
          <p:nvPr>
            <p:ph type="ftr" idx="89"/>
          </p:nvPr>
        </p:nvSpPr>
        <p:spPr>
          <a:xfrm>
            <a:off x="4165560" y="6356520"/>
            <a:ext cx="3857040" cy="361440"/>
          </a:xfrm>
          <a:prstGeom prst="rect">
            <a:avLst/>
          </a:prstGeom>
          <a:noFill/>
          <a:ln w="0">
            <a:noFill/>
          </a:ln>
        </p:spPr>
        <p:txBody>
          <a:bodyPr lIns="90000" tIns="45000" rIns="90000" bIns="45000" anchor="t">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175" name="PlaceHolder 5"/>
          <p:cNvSpPr>
            <a:spLocks noGrp="1"/>
          </p:cNvSpPr>
          <p:nvPr>
            <p:ph type="sldNum" idx="90"/>
          </p:nvPr>
        </p:nvSpPr>
        <p:spPr>
          <a:xfrm>
            <a:off x="8737560" y="6356520"/>
            <a:ext cx="2841120" cy="361440"/>
          </a:xfrm>
          <a:prstGeom prst="rect">
            <a:avLst/>
          </a:prstGeom>
          <a:noFill/>
          <a:ln w="0">
            <a:noFill/>
          </a:ln>
        </p:spPr>
        <p:txBody>
          <a:bodyPr lIns="90000" tIns="45000" rIns="90000" bIns="45000" anchor="t">
            <a:noAutofit/>
          </a:bodyPr>
          <a:p>
            <a:pPr indent="0" algn="l">
              <a:buNone/>
            </a:pPr>
            <a:endParaRPr lang="en-US" sz="1800" b="0" u="none" strike="noStrike">
              <a:solidFill>
                <a:srgbClr val="FFFFFF"/>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slideLayout" Target="../slideLayouts/slideLayout27.xml"/><Relationship Id="rId14" Type="http://schemas.openxmlformats.org/officeDocument/2006/relationships/slideLayout" Target="../slideLayouts/slideLayout28.xml"/><Relationship Id="rId15" Type="http://schemas.openxmlformats.org/officeDocument/2006/relationships/slideLayout" Target="../slideLayouts/slideLayout29.xml"/><Relationship Id="rId16" Type="http://schemas.openxmlformats.org/officeDocument/2006/relationships/slideLayout" Target="../slideLayouts/slideLayout3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5.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slideLayout" Target="../slideLayouts/slideLayout8.xml"/><Relationship Id="rId7"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1.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slideLayout" Target="../slideLayouts/slideLayout23.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5.png"/><Relationship Id="rId6" Type="http://schemas.openxmlformats.org/officeDocument/2006/relationships/slideLayout" Target="../slideLayouts/slideLayout1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2.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19.png"/><Relationship Id="rId4" Type="http://schemas.openxmlformats.org/officeDocument/2006/relationships/slideLayout" Target="../slideLayouts/slideLayout13.xml"/><Relationship Id="rId5"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4.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20.png"/><Relationship Id="rId4"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3.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7.xml.rels><?xml version="1.0" encoding="UTF-8"?>
<Relationships xmlns="http://schemas.openxmlformats.org/package/2006/relationships"><Relationship Id="rId1" Type="http://schemas.openxmlformats.org/officeDocument/2006/relationships/hyperlink" Target="https://www.grandviewresearch.com/industry-analysis/wireless-mesh-network-wmn-market" TargetMode="External"/><Relationship Id="rId2" Type="http://schemas.openxmlformats.org/officeDocument/2006/relationships/hyperlink" Target="https://doi.org/10.17148/IARJSET.2024.11527" TargetMode="External"/><Relationship Id="rId3" Type="http://schemas.openxmlformats.org/officeDocument/2006/relationships/hyperlink" Target="https://doi.org/10.37628/IJMET" TargetMode="External"/><Relationship Id="rId4" Type="http://schemas.openxmlformats.org/officeDocument/2006/relationships/hyperlink" Target="https://doi.org/10.3390/forecast5040034" TargetMode="External"/><Relationship Id="rId5" Type="http://schemas.openxmlformats.org/officeDocument/2006/relationships/slideLayout" Target="../slideLayouts/slideLayout7.xml"/>
</Relationships>
</file>

<file path=ppt/slides/_rels/slide18.xml.rels><?xml version="1.0" encoding="UTF-8"?>
<Relationships xmlns="http://schemas.openxmlformats.org/package/2006/relationships"><Relationship Id="rId1" Type="http://schemas.openxmlformats.org/officeDocument/2006/relationships/hyperlink" Target="https://doi.org/10.3390/electronics12051103" TargetMode="External"/><Relationship Id="rId2" Type="http://schemas.openxmlformats.org/officeDocument/2006/relationships/hyperlink" Target="https://www.geeksforgeeks.org/computer-networks/introduction-of-mobile-ad-hoc-network-manet/" TargetMode="External"/><Relationship Id="rId3" Type="http://schemas.openxmlformats.org/officeDocument/2006/relationships/slideLayout" Target="../slideLayouts/slideLayout7.xml"/>
</Relationships>
</file>

<file path=ppt/slides/_rels/slide19.xml.rels><?xml version="1.0" encoding="UTF-8"?>
<Relationships xmlns="http://schemas.openxmlformats.org/package/2006/relationships"><Relationship Id="rId1" Type="http://schemas.openxmlformats.org/officeDocument/2006/relationships/hyperlink" Target="https://doi.org/10.1109/icccn.2011.6005763" TargetMode="External"/><Relationship Id="rId2" Type="http://schemas.openxmlformats.org/officeDocument/2006/relationships/hyperlink" Target="https://doi.org/10.1371/journal.pone.0191939" TargetMode="External"/><Relationship Id="rId3" Type="http://schemas.openxmlformats.org/officeDocument/2006/relationships/slideLayout" Target="../slideLayouts/slideLayout7.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Google Shape;220;p1"/>
          <p:cNvSpPr/>
          <p:nvPr/>
        </p:nvSpPr>
        <p:spPr>
          <a:xfrm>
            <a:off x="0" y="0"/>
            <a:ext cx="5569920" cy="6854400"/>
          </a:xfrm>
          <a:prstGeom prst="rect">
            <a:avLst/>
          </a:prstGeom>
          <a:solidFill>
            <a:schemeClr val="lt1"/>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183" name="Google Shape;221;p1"/>
          <p:cNvSpPr/>
          <p:nvPr/>
        </p:nvSpPr>
        <p:spPr>
          <a:xfrm>
            <a:off x="5573520" y="0"/>
            <a:ext cx="344880" cy="6854400"/>
          </a:xfrm>
          <a:prstGeom prst="rect">
            <a:avLst/>
          </a:prstGeom>
          <a:solidFill>
            <a:schemeClr val="accent4"/>
          </a:solidFill>
          <a:ln w="12700">
            <a:solidFill>
              <a:srgbClr val="FFC000"/>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184" name="Google Shape;222;p1"/>
          <p:cNvSpPr/>
          <p:nvPr/>
        </p:nvSpPr>
        <p:spPr>
          <a:xfrm>
            <a:off x="5923440" y="0"/>
            <a:ext cx="6266520" cy="685440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chorCtr="1">
            <a:noAutofit/>
          </a:bodyPr>
          <a:p>
            <a:pPr algn="ctr">
              <a:lnSpc>
                <a:spcPct val="100000"/>
              </a:lnSpc>
              <a:tabLst>
                <a:tab pos="0" algn="l"/>
              </a:tabLst>
            </a:pPr>
            <a:r>
              <a:rPr lang="en-US" sz="4400" b="1" u="sng" strike="noStrike">
                <a:solidFill>
                  <a:schemeClr val="lt1"/>
                </a:solidFill>
                <a:effectLst/>
                <a:uFillTx/>
                <a:latin typeface="Calibri"/>
                <a:ea typeface="Calibri"/>
              </a:rPr>
              <a:t>DESIGN AND SIMULATION OF A TVAR-BASED PACKET LOSS PREDICTION MODEL FOR WIRELESS MESH NETWORKS</a:t>
            </a:r>
            <a:endParaRPr lang="en-US" sz="4400" b="0" u="none" strike="noStrike">
              <a:solidFill>
                <a:srgbClr val="FFFFFF"/>
              </a:solidFill>
              <a:effectLst/>
              <a:uFillTx/>
              <a:latin typeface="Arial"/>
            </a:endParaRPr>
          </a:p>
          <a:p>
            <a:pPr algn="ctr">
              <a:lnSpc>
                <a:spcPct val="100000"/>
              </a:lnSpc>
              <a:spcBef>
                <a:spcPts val="989"/>
              </a:spcBef>
              <a:tabLst>
                <a:tab pos="0" algn="l"/>
              </a:tabLst>
            </a:pPr>
            <a:r>
              <a:rPr lang="en-US" sz="2600" b="1" u="sng" strike="noStrike">
                <a:solidFill>
                  <a:schemeClr val="lt1"/>
                </a:solidFill>
                <a:effectLst/>
                <a:uFillTx/>
                <a:latin typeface="Gill Sans"/>
                <a:ea typeface="Gill Sans"/>
              </a:rPr>
              <a:t>BY:</a:t>
            </a:r>
            <a:endParaRPr lang="en-US" sz="2600" b="0" u="none" strike="noStrike">
              <a:solidFill>
                <a:srgbClr val="FFFFFF"/>
              </a:solidFill>
              <a:effectLst/>
              <a:uFillTx/>
              <a:latin typeface="Arial"/>
            </a:endParaRPr>
          </a:p>
          <a:p>
            <a:pPr algn="ctr">
              <a:lnSpc>
                <a:spcPct val="150000"/>
              </a:lnSpc>
              <a:tabLst>
                <a:tab pos="0" algn="l"/>
              </a:tabLst>
            </a:pPr>
            <a:r>
              <a:rPr lang="en-US" sz="2600" b="1" u="none" strike="noStrike">
                <a:solidFill>
                  <a:schemeClr val="lt1"/>
                </a:solidFill>
                <a:effectLst/>
                <a:uFillTx/>
                <a:latin typeface="Gill Sans"/>
                <a:ea typeface="Gill Sans"/>
              </a:rPr>
              <a:t>Kelvin Gyesi Konah - 4111231007</a:t>
            </a:r>
            <a:endParaRPr lang="en-US" sz="2600" b="0" u="none" strike="noStrike">
              <a:solidFill>
                <a:srgbClr val="FFFFFF"/>
              </a:solidFill>
              <a:effectLst/>
              <a:uFillTx/>
              <a:latin typeface="Arial"/>
            </a:endParaRPr>
          </a:p>
          <a:p>
            <a:pPr algn="ctr">
              <a:lnSpc>
                <a:spcPct val="150000"/>
              </a:lnSpc>
              <a:tabLst>
                <a:tab pos="0" algn="l"/>
              </a:tabLst>
            </a:pPr>
            <a:r>
              <a:rPr lang="en-US" sz="2600" b="1" u="none" strike="noStrike">
                <a:solidFill>
                  <a:schemeClr val="lt1"/>
                </a:solidFill>
                <a:effectLst/>
                <a:uFillTx/>
                <a:latin typeface="Gill Sans"/>
                <a:ea typeface="Gill Sans"/>
              </a:rPr>
              <a:t>Stephans Neris Kwei Kuku – 4121230007</a:t>
            </a:r>
            <a:endParaRPr lang="en-US" sz="2600" b="0" u="none" strike="noStrike">
              <a:solidFill>
                <a:srgbClr val="FFFFFF"/>
              </a:solidFill>
              <a:effectLst/>
              <a:uFillTx/>
              <a:latin typeface="Arial"/>
            </a:endParaRPr>
          </a:p>
          <a:p>
            <a:pPr algn="ctr">
              <a:lnSpc>
                <a:spcPct val="150000"/>
              </a:lnSpc>
              <a:tabLst>
                <a:tab pos="0" algn="l"/>
              </a:tabLst>
            </a:pPr>
            <a:r>
              <a:rPr lang="en-US" sz="2600" b="1" u="none" strike="noStrike">
                <a:solidFill>
                  <a:schemeClr val="lt1"/>
                </a:solidFill>
                <a:effectLst/>
                <a:uFillTx/>
                <a:latin typeface="Gill Sans"/>
                <a:ea typeface="Gill Sans"/>
              </a:rPr>
              <a:t>Supervisor:</a:t>
            </a:r>
            <a:endParaRPr lang="en-US" sz="2600" b="0" u="none" strike="noStrike">
              <a:solidFill>
                <a:srgbClr val="FFFFFF"/>
              </a:solidFill>
              <a:effectLst/>
              <a:uFillTx/>
              <a:latin typeface="Arial"/>
            </a:endParaRPr>
          </a:p>
          <a:p>
            <a:pPr algn="ctr">
              <a:lnSpc>
                <a:spcPct val="150000"/>
              </a:lnSpc>
              <a:tabLst>
                <a:tab pos="0" algn="l"/>
              </a:tabLst>
            </a:pPr>
            <a:r>
              <a:rPr lang="en-US" sz="2600" b="1" u="none" strike="noStrike">
                <a:solidFill>
                  <a:schemeClr val="lt1"/>
                </a:solidFill>
                <a:effectLst/>
                <a:uFillTx/>
                <a:latin typeface="Gill Sans"/>
                <a:ea typeface="Gill Sans"/>
              </a:rPr>
              <a:t>Dr. Francis Oduro-Gyimah</a:t>
            </a:r>
            <a:endParaRPr lang="en-US" sz="2600" b="0" u="none" strike="noStrike">
              <a:solidFill>
                <a:srgbClr val="FFFFFF"/>
              </a:solidFill>
              <a:effectLst/>
              <a:uFillTx/>
              <a:latin typeface="Arial"/>
            </a:endParaRPr>
          </a:p>
        </p:txBody>
      </p:sp>
      <p:pic>
        <p:nvPicPr>
          <p:cNvPr id="185" name="Google Shape;223;p1"/>
          <p:cNvPicPr/>
          <p:nvPr/>
        </p:nvPicPr>
        <p:blipFill>
          <a:blip r:embed="rId1"/>
          <a:stretch/>
        </p:blipFill>
        <p:spPr>
          <a:xfrm>
            <a:off x="789120" y="2658240"/>
            <a:ext cx="3991680" cy="3625560"/>
          </a:xfrm>
          <a:prstGeom prst="rect">
            <a:avLst/>
          </a:prstGeom>
          <a:noFill/>
          <a:ln w="0">
            <a:noFill/>
          </a:ln>
        </p:spPr>
      </p:pic>
      <p:sp>
        <p:nvSpPr>
          <p:cNvPr id="186" name="Google Shape;224;p1"/>
          <p:cNvSpPr/>
          <p:nvPr/>
        </p:nvSpPr>
        <p:spPr>
          <a:xfrm>
            <a:off x="75240" y="210240"/>
            <a:ext cx="5842800" cy="228312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US" sz="3600" b="1" u="none" strike="noStrike">
                <a:solidFill>
                  <a:srgbClr val="002060"/>
                </a:solidFill>
                <a:effectLst/>
                <a:uFillTx/>
                <a:latin typeface="Gill Sans"/>
                <a:ea typeface="Gill Sans"/>
              </a:rPr>
              <a:t>GHANA COMMUNICATION TECHNOLOGY UNIVERSITY</a:t>
            </a:r>
            <a:endParaRPr lang="en-US" sz="3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Google Shape;229;p2"/>
          <p:cNvSpPr/>
          <p:nvPr/>
        </p:nvSpPr>
        <p:spPr>
          <a:xfrm>
            <a:off x="4038480" y="2334600"/>
            <a:ext cx="3305520" cy="3183480"/>
          </a:xfrm>
          <a:prstGeom prst="ellipse">
            <a:avLst/>
          </a:prstGeom>
          <a:blipFill rotWithShape="0">
            <a:blip r:embed="rId1"/>
            <a:srcRect/>
            <a:stretch/>
          </a:blipFill>
          <a:ln w="0">
            <a:noFill/>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188" name="Google Shape;230;p2"/>
          <p:cNvSpPr/>
          <p:nvPr/>
        </p:nvSpPr>
        <p:spPr>
          <a:xfrm>
            <a:off x="0" y="0"/>
            <a:ext cx="12188520" cy="6173280"/>
          </a:xfrm>
          <a:prstGeom prst="rect">
            <a:avLst/>
          </a:prstGeom>
          <a:solidFill>
            <a:srgbClr val="FFFFCC">
              <a:alpha val="86000"/>
            </a:srgbClr>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189" name="Google Shape;231;p2"/>
          <p:cNvSpPr/>
          <p:nvPr/>
        </p:nvSpPr>
        <p:spPr>
          <a:xfrm>
            <a:off x="0" y="0"/>
            <a:ext cx="9140400" cy="18216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sp>
        <p:nvSpPr>
          <p:cNvPr id="190" name="Google Shape;232;p2"/>
          <p:cNvSpPr/>
          <p:nvPr/>
        </p:nvSpPr>
        <p:spPr>
          <a:xfrm>
            <a:off x="9144000" y="0"/>
            <a:ext cx="3044520" cy="182160"/>
          </a:xfrm>
          <a:prstGeom prst="rect">
            <a:avLst/>
          </a:prstGeom>
          <a:solidFill>
            <a:schemeClr val="accent4"/>
          </a:solidFill>
          <a:ln w="12700">
            <a:solidFill>
              <a:srgbClr val="FFC000"/>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191" name="Google Shape;233;p2"/>
          <p:cNvSpPr/>
          <p:nvPr/>
        </p:nvSpPr>
        <p:spPr>
          <a:xfrm>
            <a:off x="0" y="6188400"/>
            <a:ext cx="12188520" cy="66600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pic>
        <p:nvPicPr>
          <p:cNvPr id="192" name="Google Shape;234;p2"/>
          <p:cNvPicPr/>
          <p:nvPr/>
        </p:nvPicPr>
        <p:blipFill>
          <a:blip r:embed="rId2"/>
          <a:stretch/>
        </p:blipFill>
        <p:spPr>
          <a:xfrm>
            <a:off x="8210520" y="6176880"/>
            <a:ext cx="3978000" cy="681480"/>
          </a:xfrm>
          <a:prstGeom prst="rect">
            <a:avLst/>
          </a:prstGeom>
          <a:noFill/>
          <a:ln w="0">
            <a:noFill/>
          </a:ln>
        </p:spPr>
      </p:pic>
      <p:sp>
        <p:nvSpPr>
          <p:cNvPr id="193" name="Google Shape;235;p2"/>
          <p:cNvSpPr/>
          <p:nvPr/>
        </p:nvSpPr>
        <p:spPr>
          <a:xfrm>
            <a:off x="0" y="183240"/>
            <a:ext cx="12191040" cy="66600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3800" b="1" u="none" strike="noStrike">
                <a:solidFill>
                  <a:srgbClr val="002060"/>
                </a:solidFill>
                <a:effectLst/>
                <a:uFillTx/>
                <a:latin typeface="Calibri"/>
                <a:ea typeface="Calibri"/>
              </a:rPr>
              <a:t>BACKGROUND OF STUDY</a:t>
            </a:r>
            <a:endParaRPr lang="en-US" sz="3800" b="0" u="none" strike="noStrike">
              <a:solidFill>
                <a:srgbClr val="FFFFFF"/>
              </a:solidFill>
              <a:effectLst/>
              <a:uFillTx/>
              <a:latin typeface="Arial"/>
            </a:endParaRPr>
          </a:p>
        </p:txBody>
      </p:sp>
      <p:grpSp>
        <p:nvGrpSpPr>
          <p:cNvPr id="194" name="Google Shape;236;p2"/>
          <p:cNvGrpSpPr/>
          <p:nvPr/>
        </p:nvGrpSpPr>
        <p:grpSpPr>
          <a:xfrm>
            <a:off x="571680" y="6176880"/>
            <a:ext cx="951480" cy="677520"/>
            <a:chOff x="571680" y="6176880"/>
            <a:chExt cx="951480" cy="677520"/>
          </a:xfrm>
        </p:grpSpPr>
        <p:sp>
          <p:nvSpPr>
            <p:cNvPr id="195" name="Google Shape;237;p2"/>
            <p:cNvSpPr/>
            <p:nvPr/>
          </p:nvSpPr>
          <p:spPr>
            <a:xfrm>
              <a:off x="571680" y="6176880"/>
              <a:ext cx="951480" cy="677520"/>
            </a:xfrm>
            <a:prstGeom prst="rect">
              <a:avLst/>
            </a:prstGeom>
            <a:no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196" name="Google Shape;238;p2"/>
            <p:cNvSpPr/>
            <p:nvPr/>
          </p:nvSpPr>
          <p:spPr>
            <a:xfrm>
              <a:off x="571680" y="6176880"/>
              <a:ext cx="951480" cy="6775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FFFFFF"/>
                  </a:solidFill>
                  <a:effectLst/>
                  <a:uFillTx/>
                  <a:latin typeface="Calibri"/>
                  <a:ea typeface="Calibri"/>
                </a:rPr>
                <a:t>Page 2</a:t>
              </a:r>
              <a:endParaRPr lang="en-US" sz="1400" b="0" u="none" strike="noStrike">
                <a:solidFill>
                  <a:srgbClr val="FFFFFF"/>
                </a:solidFill>
                <a:effectLst/>
                <a:uFillTx/>
                <a:latin typeface="Arial"/>
              </a:endParaRPr>
            </a:p>
          </p:txBody>
        </p:sp>
      </p:grpSp>
      <p:pic>
        <p:nvPicPr>
          <p:cNvPr id="197" name="Google Shape;239;p2" descr="image.png"/>
          <p:cNvPicPr/>
          <p:nvPr/>
        </p:nvPicPr>
        <p:blipFill>
          <a:blip r:embed="rId3"/>
          <a:stretch/>
        </p:blipFill>
        <p:spPr>
          <a:xfrm>
            <a:off x="403200" y="1232280"/>
            <a:ext cx="5333040" cy="3906000"/>
          </a:xfrm>
          <a:prstGeom prst="rect">
            <a:avLst/>
          </a:prstGeom>
          <a:noFill/>
          <a:ln w="0">
            <a:noFill/>
          </a:ln>
        </p:spPr>
      </p:pic>
      <p:pic>
        <p:nvPicPr>
          <p:cNvPr id="198" name="Google Shape;240;p2" descr="image.png"/>
          <p:cNvPicPr/>
          <p:nvPr/>
        </p:nvPicPr>
        <p:blipFill>
          <a:blip r:embed="rId4"/>
          <a:stretch/>
        </p:blipFill>
        <p:spPr>
          <a:xfrm>
            <a:off x="6211800" y="1232280"/>
            <a:ext cx="5333040" cy="3906000"/>
          </a:xfrm>
          <a:prstGeom prst="rect">
            <a:avLst/>
          </a:prstGeom>
          <a:noFill/>
          <a:ln w="0">
            <a:noFill/>
          </a:ln>
        </p:spPr>
      </p:pic>
      <p:pic>
        <p:nvPicPr>
          <p:cNvPr id="199" name="Google Shape;242;p2" descr="image.png"/>
          <p:cNvPicPr/>
          <p:nvPr/>
        </p:nvPicPr>
        <p:blipFill>
          <a:blip r:embed="rId5"/>
          <a:stretch/>
        </p:blipFill>
        <p:spPr>
          <a:xfrm>
            <a:off x="0" y="742680"/>
            <a:ext cx="12191040" cy="66960"/>
          </a:xfrm>
          <a:prstGeom prst="rect">
            <a:avLst/>
          </a:prstGeom>
          <a:noFill/>
          <a:ln w="0">
            <a:noFill/>
          </a:ln>
        </p:spPr>
      </p:pic>
      <p:sp>
        <p:nvSpPr>
          <p:cNvPr id="200" name="Google Shape;244;p2"/>
          <p:cNvSpPr/>
          <p:nvPr/>
        </p:nvSpPr>
        <p:spPr>
          <a:xfrm>
            <a:off x="829800" y="1613520"/>
            <a:ext cx="4779360" cy="3034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000" b="0" u="none" strike="noStrike">
                <a:solidFill>
                  <a:srgbClr val="1E2B58"/>
                </a:solidFill>
                <a:effectLst/>
                <a:uFillTx/>
                <a:latin typeface="Poppins SemiBold"/>
                <a:ea typeface="Poppins SemiBold"/>
              </a:rPr>
              <a:t>Evolution of WMNs</a:t>
            </a:r>
            <a:endParaRPr lang="en-US" sz="2000" b="0" u="none" strike="noStrike">
              <a:solidFill>
                <a:srgbClr val="FFFFFF"/>
              </a:solidFill>
              <a:effectLst/>
              <a:uFillTx/>
              <a:latin typeface="Arial"/>
            </a:endParaRPr>
          </a:p>
        </p:txBody>
      </p:sp>
      <p:sp>
        <p:nvSpPr>
          <p:cNvPr id="201" name="Google Shape;245;p2"/>
          <p:cNvSpPr/>
          <p:nvPr/>
        </p:nvSpPr>
        <p:spPr>
          <a:xfrm>
            <a:off x="829800" y="1906560"/>
            <a:ext cx="4665600" cy="1316160"/>
          </a:xfrm>
          <a:prstGeom prst="rect">
            <a:avLst/>
          </a:prstGeom>
          <a:noFill/>
          <a:ln w="0">
            <a:noFill/>
          </a:ln>
        </p:spPr>
        <p:style>
          <a:lnRef idx="0"/>
          <a:fillRef idx="0"/>
          <a:effectRef idx="0"/>
          <a:fontRef idx="minor"/>
        </p:style>
        <p:txBody>
          <a:bodyPr lIns="0" tIns="0" rIns="0" bIns="0" anchor="t">
            <a:spAutoFit/>
          </a:bodyPr>
          <a:p>
            <a:pPr>
              <a:lnSpc>
                <a:spcPct val="160000"/>
              </a:lnSpc>
              <a:tabLst>
                <a:tab pos="0" algn="l"/>
              </a:tabLst>
            </a:pPr>
            <a:r>
              <a:rPr lang="en-US" sz="1800" b="0" u="none" strike="noStrike">
                <a:solidFill>
                  <a:srgbClr val="475569"/>
                </a:solidFill>
                <a:effectLst/>
                <a:uFillTx/>
                <a:latin typeface="Calibri"/>
                <a:ea typeface="Calibri"/>
              </a:rPr>
              <a:t>Telecommunication has undergone a major shift. A key focus is the adoption of Wireless Mesh Networks (WMNs), known for their:</a:t>
            </a:r>
            <a:endParaRPr lang="en-US" sz="1800" b="0" u="none" strike="noStrike">
              <a:solidFill>
                <a:srgbClr val="FFFFFF"/>
              </a:solidFill>
              <a:effectLst/>
              <a:uFillTx/>
              <a:latin typeface="Arial"/>
            </a:endParaRPr>
          </a:p>
        </p:txBody>
      </p:sp>
      <p:sp>
        <p:nvSpPr>
          <p:cNvPr id="202" name="Google Shape;246;p2"/>
          <p:cNvSpPr/>
          <p:nvPr/>
        </p:nvSpPr>
        <p:spPr>
          <a:xfrm>
            <a:off x="6676920" y="1600200"/>
            <a:ext cx="4779360" cy="3034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000" b="0" u="none" strike="noStrike">
                <a:solidFill>
                  <a:srgbClr val="1E2B58"/>
                </a:solidFill>
                <a:effectLst/>
                <a:uFillTx/>
                <a:latin typeface="Poppins SemiBold"/>
                <a:ea typeface="Poppins SemiBold"/>
              </a:rPr>
              <a:t>Market Projection</a:t>
            </a:r>
            <a:endParaRPr lang="en-US" sz="2000" b="0" u="none" strike="noStrike">
              <a:solidFill>
                <a:srgbClr val="FFFFFF"/>
              </a:solidFill>
              <a:effectLst/>
              <a:uFillTx/>
              <a:latin typeface="Arial"/>
            </a:endParaRPr>
          </a:p>
        </p:txBody>
      </p:sp>
      <p:sp>
        <p:nvSpPr>
          <p:cNvPr id="203" name="Google Shape;247;p2"/>
          <p:cNvSpPr/>
          <p:nvPr/>
        </p:nvSpPr>
        <p:spPr>
          <a:xfrm>
            <a:off x="6676920" y="1904400"/>
            <a:ext cx="4552200" cy="877320"/>
          </a:xfrm>
          <a:prstGeom prst="rect">
            <a:avLst/>
          </a:prstGeom>
          <a:noFill/>
          <a:ln w="0">
            <a:noFill/>
          </a:ln>
        </p:spPr>
        <p:style>
          <a:lnRef idx="0"/>
          <a:fillRef idx="0"/>
          <a:effectRef idx="0"/>
          <a:fontRef idx="minor"/>
        </p:style>
        <p:txBody>
          <a:bodyPr lIns="0" tIns="0" rIns="0" bIns="0" anchor="t">
            <a:spAutoFit/>
          </a:bodyPr>
          <a:p>
            <a:pPr>
              <a:lnSpc>
                <a:spcPct val="160000"/>
              </a:lnSpc>
              <a:tabLst>
                <a:tab pos="0" algn="l"/>
              </a:tabLst>
            </a:pPr>
            <a:r>
              <a:rPr lang="en-US" sz="1800" b="0" u="none" strike="noStrike">
                <a:solidFill>
                  <a:srgbClr val="475569"/>
                </a:solidFill>
                <a:effectLst/>
                <a:uFillTx/>
                <a:latin typeface="Lato"/>
                <a:ea typeface="Lato"/>
              </a:rPr>
              <a:t>The global wireless mesh network market size is expanding rapidly:</a:t>
            </a:r>
            <a:endParaRPr lang="en-US" sz="1800" b="0" u="none" strike="noStrike">
              <a:solidFill>
                <a:srgbClr val="FFFFFF"/>
              </a:solidFill>
              <a:effectLst/>
              <a:uFillTx/>
              <a:latin typeface="Arial"/>
            </a:endParaRPr>
          </a:p>
        </p:txBody>
      </p:sp>
      <p:sp>
        <p:nvSpPr>
          <p:cNvPr id="204" name="Google Shape;248;p2"/>
          <p:cNvSpPr/>
          <p:nvPr/>
        </p:nvSpPr>
        <p:spPr>
          <a:xfrm>
            <a:off x="6676920" y="3554640"/>
            <a:ext cx="4552200" cy="414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700" b="1" u="none" strike="noStrike">
                <a:solidFill>
                  <a:srgbClr val="1E2B58"/>
                </a:solidFill>
                <a:effectLst/>
                <a:uFillTx/>
                <a:latin typeface="Poppins"/>
                <a:ea typeface="Poppins"/>
              </a:rPr>
              <a:t>USD 8.29B</a:t>
            </a:r>
            <a:endParaRPr lang="en-US" sz="2700" b="0" u="none" strike="noStrike">
              <a:solidFill>
                <a:srgbClr val="FFFFFF"/>
              </a:solidFill>
              <a:effectLst/>
              <a:uFillTx/>
              <a:latin typeface="Arial"/>
            </a:endParaRPr>
          </a:p>
        </p:txBody>
      </p:sp>
      <p:sp>
        <p:nvSpPr>
          <p:cNvPr id="205" name="Google Shape;250;p2"/>
          <p:cNvSpPr/>
          <p:nvPr/>
        </p:nvSpPr>
        <p:spPr>
          <a:xfrm>
            <a:off x="6629400" y="4572000"/>
            <a:ext cx="4552200" cy="4143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700" b="1" u="none" strike="noStrike">
                <a:solidFill>
                  <a:srgbClr val="1E2B58"/>
                </a:solidFill>
                <a:effectLst/>
                <a:uFillTx/>
                <a:latin typeface="Poppins"/>
                <a:ea typeface="Poppins"/>
              </a:rPr>
              <a:t>USD 15.95B</a:t>
            </a:r>
            <a:endParaRPr lang="en-US" sz="2700" b="0" u="none" strike="noStrike">
              <a:solidFill>
                <a:srgbClr val="FFFFFF"/>
              </a:solidFill>
              <a:effectLst/>
              <a:uFillTx/>
              <a:latin typeface="Arial"/>
            </a:endParaRPr>
          </a:p>
        </p:txBody>
      </p:sp>
      <p:sp>
        <p:nvSpPr>
          <p:cNvPr id="206" name="Google Shape;251;p2"/>
          <p:cNvSpPr/>
          <p:nvPr/>
        </p:nvSpPr>
        <p:spPr>
          <a:xfrm>
            <a:off x="6629400" y="4114800"/>
            <a:ext cx="4552200" cy="389520"/>
          </a:xfrm>
          <a:prstGeom prst="rect">
            <a:avLst/>
          </a:prstGeom>
          <a:noFill/>
          <a:ln w="0">
            <a:noFill/>
          </a:ln>
        </p:spPr>
        <p:style>
          <a:lnRef idx="0"/>
          <a:fillRef idx="0"/>
          <a:effectRef idx="0"/>
          <a:fontRef idx="minor"/>
        </p:style>
        <p:txBody>
          <a:bodyPr lIns="0" tIns="0" rIns="0" bIns="0" anchor="t">
            <a:spAutoFit/>
          </a:bodyPr>
          <a:p>
            <a:pPr>
              <a:lnSpc>
                <a:spcPct val="160000"/>
              </a:lnSpc>
              <a:tabLst>
                <a:tab pos="0" algn="l"/>
              </a:tabLst>
            </a:pPr>
            <a:r>
              <a:rPr lang="en-US" sz="1600" b="0" u="none" strike="noStrike">
                <a:solidFill>
                  <a:srgbClr val="475569"/>
                </a:solidFill>
                <a:effectLst/>
                <a:uFillTx/>
                <a:latin typeface="Lato"/>
                <a:ea typeface="Lato"/>
              </a:rPr>
              <a:t>Projected Value (2030):</a:t>
            </a:r>
            <a:endParaRPr lang="en-US" sz="1600" b="0" u="none" strike="noStrike">
              <a:solidFill>
                <a:srgbClr val="FFFFFF"/>
              </a:solidFill>
              <a:effectLst/>
              <a:uFillTx/>
              <a:latin typeface="Arial"/>
            </a:endParaRPr>
          </a:p>
        </p:txBody>
      </p:sp>
      <p:sp>
        <p:nvSpPr>
          <p:cNvPr id="207" name="Google Shape;252;p2"/>
          <p:cNvSpPr/>
          <p:nvPr/>
        </p:nvSpPr>
        <p:spPr>
          <a:xfrm>
            <a:off x="829800" y="3868920"/>
            <a:ext cx="94320" cy="207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475569"/>
                </a:solidFill>
                <a:effectLst/>
                <a:uFillTx/>
                <a:latin typeface="Lato"/>
                <a:ea typeface="Lato"/>
              </a:rPr>
              <a:t>•</a:t>
            </a:r>
            <a:endParaRPr lang="en-US" sz="1350" b="0" u="none" strike="noStrike">
              <a:solidFill>
                <a:srgbClr val="FFFFFF"/>
              </a:solidFill>
              <a:effectLst/>
              <a:uFillTx/>
              <a:latin typeface="Arial"/>
            </a:endParaRPr>
          </a:p>
        </p:txBody>
      </p:sp>
      <p:sp>
        <p:nvSpPr>
          <p:cNvPr id="208" name="Google Shape;253;p2"/>
          <p:cNvSpPr/>
          <p:nvPr/>
        </p:nvSpPr>
        <p:spPr>
          <a:xfrm>
            <a:off x="914400" y="3291480"/>
            <a:ext cx="4361400" cy="438480"/>
          </a:xfrm>
          <a:prstGeom prst="rect">
            <a:avLst/>
          </a:prstGeom>
          <a:noFill/>
          <a:ln w="0">
            <a:noFill/>
          </a:ln>
        </p:spPr>
        <p:style>
          <a:lnRef idx="0"/>
          <a:fillRef idx="0"/>
          <a:effectRef idx="0"/>
          <a:fontRef idx="minor"/>
        </p:style>
        <p:txBody>
          <a:bodyPr lIns="95400" tIns="0" rIns="0" bIns="0" anchor="t">
            <a:spAutoFit/>
          </a:bodyPr>
          <a:p>
            <a:pPr>
              <a:lnSpc>
                <a:spcPct val="160000"/>
              </a:lnSpc>
              <a:tabLst>
                <a:tab pos="0" algn="l"/>
              </a:tabLst>
            </a:pPr>
            <a:r>
              <a:rPr lang="en-US" sz="1800" b="0" u="none" strike="noStrike">
                <a:solidFill>
                  <a:srgbClr val="475569"/>
                </a:solidFill>
                <a:effectLst/>
                <a:uFillTx/>
                <a:latin typeface="Lato"/>
                <a:ea typeface="Lato"/>
              </a:rPr>
              <a:t>Dynamic &amp; self-organized routing</a:t>
            </a:r>
            <a:endParaRPr lang="en-US" sz="1800" b="0" u="none" strike="noStrike">
              <a:solidFill>
                <a:srgbClr val="FFFFFF"/>
              </a:solidFill>
              <a:effectLst/>
              <a:uFillTx/>
              <a:latin typeface="Arial"/>
            </a:endParaRPr>
          </a:p>
        </p:txBody>
      </p:sp>
      <p:sp>
        <p:nvSpPr>
          <p:cNvPr id="209" name="Google Shape;254;p2"/>
          <p:cNvSpPr/>
          <p:nvPr/>
        </p:nvSpPr>
        <p:spPr>
          <a:xfrm>
            <a:off x="829800" y="4246560"/>
            <a:ext cx="94320" cy="207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475569"/>
                </a:solidFill>
                <a:effectLst/>
                <a:uFillTx/>
                <a:latin typeface="Lato"/>
                <a:ea typeface="Lato"/>
              </a:rPr>
              <a:t>•</a:t>
            </a:r>
            <a:endParaRPr lang="en-US" sz="1350" b="0" u="none" strike="noStrike">
              <a:solidFill>
                <a:srgbClr val="FFFFFF"/>
              </a:solidFill>
              <a:effectLst/>
              <a:uFillTx/>
              <a:latin typeface="Arial"/>
            </a:endParaRPr>
          </a:p>
        </p:txBody>
      </p:sp>
      <p:sp>
        <p:nvSpPr>
          <p:cNvPr id="210" name="Google Shape;255;p2"/>
          <p:cNvSpPr/>
          <p:nvPr/>
        </p:nvSpPr>
        <p:spPr>
          <a:xfrm>
            <a:off x="944280" y="4038480"/>
            <a:ext cx="4361400" cy="438480"/>
          </a:xfrm>
          <a:prstGeom prst="rect">
            <a:avLst/>
          </a:prstGeom>
          <a:noFill/>
          <a:ln w="0">
            <a:noFill/>
          </a:ln>
        </p:spPr>
        <p:style>
          <a:lnRef idx="0"/>
          <a:fillRef idx="0"/>
          <a:effectRef idx="0"/>
          <a:fontRef idx="minor"/>
        </p:style>
        <p:txBody>
          <a:bodyPr lIns="95400" tIns="0" rIns="0" bIns="0" anchor="t">
            <a:spAutoFit/>
          </a:bodyPr>
          <a:p>
            <a:pPr>
              <a:lnSpc>
                <a:spcPct val="160000"/>
              </a:lnSpc>
              <a:tabLst>
                <a:tab pos="0" algn="l"/>
              </a:tabLst>
            </a:pPr>
            <a:r>
              <a:rPr lang="en-US" sz="1800" b="0" u="none" strike="noStrike">
                <a:solidFill>
                  <a:srgbClr val="475569"/>
                </a:solidFill>
                <a:effectLst/>
                <a:uFillTx/>
                <a:latin typeface="Lato"/>
                <a:ea typeface="Lato"/>
              </a:rPr>
              <a:t>Self-healing autonomy</a:t>
            </a:r>
            <a:endParaRPr lang="en-US" sz="1800" b="0" u="none" strike="noStrike">
              <a:solidFill>
                <a:srgbClr val="FFFFFF"/>
              </a:solidFill>
              <a:effectLst/>
              <a:uFillTx/>
              <a:latin typeface="Arial"/>
            </a:endParaRPr>
          </a:p>
        </p:txBody>
      </p:sp>
      <p:sp>
        <p:nvSpPr>
          <p:cNvPr id="211" name="Google Shape;256;p2"/>
          <p:cNvSpPr/>
          <p:nvPr/>
        </p:nvSpPr>
        <p:spPr>
          <a:xfrm>
            <a:off x="829800" y="3499560"/>
            <a:ext cx="94320" cy="207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1350" b="0" u="none" strike="noStrike">
                <a:solidFill>
                  <a:srgbClr val="475569"/>
                </a:solidFill>
                <a:effectLst/>
                <a:uFillTx/>
                <a:latin typeface="Lato"/>
                <a:ea typeface="Lato"/>
              </a:rPr>
              <a:t>•</a:t>
            </a:r>
            <a:endParaRPr lang="en-US" sz="1350" b="0" u="none" strike="noStrike">
              <a:solidFill>
                <a:srgbClr val="FFFFFF"/>
              </a:solidFill>
              <a:effectLst/>
              <a:uFillTx/>
              <a:latin typeface="Arial"/>
            </a:endParaRPr>
          </a:p>
        </p:txBody>
      </p:sp>
      <p:sp>
        <p:nvSpPr>
          <p:cNvPr id="212" name="Google Shape;257;p2"/>
          <p:cNvSpPr/>
          <p:nvPr/>
        </p:nvSpPr>
        <p:spPr>
          <a:xfrm>
            <a:off x="924840" y="3678480"/>
            <a:ext cx="4361400" cy="438480"/>
          </a:xfrm>
          <a:prstGeom prst="rect">
            <a:avLst/>
          </a:prstGeom>
          <a:noFill/>
          <a:ln w="0">
            <a:noFill/>
          </a:ln>
        </p:spPr>
        <p:style>
          <a:lnRef idx="0"/>
          <a:fillRef idx="0"/>
          <a:effectRef idx="0"/>
          <a:fontRef idx="minor"/>
        </p:style>
        <p:txBody>
          <a:bodyPr lIns="95400" tIns="0" rIns="0" bIns="0" anchor="t">
            <a:spAutoFit/>
          </a:bodyPr>
          <a:p>
            <a:pPr>
              <a:lnSpc>
                <a:spcPct val="160000"/>
              </a:lnSpc>
              <a:tabLst>
                <a:tab pos="0" algn="l"/>
              </a:tabLst>
            </a:pPr>
            <a:r>
              <a:rPr lang="en-US" sz="1800" b="0" u="none" strike="noStrike">
                <a:solidFill>
                  <a:srgbClr val="475569"/>
                </a:solidFill>
                <a:effectLst/>
                <a:uFillTx/>
                <a:latin typeface="Lato"/>
                <a:ea typeface="Lato"/>
              </a:rPr>
              <a:t>Self-configured capabilities</a:t>
            </a:r>
            <a:endParaRPr lang="en-US" sz="1800" b="0" u="none" strike="noStrike">
              <a:solidFill>
                <a:srgbClr val="FFFFFF"/>
              </a:solidFill>
              <a:effectLst/>
              <a:uFillTx/>
              <a:latin typeface="Arial"/>
            </a:endParaRPr>
          </a:p>
        </p:txBody>
      </p:sp>
      <p:sp>
        <p:nvSpPr>
          <p:cNvPr id="213" name="Google Shape;249;p2"/>
          <p:cNvSpPr/>
          <p:nvPr/>
        </p:nvSpPr>
        <p:spPr>
          <a:xfrm>
            <a:off x="6676920" y="3145320"/>
            <a:ext cx="4552200" cy="389520"/>
          </a:xfrm>
          <a:prstGeom prst="rect">
            <a:avLst/>
          </a:prstGeom>
          <a:noFill/>
          <a:ln w="0">
            <a:noFill/>
          </a:ln>
        </p:spPr>
        <p:style>
          <a:lnRef idx="0"/>
          <a:fillRef idx="0"/>
          <a:effectRef idx="0"/>
          <a:fontRef idx="minor"/>
        </p:style>
        <p:txBody>
          <a:bodyPr lIns="0" tIns="0" rIns="0" bIns="0" anchor="t">
            <a:spAutoFit/>
          </a:bodyPr>
          <a:p>
            <a:pPr>
              <a:lnSpc>
                <a:spcPct val="160000"/>
              </a:lnSpc>
              <a:tabLst>
                <a:tab pos="0" algn="l"/>
              </a:tabLst>
            </a:pPr>
            <a:r>
              <a:rPr lang="en-US" sz="1600" b="0" u="none" strike="noStrike">
                <a:solidFill>
                  <a:srgbClr val="475569"/>
                </a:solidFill>
                <a:effectLst/>
                <a:uFillTx/>
                <a:latin typeface="Lato"/>
                <a:ea typeface="Lato"/>
              </a:rPr>
              <a:t>Market Value (2022):</a:t>
            </a:r>
            <a:endParaRPr lang="en-US"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Google Shape;262;p3"/>
          <p:cNvSpPr/>
          <p:nvPr/>
        </p:nvSpPr>
        <p:spPr>
          <a:xfrm>
            <a:off x="4038480" y="2334600"/>
            <a:ext cx="3305520" cy="3183480"/>
          </a:xfrm>
          <a:prstGeom prst="ellipse">
            <a:avLst/>
          </a:prstGeom>
          <a:blipFill rotWithShape="0">
            <a:blip r:embed="rId1"/>
            <a:srcRect/>
            <a:stretch/>
          </a:blipFill>
          <a:ln w="0">
            <a:noFill/>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215" name="Google Shape;263;p3"/>
          <p:cNvSpPr/>
          <p:nvPr/>
        </p:nvSpPr>
        <p:spPr>
          <a:xfrm>
            <a:off x="0" y="0"/>
            <a:ext cx="12188520" cy="6175800"/>
          </a:xfrm>
          <a:prstGeom prst="rect">
            <a:avLst/>
          </a:prstGeom>
          <a:solidFill>
            <a:srgbClr val="FFFFCC">
              <a:alpha val="86000"/>
            </a:srgbClr>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216" name="Google Shape;264;p3"/>
          <p:cNvSpPr/>
          <p:nvPr/>
        </p:nvSpPr>
        <p:spPr>
          <a:xfrm>
            <a:off x="0" y="0"/>
            <a:ext cx="9140400" cy="18216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sp>
        <p:nvSpPr>
          <p:cNvPr id="217" name="Google Shape;265;p3"/>
          <p:cNvSpPr/>
          <p:nvPr/>
        </p:nvSpPr>
        <p:spPr>
          <a:xfrm>
            <a:off x="9144000" y="0"/>
            <a:ext cx="3044520" cy="182160"/>
          </a:xfrm>
          <a:prstGeom prst="rect">
            <a:avLst/>
          </a:prstGeom>
          <a:solidFill>
            <a:schemeClr val="accent4"/>
          </a:solidFill>
          <a:ln w="12700">
            <a:solidFill>
              <a:srgbClr val="FFC000"/>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218" name="Google Shape;266;p3"/>
          <p:cNvSpPr/>
          <p:nvPr/>
        </p:nvSpPr>
        <p:spPr>
          <a:xfrm>
            <a:off x="0" y="6176880"/>
            <a:ext cx="12188520" cy="67752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pic>
        <p:nvPicPr>
          <p:cNvPr id="219" name="Google Shape;267;p3"/>
          <p:cNvPicPr/>
          <p:nvPr/>
        </p:nvPicPr>
        <p:blipFill>
          <a:blip r:embed="rId2"/>
          <a:stretch/>
        </p:blipFill>
        <p:spPr>
          <a:xfrm>
            <a:off x="8210520" y="6176880"/>
            <a:ext cx="3978000" cy="681480"/>
          </a:xfrm>
          <a:prstGeom prst="rect">
            <a:avLst/>
          </a:prstGeom>
          <a:noFill/>
          <a:ln w="0">
            <a:noFill/>
          </a:ln>
        </p:spPr>
      </p:pic>
      <p:sp>
        <p:nvSpPr>
          <p:cNvPr id="220" name="PlaceHolder 1"/>
          <p:cNvSpPr>
            <a:spLocks noGrp="1"/>
          </p:cNvSpPr>
          <p:nvPr>
            <p:ph type="title"/>
          </p:nvPr>
        </p:nvSpPr>
        <p:spPr>
          <a:xfrm>
            <a:off x="0" y="380880"/>
            <a:ext cx="12191040" cy="666000"/>
          </a:xfrm>
          <a:prstGeom prst="rect">
            <a:avLst/>
          </a:prstGeom>
          <a:noFill/>
          <a:ln w="0">
            <a:noFill/>
          </a:ln>
        </p:spPr>
        <p:txBody>
          <a:bodyPr lIns="0" tIns="0" rIns="0" bIns="0" anchor="ctr">
            <a:normAutofit/>
          </a:bodyPr>
          <a:p>
            <a:pPr indent="0" algn="ctr">
              <a:lnSpc>
                <a:spcPct val="100000"/>
              </a:lnSpc>
              <a:buNone/>
              <a:tabLst>
                <a:tab pos="0" algn="l"/>
              </a:tabLst>
            </a:pPr>
            <a:r>
              <a:rPr lang="en-US" sz="3800" b="1" u="none" strike="noStrike">
                <a:solidFill>
                  <a:srgbClr val="002060"/>
                </a:solidFill>
                <a:effectLst/>
                <a:uFillTx/>
                <a:latin typeface="Calibri"/>
                <a:ea typeface="Calibri"/>
              </a:rPr>
              <a:t>PROBLEM STATEMENT</a:t>
            </a:r>
            <a:endParaRPr lang="en-US" sz="3800" b="0" u="none" strike="noStrike">
              <a:solidFill>
                <a:srgbClr val="000000"/>
              </a:solidFill>
              <a:effectLst/>
              <a:uFillTx/>
              <a:latin typeface="Arial"/>
            </a:endParaRPr>
          </a:p>
        </p:txBody>
      </p:sp>
      <p:sp>
        <p:nvSpPr>
          <p:cNvPr id="221" name="Google Shape;269;p3"/>
          <p:cNvSpPr/>
          <p:nvPr/>
        </p:nvSpPr>
        <p:spPr>
          <a:xfrm>
            <a:off x="571680" y="6176880"/>
            <a:ext cx="951480" cy="6775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FFFFFF"/>
                </a:solidFill>
                <a:effectLst/>
                <a:uFillTx/>
                <a:latin typeface="Calibri"/>
                <a:ea typeface="Calibri"/>
              </a:rPr>
              <a:t>Page 3</a:t>
            </a:r>
            <a:endParaRPr lang="en-US" sz="1400" b="0" u="none" strike="noStrike">
              <a:solidFill>
                <a:srgbClr val="FFFFFF"/>
              </a:solidFill>
              <a:effectLst/>
              <a:uFillTx/>
              <a:latin typeface="Arial"/>
            </a:endParaRPr>
          </a:p>
        </p:txBody>
      </p:sp>
      <p:pic>
        <p:nvPicPr>
          <p:cNvPr id="222" name="Google Shape;270;p3" descr="image.png"/>
          <p:cNvPicPr/>
          <p:nvPr/>
        </p:nvPicPr>
        <p:blipFill>
          <a:blip r:embed="rId3"/>
          <a:stretch/>
        </p:blipFill>
        <p:spPr>
          <a:xfrm>
            <a:off x="369360" y="1383120"/>
            <a:ext cx="3491640" cy="3969360"/>
          </a:xfrm>
          <a:prstGeom prst="rect">
            <a:avLst/>
          </a:prstGeom>
          <a:noFill/>
          <a:ln w="0">
            <a:noFill/>
          </a:ln>
        </p:spPr>
      </p:pic>
      <p:pic>
        <p:nvPicPr>
          <p:cNvPr id="223" name="Google Shape;271;p3" descr="image.png"/>
          <p:cNvPicPr/>
          <p:nvPr/>
        </p:nvPicPr>
        <p:blipFill>
          <a:blip r:embed="rId4"/>
          <a:stretch/>
        </p:blipFill>
        <p:spPr>
          <a:xfrm>
            <a:off x="4147560" y="1383120"/>
            <a:ext cx="3491640" cy="3969360"/>
          </a:xfrm>
          <a:prstGeom prst="rect">
            <a:avLst/>
          </a:prstGeom>
          <a:noFill/>
          <a:ln w="0">
            <a:noFill/>
          </a:ln>
        </p:spPr>
      </p:pic>
      <p:pic>
        <p:nvPicPr>
          <p:cNvPr id="224" name="Google Shape;272;p3" descr="image.png"/>
          <p:cNvPicPr/>
          <p:nvPr/>
        </p:nvPicPr>
        <p:blipFill>
          <a:blip r:embed="rId5"/>
          <a:stretch/>
        </p:blipFill>
        <p:spPr>
          <a:xfrm>
            <a:off x="7926120" y="1383120"/>
            <a:ext cx="3491640" cy="3969360"/>
          </a:xfrm>
          <a:prstGeom prst="rect">
            <a:avLst/>
          </a:prstGeom>
          <a:noFill/>
          <a:ln w="0">
            <a:noFill/>
          </a:ln>
        </p:spPr>
      </p:pic>
      <p:sp>
        <p:nvSpPr>
          <p:cNvPr id="225" name="Google Shape;273;p3"/>
          <p:cNvSpPr/>
          <p:nvPr/>
        </p:nvSpPr>
        <p:spPr>
          <a:xfrm>
            <a:off x="592200" y="1654920"/>
            <a:ext cx="3045960" cy="3034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000" b="0" u="none" strike="noStrike">
                <a:solidFill>
                  <a:srgbClr val="1E2B58"/>
                </a:solidFill>
                <a:effectLst/>
                <a:uFillTx/>
                <a:latin typeface="Poppins SemiBold"/>
                <a:ea typeface="Poppins SemiBold"/>
              </a:rPr>
              <a:t>Inherent Challenge</a:t>
            </a:r>
            <a:endParaRPr lang="en-US" sz="2000" b="0" u="none" strike="noStrike">
              <a:solidFill>
                <a:srgbClr val="FFFFFF"/>
              </a:solidFill>
              <a:effectLst/>
              <a:uFillTx/>
              <a:latin typeface="Arial"/>
            </a:endParaRPr>
          </a:p>
        </p:txBody>
      </p:sp>
      <p:sp>
        <p:nvSpPr>
          <p:cNvPr id="226" name="Google Shape;274;p3"/>
          <p:cNvSpPr/>
          <p:nvPr/>
        </p:nvSpPr>
        <p:spPr>
          <a:xfrm>
            <a:off x="571680" y="2124000"/>
            <a:ext cx="2900880" cy="1316160"/>
          </a:xfrm>
          <a:prstGeom prst="rect">
            <a:avLst/>
          </a:prstGeom>
          <a:noFill/>
          <a:ln w="0">
            <a:noFill/>
          </a:ln>
        </p:spPr>
        <p:style>
          <a:lnRef idx="0"/>
          <a:fillRef idx="0"/>
          <a:effectRef idx="0"/>
          <a:fontRef idx="minor"/>
        </p:style>
        <p:txBody>
          <a:bodyPr lIns="0" tIns="0" rIns="0" bIns="0" anchor="t">
            <a:spAutoFit/>
          </a:bodyPr>
          <a:p>
            <a:pPr>
              <a:lnSpc>
                <a:spcPct val="160000"/>
              </a:lnSpc>
              <a:tabLst>
                <a:tab pos="0" algn="l"/>
              </a:tabLst>
            </a:pPr>
            <a:r>
              <a:rPr lang="en-US" sz="1800" b="0" u="none" strike="noStrike">
                <a:solidFill>
                  <a:srgbClr val="475569"/>
                </a:solidFill>
                <a:effectLst/>
                <a:uFillTx/>
                <a:latin typeface="Lato"/>
                <a:ea typeface="Lato"/>
              </a:rPr>
              <a:t>Packet loss is an inherent bottleneck in WMNs due to their multi-hop architecture.</a:t>
            </a:r>
            <a:endParaRPr lang="en-US" sz="1800" b="0" u="none" strike="noStrike">
              <a:solidFill>
                <a:srgbClr val="FFFFFF"/>
              </a:solidFill>
              <a:effectLst/>
              <a:uFillTx/>
              <a:latin typeface="Arial"/>
            </a:endParaRPr>
          </a:p>
        </p:txBody>
      </p:sp>
      <p:sp>
        <p:nvSpPr>
          <p:cNvPr id="227" name="Google Shape;275;p3"/>
          <p:cNvSpPr/>
          <p:nvPr/>
        </p:nvSpPr>
        <p:spPr>
          <a:xfrm>
            <a:off x="555840" y="3568680"/>
            <a:ext cx="2900880" cy="1755000"/>
          </a:xfrm>
          <a:prstGeom prst="rect">
            <a:avLst/>
          </a:prstGeom>
          <a:noFill/>
          <a:ln w="0">
            <a:noFill/>
          </a:ln>
        </p:spPr>
        <p:style>
          <a:lnRef idx="0"/>
          <a:fillRef idx="0"/>
          <a:effectRef idx="0"/>
          <a:fontRef idx="minor"/>
        </p:style>
        <p:txBody>
          <a:bodyPr lIns="0" tIns="0" rIns="0" bIns="0" anchor="t">
            <a:spAutoFit/>
          </a:bodyPr>
          <a:p>
            <a:pPr>
              <a:lnSpc>
                <a:spcPct val="160000"/>
              </a:lnSpc>
              <a:tabLst>
                <a:tab pos="0" algn="l"/>
              </a:tabLst>
            </a:pPr>
            <a:r>
              <a:rPr lang="en-US" sz="1800" b="0" u="none" strike="noStrike">
                <a:solidFill>
                  <a:srgbClr val="475569"/>
                </a:solidFill>
                <a:effectLst/>
                <a:uFillTx/>
                <a:latin typeface="Lato"/>
                <a:ea typeface="Lato"/>
              </a:rPr>
              <a:t>When data packets fail to reach their destination, critical transmission failures occur.</a:t>
            </a:r>
            <a:endParaRPr lang="en-US" sz="1800" b="0" u="none" strike="noStrike">
              <a:solidFill>
                <a:srgbClr val="FFFFFF"/>
              </a:solidFill>
              <a:effectLst/>
              <a:uFillTx/>
              <a:latin typeface="Arial"/>
            </a:endParaRPr>
          </a:p>
        </p:txBody>
      </p:sp>
      <p:sp>
        <p:nvSpPr>
          <p:cNvPr id="228" name="Google Shape;276;p3"/>
          <p:cNvSpPr/>
          <p:nvPr/>
        </p:nvSpPr>
        <p:spPr>
          <a:xfrm>
            <a:off x="4370400" y="1654920"/>
            <a:ext cx="3045960" cy="30456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000" b="0" u="none" strike="noStrike">
                <a:solidFill>
                  <a:srgbClr val="1E2B58"/>
                </a:solidFill>
                <a:effectLst/>
                <a:uFillTx/>
                <a:latin typeface="Poppins SemiBold"/>
                <a:ea typeface="Poppins SemiBold"/>
              </a:rPr>
              <a:t>Existing Limitations</a:t>
            </a:r>
            <a:endParaRPr lang="en-US" sz="2000" b="0" u="none" strike="noStrike">
              <a:solidFill>
                <a:srgbClr val="FFFFFF"/>
              </a:solidFill>
              <a:effectLst/>
              <a:uFillTx/>
              <a:latin typeface="Arial"/>
            </a:endParaRPr>
          </a:p>
        </p:txBody>
      </p:sp>
      <p:sp>
        <p:nvSpPr>
          <p:cNvPr id="229" name="Google Shape;277;p3"/>
          <p:cNvSpPr/>
          <p:nvPr/>
        </p:nvSpPr>
        <p:spPr>
          <a:xfrm>
            <a:off x="4442760" y="1959840"/>
            <a:ext cx="2900880" cy="1559160"/>
          </a:xfrm>
          <a:prstGeom prst="rect">
            <a:avLst/>
          </a:prstGeom>
          <a:noFill/>
          <a:ln w="0">
            <a:noFill/>
          </a:ln>
        </p:spPr>
        <p:style>
          <a:lnRef idx="0"/>
          <a:fillRef idx="0"/>
          <a:effectRef idx="0"/>
          <a:fontRef idx="minor"/>
        </p:style>
        <p:txBody>
          <a:bodyPr lIns="0" tIns="0" rIns="0" bIns="0" anchor="t">
            <a:spAutoFit/>
          </a:bodyPr>
          <a:p>
            <a:pPr>
              <a:lnSpc>
                <a:spcPct val="160000"/>
              </a:lnSpc>
              <a:tabLst>
                <a:tab pos="0" algn="l"/>
              </a:tabLst>
            </a:pPr>
            <a:r>
              <a:rPr lang="en-US" sz="1600" b="0" u="none" strike="noStrike">
                <a:solidFill>
                  <a:srgbClr val="475569"/>
                </a:solidFill>
                <a:effectLst/>
                <a:uFillTx/>
                <a:latin typeface="Lato"/>
                <a:ea typeface="Lato"/>
              </a:rPr>
              <a:t>Current mitigation measures are static in highly dynamic, non-stationary WMN environments [6].</a:t>
            </a:r>
            <a:endParaRPr lang="en-US" sz="1600" b="0" u="none" strike="noStrike">
              <a:solidFill>
                <a:srgbClr val="FFFFFF"/>
              </a:solidFill>
              <a:effectLst/>
              <a:uFillTx/>
              <a:latin typeface="Arial"/>
            </a:endParaRPr>
          </a:p>
        </p:txBody>
      </p:sp>
      <p:sp>
        <p:nvSpPr>
          <p:cNvPr id="230" name="Google Shape;278;p3"/>
          <p:cNvSpPr/>
          <p:nvPr/>
        </p:nvSpPr>
        <p:spPr>
          <a:xfrm>
            <a:off x="4427280" y="3429360"/>
            <a:ext cx="2900880" cy="1949040"/>
          </a:xfrm>
          <a:prstGeom prst="rect">
            <a:avLst/>
          </a:prstGeom>
          <a:noFill/>
          <a:ln w="0">
            <a:noFill/>
          </a:ln>
        </p:spPr>
        <p:style>
          <a:lnRef idx="0"/>
          <a:fillRef idx="0"/>
          <a:effectRef idx="0"/>
          <a:fontRef idx="minor"/>
        </p:style>
        <p:txBody>
          <a:bodyPr lIns="0" tIns="0" rIns="0" bIns="0" anchor="t">
            <a:spAutoFit/>
          </a:bodyPr>
          <a:p>
            <a:pPr>
              <a:lnSpc>
                <a:spcPct val="160000"/>
              </a:lnSpc>
              <a:tabLst>
                <a:tab pos="0" algn="l"/>
              </a:tabLst>
            </a:pPr>
            <a:r>
              <a:rPr lang="en-US" sz="1600" b="0" u="none" strike="noStrike">
                <a:solidFill>
                  <a:srgbClr val="475569"/>
                </a:solidFill>
                <a:effectLst/>
                <a:uFillTx/>
                <a:latin typeface="Lato"/>
                <a:ea typeface="Lato"/>
              </a:rPr>
              <a:t>Alternative reactive or proactive approaches introduce high overhead or computational complexity [7], straining limited hardware [5].</a:t>
            </a:r>
            <a:endParaRPr lang="en-US" sz="1600" b="0" u="none" strike="noStrike">
              <a:solidFill>
                <a:srgbClr val="FFFFFF"/>
              </a:solidFill>
              <a:effectLst/>
              <a:uFillTx/>
              <a:latin typeface="Arial"/>
            </a:endParaRPr>
          </a:p>
        </p:txBody>
      </p:sp>
      <p:sp>
        <p:nvSpPr>
          <p:cNvPr id="231" name="Google Shape;279;p3"/>
          <p:cNvSpPr/>
          <p:nvPr/>
        </p:nvSpPr>
        <p:spPr>
          <a:xfrm>
            <a:off x="8221320" y="1654920"/>
            <a:ext cx="3045960" cy="3034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000" b="0" u="none" strike="noStrike">
                <a:solidFill>
                  <a:srgbClr val="1E2B58"/>
                </a:solidFill>
                <a:effectLst/>
                <a:uFillTx/>
                <a:latin typeface="Poppins SemiBold"/>
                <a:ea typeface="Poppins SemiBold"/>
              </a:rPr>
              <a:t>Research Focus</a:t>
            </a:r>
            <a:endParaRPr lang="en-US" sz="2000" b="0" u="none" strike="noStrike">
              <a:solidFill>
                <a:srgbClr val="FFFFFF"/>
              </a:solidFill>
              <a:effectLst/>
              <a:uFillTx/>
              <a:latin typeface="Arial"/>
            </a:endParaRPr>
          </a:p>
        </p:txBody>
      </p:sp>
      <p:sp>
        <p:nvSpPr>
          <p:cNvPr id="232" name="Google Shape;280;p3"/>
          <p:cNvSpPr/>
          <p:nvPr/>
        </p:nvSpPr>
        <p:spPr>
          <a:xfrm>
            <a:off x="8221320" y="1959120"/>
            <a:ext cx="2900880" cy="1169280"/>
          </a:xfrm>
          <a:prstGeom prst="rect">
            <a:avLst/>
          </a:prstGeom>
          <a:noFill/>
          <a:ln w="0">
            <a:noFill/>
          </a:ln>
        </p:spPr>
        <p:style>
          <a:lnRef idx="0"/>
          <a:fillRef idx="0"/>
          <a:effectRef idx="0"/>
          <a:fontRef idx="minor"/>
        </p:style>
        <p:txBody>
          <a:bodyPr lIns="0" tIns="0" rIns="0" bIns="0" anchor="t">
            <a:spAutoFit/>
          </a:bodyPr>
          <a:p>
            <a:pPr>
              <a:lnSpc>
                <a:spcPct val="160000"/>
              </a:lnSpc>
              <a:tabLst>
                <a:tab pos="0" algn="l"/>
              </a:tabLst>
            </a:pPr>
            <a:r>
              <a:rPr lang="en-US" sz="1600" b="0" u="none" strike="noStrike">
                <a:solidFill>
                  <a:srgbClr val="475569"/>
                </a:solidFill>
                <a:effectLst/>
                <a:uFillTx/>
                <a:latin typeface="Lato"/>
                <a:ea typeface="Lato"/>
              </a:rPr>
              <a:t>This study designs a model to predict network packet loss before it degrades performance.</a:t>
            </a:r>
            <a:endParaRPr lang="en-US" sz="1600" b="0" u="none" strike="noStrike">
              <a:solidFill>
                <a:srgbClr val="FFFFFF"/>
              </a:solidFill>
              <a:effectLst/>
              <a:uFillTx/>
              <a:latin typeface="Arial"/>
            </a:endParaRPr>
          </a:p>
        </p:txBody>
      </p:sp>
      <p:sp>
        <p:nvSpPr>
          <p:cNvPr id="233" name="Google Shape;281;p3"/>
          <p:cNvSpPr/>
          <p:nvPr/>
        </p:nvSpPr>
        <p:spPr>
          <a:xfrm>
            <a:off x="8221320" y="3308760"/>
            <a:ext cx="2900880" cy="1559160"/>
          </a:xfrm>
          <a:prstGeom prst="rect">
            <a:avLst/>
          </a:prstGeom>
          <a:noFill/>
          <a:ln w="0">
            <a:noFill/>
          </a:ln>
        </p:spPr>
        <p:style>
          <a:lnRef idx="0"/>
          <a:fillRef idx="0"/>
          <a:effectRef idx="0"/>
          <a:fontRef idx="minor"/>
        </p:style>
        <p:txBody>
          <a:bodyPr lIns="0" tIns="0" rIns="0" bIns="0" anchor="t">
            <a:spAutoFit/>
          </a:bodyPr>
          <a:p>
            <a:pPr>
              <a:lnSpc>
                <a:spcPct val="160000"/>
              </a:lnSpc>
              <a:tabLst>
                <a:tab pos="0" algn="l"/>
              </a:tabLst>
            </a:pPr>
            <a:r>
              <a:rPr lang="en-US" sz="1600" b="0" u="none" strike="noStrike">
                <a:solidFill>
                  <a:srgbClr val="475569"/>
                </a:solidFill>
                <a:effectLst/>
                <a:uFillTx/>
                <a:latin typeface="Lato"/>
                <a:ea typeface="Lato"/>
              </a:rPr>
              <a:t>We propose, a non-stationary, lightweight time-series model optimized for resource-constrained mesh hardware.</a:t>
            </a:r>
            <a:endParaRPr lang="en-US"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Google Shape;286;g3fb623e806a_0_138"/>
          <p:cNvSpPr/>
          <p:nvPr/>
        </p:nvSpPr>
        <p:spPr>
          <a:xfrm>
            <a:off x="4038480" y="2334600"/>
            <a:ext cx="3305520" cy="3183480"/>
          </a:xfrm>
          <a:prstGeom prst="ellipse">
            <a:avLst/>
          </a:prstGeom>
          <a:blipFill rotWithShape="0">
            <a:blip r:embed="rId1"/>
            <a:srcRect/>
            <a:stretch/>
          </a:blipFill>
          <a:ln w="0">
            <a:noFill/>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235" name="Google Shape;287;g3fb623e806a_0_138"/>
          <p:cNvSpPr/>
          <p:nvPr/>
        </p:nvSpPr>
        <p:spPr>
          <a:xfrm>
            <a:off x="0" y="0"/>
            <a:ext cx="12188520" cy="6173280"/>
          </a:xfrm>
          <a:prstGeom prst="rect">
            <a:avLst/>
          </a:prstGeom>
          <a:solidFill>
            <a:srgbClr val="FFFFCC">
              <a:alpha val="86000"/>
            </a:srgbClr>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236" name="Google Shape;288;g3fb623e806a_0_138"/>
          <p:cNvSpPr/>
          <p:nvPr/>
        </p:nvSpPr>
        <p:spPr>
          <a:xfrm>
            <a:off x="0" y="0"/>
            <a:ext cx="9140400" cy="18216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sp>
        <p:nvSpPr>
          <p:cNvPr id="237" name="Google Shape;289;g3fb623e806a_0_138"/>
          <p:cNvSpPr/>
          <p:nvPr/>
        </p:nvSpPr>
        <p:spPr>
          <a:xfrm>
            <a:off x="9144000" y="0"/>
            <a:ext cx="3044520" cy="182160"/>
          </a:xfrm>
          <a:prstGeom prst="rect">
            <a:avLst/>
          </a:prstGeom>
          <a:solidFill>
            <a:schemeClr val="accent4"/>
          </a:solidFill>
          <a:ln w="12700">
            <a:solidFill>
              <a:srgbClr val="FFC000"/>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238" name="Google Shape;290;g3fb623e806a_0_138"/>
          <p:cNvSpPr/>
          <p:nvPr/>
        </p:nvSpPr>
        <p:spPr>
          <a:xfrm>
            <a:off x="0" y="6176880"/>
            <a:ext cx="12188520" cy="67752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pic>
        <p:nvPicPr>
          <p:cNvPr id="239" name="Google Shape;291;g3fb623e806a_0_138"/>
          <p:cNvPicPr/>
          <p:nvPr/>
        </p:nvPicPr>
        <p:blipFill>
          <a:blip r:embed="rId2"/>
          <a:stretch/>
        </p:blipFill>
        <p:spPr>
          <a:xfrm>
            <a:off x="8210520" y="6176880"/>
            <a:ext cx="3978000" cy="681480"/>
          </a:xfrm>
          <a:prstGeom prst="rect">
            <a:avLst/>
          </a:prstGeom>
          <a:noFill/>
          <a:ln w="0">
            <a:noFill/>
          </a:ln>
        </p:spPr>
      </p:pic>
      <p:grpSp>
        <p:nvGrpSpPr>
          <p:cNvPr id="240" name="Google Shape;292;g3fb623e806a_0_138"/>
          <p:cNvGrpSpPr/>
          <p:nvPr/>
        </p:nvGrpSpPr>
        <p:grpSpPr>
          <a:xfrm>
            <a:off x="0" y="240840"/>
            <a:ext cx="12191040" cy="666000"/>
            <a:chOff x="0" y="240840"/>
            <a:chExt cx="12191040" cy="666000"/>
          </a:xfrm>
        </p:grpSpPr>
        <p:sp>
          <p:nvSpPr>
            <p:cNvPr id="241" name="Google Shape;293;g3fb623e806a_0_138"/>
            <p:cNvSpPr/>
            <p:nvPr/>
          </p:nvSpPr>
          <p:spPr>
            <a:xfrm>
              <a:off x="0" y="240840"/>
              <a:ext cx="12191040" cy="666000"/>
            </a:xfrm>
            <a:prstGeom prst="rect">
              <a:avLst/>
            </a:prstGeom>
            <a:no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242" name="Google Shape;294;g3fb623e806a_0_138"/>
            <p:cNvSpPr/>
            <p:nvPr/>
          </p:nvSpPr>
          <p:spPr>
            <a:xfrm>
              <a:off x="0" y="240840"/>
              <a:ext cx="12191040" cy="66600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3800" b="1" u="none" strike="noStrike">
                  <a:solidFill>
                    <a:srgbClr val="002060"/>
                  </a:solidFill>
                  <a:effectLst/>
                  <a:uFillTx/>
                  <a:latin typeface="Calibri"/>
                  <a:ea typeface="Calibri"/>
                </a:rPr>
                <a:t>RESEARCH OBJECTIVES</a:t>
              </a:r>
              <a:endParaRPr lang="en-US" sz="3800" b="0" u="none" strike="noStrike">
                <a:solidFill>
                  <a:srgbClr val="FFFFFF"/>
                </a:solidFill>
                <a:effectLst/>
                <a:uFillTx/>
                <a:latin typeface="Arial"/>
              </a:endParaRPr>
            </a:p>
          </p:txBody>
        </p:sp>
      </p:grpSp>
      <p:sp>
        <p:nvSpPr>
          <p:cNvPr id="243" name="Google Shape;295;g3fb623e806a_0_138"/>
          <p:cNvSpPr/>
          <p:nvPr/>
        </p:nvSpPr>
        <p:spPr>
          <a:xfrm>
            <a:off x="571680" y="6176880"/>
            <a:ext cx="951480" cy="6775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FFFFFF"/>
                </a:solidFill>
                <a:effectLst/>
                <a:uFillTx/>
                <a:latin typeface="Calibri"/>
                <a:ea typeface="Calibri"/>
              </a:rPr>
              <a:t>Page 4</a:t>
            </a:r>
            <a:endParaRPr lang="en-US" sz="1400" b="0" u="none" strike="noStrike">
              <a:solidFill>
                <a:srgbClr val="FFFFFF"/>
              </a:solidFill>
              <a:effectLst/>
              <a:uFillTx/>
              <a:latin typeface="Arial"/>
            </a:endParaRPr>
          </a:p>
        </p:txBody>
      </p:sp>
      <p:pic>
        <p:nvPicPr>
          <p:cNvPr id="244" name="Google Shape;296;g3fb623e806a_0_138" descr="image.png"/>
          <p:cNvPicPr/>
          <p:nvPr/>
        </p:nvPicPr>
        <p:blipFill>
          <a:blip r:embed="rId3"/>
          <a:stretch/>
        </p:blipFill>
        <p:spPr>
          <a:xfrm>
            <a:off x="609840" y="1291320"/>
            <a:ext cx="11048040" cy="1103040"/>
          </a:xfrm>
          <a:prstGeom prst="rect">
            <a:avLst/>
          </a:prstGeom>
          <a:noFill/>
          <a:ln w="0">
            <a:noFill/>
          </a:ln>
        </p:spPr>
      </p:pic>
      <p:pic>
        <p:nvPicPr>
          <p:cNvPr id="245" name="Google Shape;297;g3fb623e806a_0_138" descr="image.png"/>
          <p:cNvPicPr/>
          <p:nvPr/>
        </p:nvPicPr>
        <p:blipFill>
          <a:blip r:embed="rId4"/>
          <a:stretch/>
        </p:blipFill>
        <p:spPr>
          <a:xfrm>
            <a:off x="571680" y="2778840"/>
            <a:ext cx="2618280" cy="2575800"/>
          </a:xfrm>
          <a:prstGeom prst="rect">
            <a:avLst/>
          </a:prstGeom>
          <a:noFill/>
          <a:ln w="0">
            <a:noFill/>
          </a:ln>
        </p:spPr>
      </p:pic>
      <p:pic>
        <p:nvPicPr>
          <p:cNvPr id="246" name="Google Shape;298;g3fb623e806a_0_138" descr="image.png"/>
          <p:cNvPicPr/>
          <p:nvPr/>
        </p:nvPicPr>
        <p:blipFill>
          <a:blip r:embed="rId5"/>
          <a:stretch/>
        </p:blipFill>
        <p:spPr>
          <a:xfrm>
            <a:off x="3381480" y="2778840"/>
            <a:ext cx="2618280" cy="2575800"/>
          </a:xfrm>
          <a:prstGeom prst="rect">
            <a:avLst/>
          </a:prstGeom>
          <a:noFill/>
          <a:ln w="0">
            <a:noFill/>
          </a:ln>
        </p:spPr>
      </p:pic>
      <p:pic>
        <p:nvPicPr>
          <p:cNvPr id="247" name="Google Shape;299;g3fb623e806a_0_138" descr="image.png"/>
          <p:cNvPicPr/>
          <p:nvPr/>
        </p:nvPicPr>
        <p:blipFill>
          <a:blip r:embed="rId6"/>
          <a:stretch/>
        </p:blipFill>
        <p:spPr>
          <a:xfrm>
            <a:off x="6191280" y="2837160"/>
            <a:ext cx="2618280" cy="2517480"/>
          </a:xfrm>
          <a:prstGeom prst="rect">
            <a:avLst/>
          </a:prstGeom>
          <a:noFill/>
          <a:ln w="0">
            <a:noFill/>
          </a:ln>
        </p:spPr>
      </p:pic>
      <p:pic>
        <p:nvPicPr>
          <p:cNvPr id="248" name="Google Shape;300;g3fb623e806a_0_138" descr="image.png"/>
          <p:cNvPicPr/>
          <p:nvPr/>
        </p:nvPicPr>
        <p:blipFill>
          <a:blip r:embed="rId7"/>
          <a:stretch/>
        </p:blipFill>
        <p:spPr>
          <a:xfrm>
            <a:off x="8898840" y="2837160"/>
            <a:ext cx="2720520" cy="2517480"/>
          </a:xfrm>
          <a:prstGeom prst="rect">
            <a:avLst/>
          </a:prstGeom>
          <a:noFill/>
          <a:ln w="0">
            <a:noFill/>
          </a:ln>
        </p:spPr>
      </p:pic>
      <p:pic>
        <p:nvPicPr>
          <p:cNvPr id="249" name="Google Shape;301;g3fb623e806a_0_138" descr="image.png"/>
          <p:cNvPicPr/>
          <p:nvPr/>
        </p:nvPicPr>
        <p:blipFill>
          <a:blip r:embed="rId8"/>
          <a:stretch/>
        </p:blipFill>
        <p:spPr>
          <a:xfrm>
            <a:off x="1523880" y="2898000"/>
            <a:ext cx="456120" cy="376920"/>
          </a:xfrm>
          <a:prstGeom prst="rect">
            <a:avLst/>
          </a:prstGeom>
          <a:noFill/>
          <a:ln w="0">
            <a:noFill/>
          </a:ln>
        </p:spPr>
      </p:pic>
      <p:pic>
        <p:nvPicPr>
          <p:cNvPr id="250" name="Google Shape;302;g3fb623e806a_0_138" descr="image.png"/>
          <p:cNvPicPr/>
          <p:nvPr/>
        </p:nvPicPr>
        <p:blipFill>
          <a:blip r:embed="rId9"/>
          <a:stretch/>
        </p:blipFill>
        <p:spPr>
          <a:xfrm>
            <a:off x="4462560" y="2898000"/>
            <a:ext cx="456120" cy="376920"/>
          </a:xfrm>
          <a:prstGeom prst="rect">
            <a:avLst/>
          </a:prstGeom>
          <a:noFill/>
          <a:ln w="0">
            <a:noFill/>
          </a:ln>
        </p:spPr>
      </p:pic>
      <p:pic>
        <p:nvPicPr>
          <p:cNvPr id="251" name="Google Shape;303;g3fb623e806a_0_138" descr="image.png"/>
          <p:cNvPicPr/>
          <p:nvPr/>
        </p:nvPicPr>
        <p:blipFill>
          <a:blip r:embed="rId10"/>
          <a:stretch/>
        </p:blipFill>
        <p:spPr>
          <a:xfrm>
            <a:off x="7272360" y="2898000"/>
            <a:ext cx="456120" cy="376920"/>
          </a:xfrm>
          <a:prstGeom prst="rect">
            <a:avLst/>
          </a:prstGeom>
          <a:noFill/>
          <a:ln w="0">
            <a:noFill/>
          </a:ln>
        </p:spPr>
      </p:pic>
      <p:pic>
        <p:nvPicPr>
          <p:cNvPr id="252" name="Google Shape;304;g3fb623e806a_0_138" descr="image.png"/>
          <p:cNvPicPr/>
          <p:nvPr/>
        </p:nvPicPr>
        <p:blipFill>
          <a:blip r:embed="rId11"/>
          <a:stretch/>
        </p:blipFill>
        <p:spPr>
          <a:xfrm>
            <a:off x="10082160" y="2878200"/>
            <a:ext cx="456120" cy="376920"/>
          </a:xfrm>
          <a:prstGeom prst="rect">
            <a:avLst/>
          </a:prstGeom>
          <a:noFill/>
          <a:ln w="0">
            <a:noFill/>
          </a:ln>
        </p:spPr>
      </p:pic>
      <p:sp>
        <p:nvSpPr>
          <p:cNvPr id="253" name="Google Shape;305;g3fb623e806a_0_138"/>
          <p:cNvSpPr/>
          <p:nvPr/>
        </p:nvSpPr>
        <p:spPr>
          <a:xfrm>
            <a:off x="673560" y="1482480"/>
            <a:ext cx="10920600" cy="30348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2000" b="0" u="none" strike="noStrike">
                <a:solidFill>
                  <a:srgbClr val="F2A900"/>
                </a:solidFill>
                <a:effectLst/>
                <a:uFillTx/>
                <a:latin typeface="Poppins SemiBold"/>
                <a:ea typeface="Poppins SemiBold"/>
              </a:rPr>
              <a:t>General Objective</a:t>
            </a:r>
            <a:endParaRPr lang="en-US" sz="2000" b="0" u="none" strike="noStrike">
              <a:solidFill>
                <a:srgbClr val="FFFFFF"/>
              </a:solidFill>
              <a:effectLst/>
              <a:uFillTx/>
              <a:latin typeface="Arial"/>
            </a:endParaRPr>
          </a:p>
        </p:txBody>
      </p:sp>
      <p:sp>
        <p:nvSpPr>
          <p:cNvPr id="254" name="Google Shape;306;g3fb623e806a_0_138"/>
          <p:cNvSpPr/>
          <p:nvPr/>
        </p:nvSpPr>
        <p:spPr>
          <a:xfrm>
            <a:off x="933480" y="1920240"/>
            <a:ext cx="10400400" cy="438480"/>
          </a:xfrm>
          <a:prstGeom prst="rect">
            <a:avLst/>
          </a:prstGeom>
          <a:noFill/>
          <a:ln w="0">
            <a:noFill/>
          </a:ln>
        </p:spPr>
        <p:style>
          <a:lnRef idx="0"/>
          <a:fillRef idx="0"/>
          <a:effectRef idx="0"/>
          <a:fontRef idx="minor"/>
        </p:style>
        <p:txBody>
          <a:bodyPr lIns="0" tIns="0" rIns="0" bIns="0" anchor="t">
            <a:spAutoFit/>
          </a:bodyPr>
          <a:p>
            <a:pPr algn="ctr">
              <a:lnSpc>
                <a:spcPct val="160000"/>
              </a:lnSpc>
              <a:tabLst>
                <a:tab pos="0" algn="l"/>
              </a:tabLst>
            </a:pPr>
            <a:r>
              <a:rPr lang="en-US" sz="1800" b="0" u="none" strike="noStrike">
                <a:solidFill>
                  <a:srgbClr val="FFFFFF"/>
                </a:solidFill>
                <a:effectLst/>
                <a:uFillTx/>
                <a:latin typeface="Lato"/>
                <a:ea typeface="Lato"/>
              </a:rPr>
              <a:t>To develop and validate a TVAR model for packet loss prediction in WMNs.</a:t>
            </a:r>
            <a:endParaRPr lang="en-US" sz="1800" b="0" u="none" strike="noStrike">
              <a:solidFill>
                <a:srgbClr val="FFFFFF"/>
              </a:solidFill>
              <a:effectLst/>
              <a:uFillTx/>
              <a:latin typeface="Arial"/>
            </a:endParaRPr>
          </a:p>
        </p:txBody>
      </p:sp>
      <p:sp>
        <p:nvSpPr>
          <p:cNvPr id="255" name="Google Shape;307;g3fb623e806a_0_138"/>
          <p:cNvSpPr/>
          <p:nvPr/>
        </p:nvSpPr>
        <p:spPr>
          <a:xfrm>
            <a:off x="771480" y="3312000"/>
            <a:ext cx="2329200" cy="27396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1800" b="0" u="none" strike="noStrike">
                <a:solidFill>
                  <a:srgbClr val="1E2B58"/>
                </a:solidFill>
                <a:effectLst/>
                <a:uFillTx/>
                <a:latin typeface="Poppins SemiBold"/>
                <a:ea typeface="Poppins SemiBold"/>
              </a:rPr>
              <a:t>Network Design</a:t>
            </a:r>
            <a:endParaRPr lang="en-US" sz="1800" b="0" u="none" strike="noStrike">
              <a:solidFill>
                <a:srgbClr val="FFFFFF"/>
              </a:solidFill>
              <a:effectLst/>
              <a:uFillTx/>
              <a:latin typeface="Arial"/>
            </a:endParaRPr>
          </a:p>
        </p:txBody>
      </p:sp>
      <p:sp>
        <p:nvSpPr>
          <p:cNvPr id="256" name="Google Shape;308;g3fb623e806a_0_138"/>
          <p:cNvSpPr/>
          <p:nvPr/>
        </p:nvSpPr>
        <p:spPr>
          <a:xfrm>
            <a:off x="826920" y="3778920"/>
            <a:ext cx="2218320" cy="1169280"/>
          </a:xfrm>
          <a:prstGeom prst="rect">
            <a:avLst/>
          </a:prstGeom>
          <a:noFill/>
          <a:ln w="0">
            <a:noFill/>
          </a:ln>
        </p:spPr>
        <p:style>
          <a:lnRef idx="0"/>
          <a:fillRef idx="0"/>
          <a:effectRef idx="0"/>
          <a:fontRef idx="minor"/>
        </p:style>
        <p:txBody>
          <a:bodyPr lIns="0" tIns="0" rIns="0" bIns="0" anchor="t">
            <a:spAutoFit/>
          </a:bodyPr>
          <a:p>
            <a:pPr algn="ctr">
              <a:lnSpc>
                <a:spcPct val="160000"/>
              </a:lnSpc>
              <a:tabLst>
                <a:tab pos="0" algn="l"/>
              </a:tabLst>
            </a:pPr>
            <a:r>
              <a:rPr lang="en-US" sz="1600" b="0" u="none" strike="noStrike">
                <a:solidFill>
                  <a:srgbClr val="475569"/>
                </a:solidFill>
                <a:effectLst/>
                <a:uFillTx/>
                <a:latin typeface="Lato"/>
                <a:ea typeface="Lato"/>
              </a:rPr>
              <a:t>To design a 10 node WMN in NS-3 network simulator.</a:t>
            </a:r>
            <a:endParaRPr lang="en-US" sz="1600" b="0" u="none" strike="noStrike">
              <a:solidFill>
                <a:srgbClr val="FFFFFF"/>
              </a:solidFill>
              <a:effectLst/>
              <a:uFillTx/>
              <a:latin typeface="Arial"/>
            </a:endParaRPr>
          </a:p>
        </p:txBody>
      </p:sp>
      <p:sp>
        <p:nvSpPr>
          <p:cNvPr id="257" name="Google Shape;309;g3fb623e806a_0_138"/>
          <p:cNvSpPr/>
          <p:nvPr/>
        </p:nvSpPr>
        <p:spPr>
          <a:xfrm>
            <a:off x="3670200" y="3312000"/>
            <a:ext cx="2329200" cy="27396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1800" b="0" u="none" strike="noStrike">
                <a:solidFill>
                  <a:srgbClr val="1E2B58"/>
                </a:solidFill>
                <a:effectLst/>
                <a:uFillTx/>
                <a:latin typeface="Poppins SemiBold"/>
                <a:ea typeface="Poppins SemiBold"/>
              </a:rPr>
              <a:t>Traffic Simulation</a:t>
            </a:r>
            <a:endParaRPr lang="en-US" sz="1800" b="0" u="none" strike="noStrike">
              <a:solidFill>
                <a:srgbClr val="FFFFFF"/>
              </a:solidFill>
              <a:effectLst/>
              <a:uFillTx/>
              <a:latin typeface="Arial"/>
            </a:endParaRPr>
          </a:p>
        </p:txBody>
      </p:sp>
      <p:sp>
        <p:nvSpPr>
          <p:cNvPr id="258" name="Google Shape;310;g3fb623e806a_0_138"/>
          <p:cNvSpPr/>
          <p:nvPr/>
        </p:nvSpPr>
        <p:spPr>
          <a:xfrm>
            <a:off x="3581280" y="3778920"/>
            <a:ext cx="2218320" cy="1316160"/>
          </a:xfrm>
          <a:prstGeom prst="rect">
            <a:avLst/>
          </a:prstGeom>
          <a:noFill/>
          <a:ln w="0">
            <a:noFill/>
          </a:ln>
        </p:spPr>
        <p:style>
          <a:lnRef idx="0"/>
          <a:fillRef idx="0"/>
          <a:effectRef idx="0"/>
          <a:fontRef idx="minor"/>
        </p:style>
        <p:txBody>
          <a:bodyPr lIns="0" tIns="0" rIns="0" bIns="0" anchor="t">
            <a:spAutoFit/>
          </a:bodyPr>
          <a:p>
            <a:pPr algn="ctr">
              <a:lnSpc>
                <a:spcPct val="160000"/>
              </a:lnSpc>
              <a:tabLst>
                <a:tab pos="0" algn="l"/>
              </a:tabLst>
            </a:pPr>
            <a:r>
              <a:rPr lang="en-US" sz="1800" b="0" u="none" strike="noStrike">
                <a:solidFill>
                  <a:srgbClr val="475569"/>
                </a:solidFill>
                <a:effectLst/>
                <a:uFillTx/>
                <a:latin typeface="Lato"/>
                <a:ea typeface="Lato"/>
              </a:rPr>
              <a:t>To simulate the designed WMN to generate traffic.</a:t>
            </a:r>
            <a:endParaRPr lang="en-US" sz="1800" b="0" u="none" strike="noStrike">
              <a:solidFill>
                <a:srgbClr val="FFFFFF"/>
              </a:solidFill>
              <a:effectLst/>
              <a:uFillTx/>
              <a:latin typeface="Arial"/>
            </a:endParaRPr>
          </a:p>
        </p:txBody>
      </p:sp>
      <p:sp>
        <p:nvSpPr>
          <p:cNvPr id="259" name="Google Shape;311;g3fb623e806a_0_138"/>
          <p:cNvSpPr/>
          <p:nvPr/>
        </p:nvSpPr>
        <p:spPr>
          <a:xfrm>
            <a:off x="6391440" y="3312000"/>
            <a:ext cx="2329200" cy="27396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1800" b="0" u="none" strike="noStrike">
                <a:solidFill>
                  <a:srgbClr val="1E2B58"/>
                </a:solidFill>
                <a:effectLst/>
                <a:uFillTx/>
                <a:latin typeface="Poppins SemiBold"/>
                <a:ea typeface="Poppins SemiBold"/>
              </a:rPr>
              <a:t>Model Dev</a:t>
            </a:r>
            <a:endParaRPr lang="en-US" sz="1800" b="0" u="none" strike="noStrike">
              <a:solidFill>
                <a:srgbClr val="FFFFFF"/>
              </a:solidFill>
              <a:effectLst/>
              <a:uFillTx/>
              <a:latin typeface="Arial"/>
            </a:endParaRPr>
          </a:p>
        </p:txBody>
      </p:sp>
      <p:sp>
        <p:nvSpPr>
          <p:cNvPr id="260" name="Google Shape;312;g3fb623e806a_0_138"/>
          <p:cNvSpPr/>
          <p:nvPr/>
        </p:nvSpPr>
        <p:spPr>
          <a:xfrm>
            <a:off x="6391080" y="3778920"/>
            <a:ext cx="2218320" cy="1316160"/>
          </a:xfrm>
          <a:prstGeom prst="rect">
            <a:avLst/>
          </a:prstGeom>
          <a:noFill/>
          <a:ln w="0">
            <a:noFill/>
          </a:ln>
        </p:spPr>
        <p:style>
          <a:lnRef idx="0"/>
          <a:fillRef idx="0"/>
          <a:effectRef idx="0"/>
          <a:fontRef idx="minor"/>
        </p:style>
        <p:txBody>
          <a:bodyPr lIns="0" tIns="0" rIns="0" bIns="0" anchor="t">
            <a:spAutoFit/>
          </a:bodyPr>
          <a:p>
            <a:pPr algn="ctr">
              <a:lnSpc>
                <a:spcPct val="160000"/>
              </a:lnSpc>
              <a:tabLst>
                <a:tab pos="0" algn="l"/>
              </a:tabLst>
            </a:pPr>
            <a:r>
              <a:rPr lang="en-US" sz="1800" b="0" u="none" strike="noStrike">
                <a:solidFill>
                  <a:srgbClr val="475569"/>
                </a:solidFill>
                <a:effectLst/>
                <a:uFillTx/>
                <a:latin typeface="Lato"/>
                <a:ea typeface="Lato"/>
              </a:rPr>
              <a:t>To develop TVAR model using generated traffic.</a:t>
            </a:r>
            <a:endParaRPr lang="en-US" sz="1800" b="0" u="none" strike="noStrike">
              <a:solidFill>
                <a:srgbClr val="FFFFFF"/>
              </a:solidFill>
              <a:effectLst/>
              <a:uFillTx/>
              <a:latin typeface="Arial"/>
            </a:endParaRPr>
          </a:p>
        </p:txBody>
      </p:sp>
      <p:sp>
        <p:nvSpPr>
          <p:cNvPr id="261" name="Google Shape;313;g3fb623e806a_0_138"/>
          <p:cNvSpPr/>
          <p:nvPr/>
        </p:nvSpPr>
        <p:spPr>
          <a:xfrm>
            <a:off x="9201240" y="3312000"/>
            <a:ext cx="2329200" cy="273960"/>
          </a:xfrm>
          <a:prstGeom prst="rect">
            <a:avLst/>
          </a:prstGeom>
          <a:noFill/>
          <a:ln w="0">
            <a:noFill/>
          </a:ln>
        </p:spPr>
        <p:style>
          <a:lnRef idx="0"/>
          <a:fillRef idx="0"/>
          <a:effectRef idx="0"/>
          <a:fontRef idx="minor"/>
        </p:style>
        <p:txBody>
          <a:bodyPr lIns="0" tIns="0" rIns="0" bIns="0" anchor="t">
            <a:spAutoFit/>
          </a:bodyPr>
          <a:p>
            <a:pPr algn="ctr">
              <a:lnSpc>
                <a:spcPct val="100000"/>
              </a:lnSpc>
              <a:tabLst>
                <a:tab pos="0" algn="l"/>
              </a:tabLst>
            </a:pPr>
            <a:r>
              <a:rPr lang="en-US" sz="1800" b="0" u="none" strike="noStrike">
                <a:solidFill>
                  <a:srgbClr val="1E2B58"/>
                </a:solidFill>
                <a:effectLst/>
                <a:uFillTx/>
                <a:latin typeface="Poppins SemiBold"/>
                <a:ea typeface="Poppins SemiBold"/>
              </a:rPr>
              <a:t>Evaluating</a:t>
            </a:r>
            <a:endParaRPr lang="en-US" sz="1800" b="0" u="none" strike="noStrike">
              <a:solidFill>
                <a:srgbClr val="FFFFFF"/>
              </a:solidFill>
              <a:effectLst/>
              <a:uFillTx/>
              <a:latin typeface="Arial"/>
            </a:endParaRPr>
          </a:p>
        </p:txBody>
      </p:sp>
      <p:sp>
        <p:nvSpPr>
          <p:cNvPr id="262" name="Google Shape;314;g3fb623e806a_0_138"/>
          <p:cNvSpPr/>
          <p:nvPr/>
        </p:nvSpPr>
        <p:spPr>
          <a:xfrm>
            <a:off x="9201240" y="3739320"/>
            <a:ext cx="2218320" cy="1315440"/>
          </a:xfrm>
          <a:prstGeom prst="rect">
            <a:avLst/>
          </a:prstGeom>
          <a:noFill/>
          <a:ln w="0">
            <a:noFill/>
          </a:ln>
        </p:spPr>
        <p:style>
          <a:lnRef idx="0"/>
          <a:fillRef idx="0"/>
          <a:effectRef idx="0"/>
          <a:fontRef idx="minor"/>
        </p:style>
        <p:txBody>
          <a:bodyPr lIns="0" tIns="0" rIns="0" bIns="0" anchor="t">
            <a:spAutoFit/>
          </a:bodyPr>
          <a:p>
            <a:pPr algn="ctr">
              <a:lnSpc>
                <a:spcPct val="160000"/>
              </a:lnSpc>
              <a:tabLst>
                <a:tab pos="0" algn="l"/>
              </a:tabLst>
            </a:pPr>
            <a:r>
              <a:rPr lang="en-US" sz="1800" b="0" u="none" strike="noStrike">
                <a:solidFill>
                  <a:srgbClr val="475569"/>
                </a:solidFill>
                <a:effectLst/>
                <a:uFillTx/>
                <a:latin typeface="Lato"/>
                <a:ea typeface="Lato"/>
              </a:rPr>
              <a:t>To apply TVAR model to predict packet loss in designed WMN.</a:t>
            </a:r>
            <a:endParaRPr lang="en-US" sz="1800" b="0" u="none" strike="noStrike">
              <a:solidFill>
                <a:srgbClr val="FFFFFF"/>
              </a:solidFill>
              <a:effectLst/>
              <a:uFillTx/>
              <a:latin typeface="Arial"/>
            </a:endParaRPr>
          </a:p>
        </p:txBody>
      </p:sp>
      <p:grpSp>
        <p:nvGrpSpPr>
          <p:cNvPr id="263" name="Google Shape;315;g3fb623e806a_0_138"/>
          <p:cNvGrpSpPr/>
          <p:nvPr/>
        </p:nvGrpSpPr>
        <p:grpSpPr>
          <a:xfrm>
            <a:off x="571680" y="2438280"/>
            <a:ext cx="11048040" cy="303840"/>
            <a:chOff x="571680" y="2438280"/>
            <a:chExt cx="11048040" cy="303840"/>
          </a:xfrm>
        </p:grpSpPr>
        <p:sp>
          <p:nvSpPr>
            <p:cNvPr id="264" name="Google Shape;316;g3fb623e806a_0_138"/>
            <p:cNvSpPr/>
            <p:nvPr/>
          </p:nvSpPr>
          <p:spPr>
            <a:xfrm>
              <a:off x="571680" y="2438280"/>
              <a:ext cx="11048040" cy="303840"/>
            </a:xfrm>
            <a:prstGeom prst="rect">
              <a:avLst/>
            </a:prstGeom>
            <a:no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265" name="Google Shape;317;g3fb623e806a_0_138"/>
            <p:cNvSpPr/>
            <p:nvPr/>
          </p:nvSpPr>
          <p:spPr>
            <a:xfrm>
              <a:off x="571680" y="2438280"/>
              <a:ext cx="11048040" cy="30384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800" b="0" u="none" strike="noStrike">
                  <a:solidFill>
                    <a:srgbClr val="1E2B58"/>
                  </a:solidFill>
                  <a:effectLst/>
                  <a:uFillTx/>
                  <a:latin typeface="Poppins SemiBold"/>
                  <a:ea typeface="Poppins SemiBold"/>
                </a:rPr>
                <a:t>Specific Objectives</a:t>
              </a:r>
              <a:endParaRPr lang="en-US" sz="1800" b="0" u="none" strike="noStrike">
                <a:solidFill>
                  <a:srgbClr val="FFFFFF"/>
                </a:solidFill>
                <a:effectLst/>
                <a:uFillTx/>
                <a:latin typeface="Arial"/>
              </a:endParaRPr>
            </a:p>
          </p:txBody>
        </p:sp>
      </p:gr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Google Shape;322;p5"/>
          <p:cNvSpPr/>
          <p:nvPr/>
        </p:nvSpPr>
        <p:spPr>
          <a:xfrm>
            <a:off x="4038480" y="2334600"/>
            <a:ext cx="3305520" cy="3183480"/>
          </a:xfrm>
          <a:prstGeom prst="ellipse">
            <a:avLst/>
          </a:prstGeom>
          <a:blipFill rotWithShape="0">
            <a:blip r:embed="rId1"/>
            <a:srcRect/>
            <a:stretch/>
          </a:blipFill>
          <a:ln w="0">
            <a:noFill/>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267" name="Google Shape;323;p5"/>
          <p:cNvSpPr/>
          <p:nvPr/>
        </p:nvSpPr>
        <p:spPr>
          <a:xfrm>
            <a:off x="0" y="-78840"/>
            <a:ext cx="12188520" cy="6173280"/>
          </a:xfrm>
          <a:prstGeom prst="rect">
            <a:avLst/>
          </a:prstGeom>
          <a:solidFill>
            <a:srgbClr val="FFFFCC">
              <a:alpha val="86000"/>
            </a:srgbClr>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268" name="Google Shape;324;p5"/>
          <p:cNvSpPr/>
          <p:nvPr/>
        </p:nvSpPr>
        <p:spPr>
          <a:xfrm>
            <a:off x="0" y="0"/>
            <a:ext cx="9140400" cy="18216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sp>
        <p:nvSpPr>
          <p:cNvPr id="269" name="Google Shape;325;p5"/>
          <p:cNvSpPr/>
          <p:nvPr/>
        </p:nvSpPr>
        <p:spPr>
          <a:xfrm>
            <a:off x="9144000" y="0"/>
            <a:ext cx="3044520" cy="182160"/>
          </a:xfrm>
          <a:prstGeom prst="rect">
            <a:avLst/>
          </a:prstGeom>
          <a:solidFill>
            <a:schemeClr val="accent4"/>
          </a:solidFill>
          <a:ln w="12700">
            <a:solidFill>
              <a:srgbClr val="FFC000"/>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270" name="Google Shape;326;p5"/>
          <p:cNvSpPr/>
          <p:nvPr/>
        </p:nvSpPr>
        <p:spPr>
          <a:xfrm>
            <a:off x="0" y="6176880"/>
            <a:ext cx="12188520" cy="67752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pic>
        <p:nvPicPr>
          <p:cNvPr id="271" name="Google Shape;327;p5"/>
          <p:cNvPicPr/>
          <p:nvPr/>
        </p:nvPicPr>
        <p:blipFill>
          <a:blip r:embed="rId2"/>
          <a:stretch/>
        </p:blipFill>
        <p:spPr>
          <a:xfrm>
            <a:off x="8210520" y="6176880"/>
            <a:ext cx="3978000" cy="681480"/>
          </a:xfrm>
          <a:prstGeom prst="rect">
            <a:avLst/>
          </a:prstGeom>
          <a:noFill/>
          <a:ln w="0">
            <a:noFill/>
          </a:ln>
        </p:spPr>
      </p:pic>
      <p:sp>
        <p:nvSpPr>
          <p:cNvPr id="272" name="PlaceHolder 1"/>
          <p:cNvSpPr>
            <a:spLocks noGrp="1"/>
          </p:cNvSpPr>
          <p:nvPr>
            <p:ph type="title"/>
          </p:nvPr>
        </p:nvSpPr>
        <p:spPr>
          <a:xfrm>
            <a:off x="0" y="380880"/>
            <a:ext cx="12191040" cy="666000"/>
          </a:xfrm>
          <a:prstGeom prst="rect">
            <a:avLst/>
          </a:prstGeom>
          <a:noFill/>
          <a:ln w="0">
            <a:noFill/>
          </a:ln>
        </p:spPr>
        <p:txBody>
          <a:bodyPr lIns="0" tIns="0" rIns="0" bIns="0" anchor="ctr">
            <a:noAutofit/>
          </a:bodyPr>
          <a:p>
            <a:pPr indent="0" algn="ctr">
              <a:lnSpc>
                <a:spcPct val="100000"/>
              </a:lnSpc>
              <a:buNone/>
              <a:tabLst>
                <a:tab pos="0" algn="l"/>
              </a:tabLst>
            </a:pPr>
            <a:r>
              <a:rPr lang="en-US" sz="3800" b="1" u="none" strike="noStrike">
                <a:solidFill>
                  <a:srgbClr val="002060"/>
                </a:solidFill>
                <a:effectLst/>
                <a:uFillTx/>
                <a:latin typeface="Calibri"/>
                <a:ea typeface="Calibri"/>
              </a:rPr>
              <a:t>SCOPE &amp; LIMITATIONS</a:t>
            </a:r>
            <a:endParaRPr lang="en-US" sz="3800" b="0" u="none" strike="noStrike">
              <a:solidFill>
                <a:srgbClr val="000000"/>
              </a:solidFill>
              <a:effectLst/>
              <a:uFillTx/>
              <a:latin typeface="Arial"/>
            </a:endParaRPr>
          </a:p>
        </p:txBody>
      </p:sp>
      <p:sp>
        <p:nvSpPr>
          <p:cNvPr id="273" name="Google Shape;329;p5"/>
          <p:cNvSpPr/>
          <p:nvPr/>
        </p:nvSpPr>
        <p:spPr>
          <a:xfrm>
            <a:off x="571680" y="6176880"/>
            <a:ext cx="951480" cy="6775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FFFFFF"/>
                </a:solidFill>
                <a:effectLst/>
                <a:uFillTx/>
                <a:latin typeface="Calibri"/>
                <a:ea typeface="Calibri"/>
              </a:rPr>
              <a:t>Page 6</a:t>
            </a:r>
            <a:endParaRPr lang="en-US" sz="1400" b="0" u="none" strike="noStrike">
              <a:solidFill>
                <a:srgbClr val="FFFFFF"/>
              </a:solidFill>
              <a:effectLst/>
              <a:uFillTx/>
              <a:latin typeface="Arial"/>
            </a:endParaRPr>
          </a:p>
        </p:txBody>
      </p:sp>
      <p:pic>
        <p:nvPicPr>
          <p:cNvPr id="274" name="Google Shape;330;p5" descr="image.png"/>
          <p:cNvPicPr/>
          <p:nvPr/>
        </p:nvPicPr>
        <p:blipFill>
          <a:blip r:embed="rId3"/>
          <a:stretch/>
        </p:blipFill>
        <p:spPr>
          <a:xfrm>
            <a:off x="571680" y="1430640"/>
            <a:ext cx="5285160" cy="4183560"/>
          </a:xfrm>
          <a:prstGeom prst="rect">
            <a:avLst/>
          </a:prstGeom>
          <a:noFill/>
          <a:ln w="0">
            <a:noFill/>
          </a:ln>
        </p:spPr>
      </p:pic>
      <p:pic>
        <p:nvPicPr>
          <p:cNvPr id="275" name="Google Shape;331;p5" descr="image.png"/>
          <p:cNvPicPr/>
          <p:nvPr/>
        </p:nvPicPr>
        <p:blipFill>
          <a:blip r:embed="rId4"/>
          <a:stretch/>
        </p:blipFill>
        <p:spPr>
          <a:xfrm>
            <a:off x="6302880" y="1430640"/>
            <a:ext cx="5285160" cy="4183560"/>
          </a:xfrm>
          <a:prstGeom prst="rect">
            <a:avLst/>
          </a:prstGeom>
          <a:noFill/>
          <a:ln w="0">
            <a:noFill/>
          </a:ln>
        </p:spPr>
      </p:pic>
      <p:pic>
        <p:nvPicPr>
          <p:cNvPr id="276" name="Google Shape;332;p5" descr="image.png"/>
          <p:cNvPicPr/>
          <p:nvPr/>
        </p:nvPicPr>
        <p:blipFill>
          <a:blip r:embed="rId5"/>
          <a:stretch/>
        </p:blipFill>
        <p:spPr>
          <a:xfrm>
            <a:off x="0" y="332280"/>
            <a:ext cx="12191040" cy="67680"/>
          </a:xfrm>
          <a:prstGeom prst="rect">
            <a:avLst/>
          </a:prstGeom>
          <a:noFill/>
          <a:ln w="0">
            <a:noFill/>
          </a:ln>
        </p:spPr>
      </p:pic>
      <p:sp>
        <p:nvSpPr>
          <p:cNvPr id="277" name="Google Shape;333;p5"/>
          <p:cNvSpPr/>
          <p:nvPr/>
        </p:nvSpPr>
        <p:spPr>
          <a:xfrm>
            <a:off x="968400" y="1687680"/>
            <a:ext cx="4729680" cy="3034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000" b="0" u="none" strike="noStrike">
                <a:solidFill>
                  <a:srgbClr val="1E2B58"/>
                </a:solidFill>
                <a:effectLst/>
                <a:uFillTx/>
                <a:latin typeface="Poppins SemiBold"/>
                <a:ea typeface="Poppins SemiBold"/>
              </a:rPr>
              <a:t>Scope</a:t>
            </a:r>
            <a:endParaRPr lang="en-US" sz="2000" b="0" u="none" strike="noStrike">
              <a:solidFill>
                <a:srgbClr val="FFFFFF"/>
              </a:solidFill>
              <a:effectLst/>
              <a:uFillTx/>
              <a:latin typeface="Arial"/>
            </a:endParaRPr>
          </a:p>
        </p:txBody>
      </p:sp>
      <p:sp>
        <p:nvSpPr>
          <p:cNvPr id="278" name="Google Shape;334;p5"/>
          <p:cNvSpPr/>
          <p:nvPr/>
        </p:nvSpPr>
        <p:spPr>
          <a:xfrm>
            <a:off x="6730920" y="1679040"/>
            <a:ext cx="4729680" cy="30348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n-US" sz="2000" b="0" u="none" strike="noStrike">
                <a:solidFill>
                  <a:srgbClr val="1E2B58"/>
                </a:solidFill>
                <a:effectLst/>
                <a:uFillTx/>
                <a:latin typeface="Poppins SemiBold"/>
                <a:ea typeface="Poppins SemiBold"/>
              </a:rPr>
              <a:t>Limitations</a:t>
            </a:r>
            <a:endParaRPr lang="en-US" sz="2000" b="0" u="none" strike="noStrike">
              <a:solidFill>
                <a:srgbClr val="FFFFFF"/>
              </a:solidFill>
              <a:effectLst/>
              <a:uFillTx/>
              <a:latin typeface="Arial"/>
            </a:endParaRPr>
          </a:p>
        </p:txBody>
      </p:sp>
      <p:sp>
        <p:nvSpPr>
          <p:cNvPr id="279" name="Google Shape;335;p5"/>
          <p:cNvSpPr/>
          <p:nvPr/>
        </p:nvSpPr>
        <p:spPr>
          <a:xfrm>
            <a:off x="1219680" y="1944360"/>
            <a:ext cx="4266000" cy="877320"/>
          </a:xfrm>
          <a:prstGeom prst="rect">
            <a:avLst/>
          </a:prstGeom>
          <a:noFill/>
          <a:ln w="0">
            <a:noFill/>
          </a:ln>
        </p:spPr>
        <p:style>
          <a:lnRef idx="0"/>
          <a:fillRef idx="0"/>
          <a:effectRef idx="0"/>
          <a:fontRef idx="minor"/>
        </p:style>
        <p:txBody>
          <a:bodyPr lIns="0" tIns="0" rIns="0" bIns="0" anchor="t">
            <a:spAutoFit/>
          </a:bodyPr>
          <a:p>
            <a:pPr>
              <a:lnSpc>
                <a:spcPct val="160000"/>
              </a:lnSpc>
              <a:tabLst>
                <a:tab pos="0" algn="l"/>
              </a:tabLst>
            </a:pPr>
            <a:r>
              <a:rPr lang="en-US" sz="1800" b="0" u="none" strike="noStrike">
                <a:solidFill>
                  <a:srgbClr val="475569"/>
                </a:solidFill>
                <a:effectLst/>
                <a:uFillTx/>
                <a:latin typeface="Lato"/>
                <a:ea typeface="Lato"/>
              </a:rPr>
              <a:t>Focused on WMNs, evaluating TVAR as the packet-loss prediction model.</a:t>
            </a:r>
            <a:endParaRPr lang="en-US" sz="1800" b="0" u="none" strike="noStrike">
              <a:solidFill>
                <a:srgbClr val="FFFFFF"/>
              </a:solidFill>
              <a:effectLst/>
              <a:uFillTx/>
              <a:latin typeface="Arial"/>
            </a:endParaRPr>
          </a:p>
        </p:txBody>
      </p:sp>
      <p:sp>
        <p:nvSpPr>
          <p:cNvPr id="280" name="Google Shape;336;p5"/>
          <p:cNvSpPr/>
          <p:nvPr/>
        </p:nvSpPr>
        <p:spPr>
          <a:xfrm>
            <a:off x="1200240" y="2971800"/>
            <a:ext cx="4266000" cy="877320"/>
          </a:xfrm>
          <a:prstGeom prst="rect">
            <a:avLst/>
          </a:prstGeom>
          <a:noFill/>
          <a:ln w="0">
            <a:noFill/>
          </a:ln>
        </p:spPr>
        <p:style>
          <a:lnRef idx="0"/>
          <a:fillRef idx="0"/>
          <a:effectRef idx="0"/>
          <a:fontRef idx="minor"/>
        </p:style>
        <p:txBody>
          <a:bodyPr lIns="0" tIns="0" rIns="0" bIns="0" anchor="t">
            <a:spAutoFit/>
          </a:bodyPr>
          <a:p>
            <a:pPr>
              <a:lnSpc>
                <a:spcPct val="160000"/>
              </a:lnSpc>
              <a:tabLst>
                <a:tab pos="0" algn="l"/>
              </a:tabLst>
            </a:pPr>
            <a:r>
              <a:rPr lang="en-US" sz="1800" b="0" u="none" strike="noStrike">
                <a:solidFill>
                  <a:srgbClr val="475569"/>
                </a:solidFill>
                <a:effectLst/>
                <a:uFillTx/>
                <a:latin typeface="Lato"/>
                <a:ea typeface="Lato"/>
              </a:rPr>
              <a:t>Network design: 3×4 grid, 10 nodes (top row incomplete), simulated in NS-3.</a:t>
            </a:r>
            <a:endParaRPr lang="en-US" sz="1800" b="0" u="none" strike="noStrike">
              <a:solidFill>
                <a:srgbClr val="FFFFFF"/>
              </a:solidFill>
              <a:effectLst/>
              <a:uFillTx/>
              <a:latin typeface="Arial"/>
            </a:endParaRPr>
          </a:p>
        </p:txBody>
      </p:sp>
      <p:sp>
        <p:nvSpPr>
          <p:cNvPr id="281" name="Google Shape;337;p5"/>
          <p:cNvSpPr/>
          <p:nvPr/>
        </p:nvSpPr>
        <p:spPr>
          <a:xfrm>
            <a:off x="1143000" y="4019760"/>
            <a:ext cx="4266000" cy="1316160"/>
          </a:xfrm>
          <a:prstGeom prst="rect">
            <a:avLst/>
          </a:prstGeom>
          <a:noFill/>
          <a:ln w="0">
            <a:noFill/>
          </a:ln>
        </p:spPr>
        <p:style>
          <a:lnRef idx="0"/>
          <a:fillRef idx="0"/>
          <a:effectRef idx="0"/>
          <a:fontRef idx="minor"/>
        </p:style>
        <p:txBody>
          <a:bodyPr lIns="0" tIns="0" rIns="0" bIns="0" anchor="t">
            <a:spAutoFit/>
          </a:bodyPr>
          <a:p>
            <a:pPr>
              <a:lnSpc>
                <a:spcPct val="160000"/>
              </a:lnSpc>
              <a:tabLst>
                <a:tab pos="0" algn="l"/>
              </a:tabLst>
            </a:pPr>
            <a:r>
              <a:rPr lang="en-US" sz="1800" b="0" u="none" strike="noStrike">
                <a:solidFill>
                  <a:srgbClr val="475569"/>
                </a:solidFill>
                <a:effectLst/>
                <a:uFillTx/>
                <a:latin typeface="Lato"/>
                <a:ea typeface="Lato"/>
              </a:rPr>
              <a:t>Training, testing, and validation of the TVAR model conducted in Jupyter Notebooks.</a:t>
            </a:r>
            <a:endParaRPr lang="en-US" sz="1800" b="0" u="none" strike="noStrike">
              <a:solidFill>
                <a:srgbClr val="FFFFFF"/>
              </a:solidFill>
              <a:effectLst/>
              <a:uFillTx/>
              <a:latin typeface="Arial"/>
            </a:endParaRPr>
          </a:p>
        </p:txBody>
      </p:sp>
      <p:sp>
        <p:nvSpPr>
          <p:cNvPr id="282" name="Google Shape;338;p5"/>
          <p:cNvSpPr/>
          <p:nvPr/>
        </p:nvSpPr>
        <p:spPr>
          <a:xfrm>
            <a:off x="6962760" y="2212920"/>
            <a:ext cx="4266000" cy="877320"/>
          </a:xfrm>
          <a:prstGeom prst="rect">
            <a:avLst/>
          </a:prstGeom>
          <a:noFill/>
          <a:ln w="0">
            <a:noFill/>
          </a:ln>
        </p:spPr>
        <p:style>
          <a:lnRef idx="0"/>
          <a:fillRef idx="0"/>
          <a:effectRef idx="0"/>
          <a:fontRef idx="minor"/>
        </p:style>
        <p:txBody>
          <a:bodyPr lIns="0" tIns="0" rIns="0" bIns="0" anchor="t">
            <a:spAutoFit/>
          </a:bodyPr>
          <a:p>
            <a:pPr>
              <a:lnSpc>
                <a:spcPct val="160000"/>
              </a:lnSpc>
              <a:tabLst>
                <a:tab pos="0" algn="l"/>
              </a:tabLst>
            </a:pPr>
            <a:r>
              <a:rPr lang="en-US" sz="1800" b="0" u="none" strike="noStrike">
                <a:solidFill>
                  <a:srgbClr val="475569"/>
                </a:solidFill>
                <a:effectLst/>
                <a:uFillTx/>
                <a:latin typeface="Lato"/>
                <a:ea typeface="Lato"/>
              </a:rPr>
              <a:t>Simulated only — not yet tested on a real-world WMN deployment.</a:t>
            </a:r>
            <a:endParaRPr lang="en-US" sz="1800" b="0" u="none" strike="noStrike">
              <a:solidFill>
                <a:srgbClr val="FFFFFF"/>
              </a:solidFill>
              <a:effectLst/>
              <a:uFillTx/>
              <a:latin typeface="Arial"/>
            </a:endParaRPr>
          </a:p>
        </p:txBody>
      </p:sp>
      <p:sp>
        <p:nvSpPr>
          <p:cNvPr id="283" name="Google Shape;339;p5"/>
          <p:cNvSpPr/>
          <p:nvPr/>
        </p:nvSpPr>
        <p:spPr>
          <a:xfrm>
            <a:off x="6962760" y="3449880"/>
            <a:ext cx="4266000" cy="877320"/>
          </a:xfrm>
          <a:prstGeom prst="rect">
            <a:avLst/>
          </a:prstGeom>
          <a:noFill/>
          <a:ln w="0">
            <a:noFill/>
          </a:ln>
        </p:spPr>
        <p:style>
          <a:lnRef idx="0"/>
          <a:fillRef idx="0"/>
          <a:effectRef idx="0"/>
          <a:fontRef idx="minor"/>
        </p:style>
        <p:txBody>
          <a:bodyPr lIns="0" tIns="0" rIns="0" bIns="0" anchor="t">
            <a:spAutoFit/>
          </a:bodyPr>
          <a:p>
            <a:pPr>
              <a:lnSpc>
                <a:spcPct val="160000"/>
              </a:lnSpc>
              <a:tabLst>
                <a:tab pos="0" algn="l"/>
              </a:tabLst>
            </a:pPr>
            <a:r>
              <a:rPr lang="en-US" sz="1800" b="0" u="none" strike="noStrike">
                <a:solidFill>
                  <a:srgbClr val="475569"/>
                </a:solidFill>
                <a:effectLst/>
                <a:uFillTx/>
                <a:latin typeface="Lato"/>
                <a:ea typeface="Lato"/>
              </a:rPr>
              <a:t>Bounded to 10 nodes — larger networks introduce different challenges.</a:t>
            </a:r>
            <a:endParaRPr lang="en-US" sz="1800" b="0" u="none" strike="noStrike">
              <a:solidFill>
                <a:srgbClr val="FFFFFF"/>
              </a:solidFill>
              <a:effectLst/>
              <a:uFillTx/>
              <a:latin typeface="Arial"/>
            </a:endParaRPr>
          </a:p>
        </p:txBody>
      </p:sp>
      <p:sp>
        <p:nvSpPr>
          <p:cNvPr id="284" name="Google Shape;340;p5"/>
          <p:cNvSpPr/>
          <p:nvPr/>
        </p:nvSpPr>
        <p:spPr>
          <a:xfrm>
            <a:off x="961920" y="2118600"/>
            <a:ext cx="65520" cy="137520"/>
          </a:xfrm>
          <a:prstGeom prst="rect">
            <a:avLst/>
          </a:prstGeom>
          <a:noFill/>
          <a:ln w="0">
            <a:noFill/>
          </a:ln>
        </p:spPr>
        <p:style>
          <a:lnRef idx="0"/>
          <a:fillRef idx="0"/>
          <a:effectRef idx="0"/>
          <a:fontRef idx="minor"/>
        </p:style>
        <p:txBody>
          <a:bodyPr lIns="0" tIns="0" rIns="0" bIns="0" anchor="t">
            <a:spAutoFit/>
          </a:bodyPr>
          <a:p>
            <a:pPr>
              <a:lnSpc>
                <a:spcPct val="159000"/>
              </a:lnSpc>
              <a:tabLst>
                <a:tab pos="0" algn="l"/>
              </a:tabLst>
            </a:pPr>
            <a:r>
              <a:rPr lang="en-US" sz="900" b="0" u="none" strike="noStrike">
                <a:solidFill>
                  <a:srgbClr val="F2A900"/>
                </a:solidFill>
                <a:effectLst/>
                <a:uFillTx/>
                <a:latin typeface="Lato"/>
                <a:ea typeface="Lato"/>
              </a:rPr>
              <a:t>■</a:t>
            </a:r>
            <a:endParaRPr lang="en-US" sz="900" b="0" u="none" strike="noStrike">
              <a:solidFill>
                <a:srgbClr val="FFFFFF"/>
              </a:solidFill>
              <a:effectLst/>
              <a:uFillTx/>
              <a:latin typeface="Arial"/>
            </a:endParaRPr>
          </a:p>
        </p:txBody>
      </p:sp>
      <p:sp>
        <p:nvSpPr>
          <p:cNvPr id="285" name="Google Shape;341;p5"/>
          <p:cNvSpPr/>
          <p:nvPr/>
        </p:nvSpPr>
        <p:spPr>
          <a:xfrm>
            <a:off x="961920" y="3119040"/>
            <a:ext cx="65520" cy="137520"/>
          </a:xfrm>
          <a:prstGeom prst="rect">
            <a:avLst/>
          </a:prstGeom>
          <a:noFill/>
          <a:ln w="0">
            <a:noFill/>
          </a:ln>
        </p:spPr>
        <p:style>
          <a:lnRef idx="0"/>
          <a:fillRef idx="0"/>
          <a:effectRef idx="0"/>
          <a:fontRef idx="minor"/>
        </p:style>
        <p:txBody>
          <a:bodyPr lIns="0" tIns="0" rIns="0" bIns="0" anchor="t">
            <a:spAutoFit/>
          </a:bodyPr>
          <a:p>
            <a:pPr>
              <a:lnSpc>
                <a:spcPct val="159000"/>
              </a:lnSpc>
              <a:tabLst>
                <a:tab pos="0" algn="l"/>
              </a:tabLst>
            </a:pPr>
            <a:r>
              <a:rPr lang="en-US" sz="900" b="0" u="none" strike="noStrike">
                <a:solidFill>
                  <a:srgbClr val="F2A900"/>
                </a:solidFill>
                <a:effectLst/>
                <a:uFillTx/>
                <a:latin typeface="Lato"/>
                <a:ea typeface="Lato"/>
              </a:rPr>
              <a:t>■</a:t>
            </a:r>
            <a:endParaRPr lang="en-US" sz="900" b="0" u="none" strike="noStrike">
              <a:solidFill>
                <a:srgbClr val="FFFFFF"/>
              </a:solidFill>
              <a:effectLst/>
              <a:uFillTx/>
              <a:latin typeface="Arial"/>
            </a:endParaRPr>
          </a:p>
        </p:txBody>
      </p:sp>
      <p:sp>
        <p:nvSpPr>
          <p:cNvPr id="286" name="Google Shape;342;p5"/>
          <p:cNvSpPr/>
          <p:nvPr/>
        </p:nvSpPr>
        <p:spPr>
          <a:xfrm>
            <a:off x="961920" y="4191840"/>
            <a:ext cx="65520" cy="137520"/>
          </a:xfrm>
          <a:prstGeom prst="rect">
            <a:avLst/>
          </a:prstGeom>
          <a:noFill/>
          <a:ln w="0">
            <a:noFill/>
          </a:ln>
        </p:spPr>
        <p:style>
          <a:lnRef idx="0"/>
          <a:fillRef idx="0"/>
          <a:effectRef idx="0"/>
          <a:fontRef idx="minor"/>
        </p:style>
        <p:txBody>
          <a:bodyPr lIns="0" tIns="0" rIns="0" bIns="0" anchor="t">
            <a:spAutoFit/>
          </a:bodyPr>
          <a:p>
            <a:pPr>
              <a:lnSpc>
                <a:spcPct val="159000"/>
              </a:lnSpc>
              <a:tabLst>
                <a:tab pos="0" algn="l"/>
              </a:tabLst>
            </a:pPr>
            <a:r>
              <a:rPr lang="en-US" sz="900" b="0" u="none" strike="noStrike">
                <a:solidFill>
                  <a:srgbClr val="F2A900"/>
                </a:solidFill>
                <a:effectLst/>
                <a:uFillTx/>
                <a:latin typeface="Lato"/>
                <a:ea typeface="Lato"/>
              </a:rPr>
              <a:t>■</a:t>
            </a:r>
            <a:endParaRPr lang="en-US" sz="900" b="0" u="none" strike="noStrike">
              <a:solidFill>
                <a:srgbClr val="FFFFFF"/>
              </a:solidFill>
              <a:effectLst/>
              <a:uFillTx/>
              <a:latin typeface="Arial"/>
            </a:endParaRPr>
          </a:p>
        </p:txBody>
      </p:sp>
      <p:sp>
        <p:nvSpPr>
          <p:cNvPr id="287" name="Google Shape;343;p5"/>
          <p:cNvSpPr/>
          <p:nvPr/>
        </p:nvSpPr>
        <p:spPr>
          <a:xfrm>
            <a:off x="6724800" y="2356920"/>
            <a:ext cx="65520" cy="137520"/>
          </a:xfrm>
          <a:prstGeom prst="rect">
            <a:avLst/>
          </a:prstGeom>
          <a:noFill/>
          <a:ln w="0">
            <a:noFill/>
          </a:ln>
        </p:spPr>
        <p:style>
          <a:lnRef idx="0"/>
          <a:fillRef idx="0"/>
          <a:effectRef idx="0"/>
          <a:fontRef idx="minor"/>
        </p:style>
        <p:txBody>
          <a:bodyPr lIns="0" tIns="0" rIns="0" bIns="0" anchor="t">
            <a:spAutoFit/>
          </a:bodyPr>
          <a:p>
            <a:pPr>
              <a:lnSpc>
                <a:spcPct val="159000"/>
              </a:lnSpc>
              <a:tabLst>
                <a:tab pos="0" algn="l"/>
              </a:tabLst>
            </a:pPr>
            <a:r>
              <a:rPr lang="en-US" sz="900" b="0" u="none" strike="noStrike">
                <a:solidFill>
                  <a:srgbClr val="F2A900"/>
                </a:solidFill>
                <a:effectLst/>
                <a:uFillTx/>
                <a:latin typeface="Lato"/>
                <a:ea typeface="Lato"/>
              </a:rPr>
              <a:t>■</a:t>
            </a:r>
            <a:endParaRPr lang="en-US" sz="900" b="0" u="none" strike="noStrike">
              <a:solidFill>
                <a:srgbClr val="FFFFFF"/>
              </a:solidFill>
              <a:effectLst/>
              <a:uFillTx/>
              <a:latin typeface="Arial"/>
            </a:endParaRPr>
          </a:p>
        </p:txBody>
      </p:sp>
      <p:sp>
        <p:nvSpPr>
          <p:cNvPr id="288" name="Google Shape;344;p5"/>
          <p:cNvSpPr/>
          <p:nvPr/>
        </p:nvSpPr>
        <p:spPr>
          <a:xfrm>
            <a:off x="6724800" y="3587040"/>
            <a:ext cx="65520" cy="137520"/>
          </a:xfrm>
          <a:prstGeom prst="rect">
            <a:avLst/>
          </a:prstGeom>
          <a:noFill/>
          <a:ln w="0">
            <a:noFill/>
          </a:ln>
        </p:spPr>
        <p:style>
          <a:lnRef idx="0"/>
          <a:fillRef idx="0"/>
          <a:effectRef idx="0"/>
          <a:fontRef idx="minor"/>
        </p:style>
        <p:txBody>
          <a:bodyPr lIns="0" tIns="0" rIns="0" bIns="0" anchor="t">
            <a:spAutoFit/>
          </a:bodyPr>
          <a:p>
            <a:pPr>
              <a:lnSpc>
                <a:spcPct val="159000"/>
              </a:lnSpc>
              <a:tabLst>
                <a:tab pos="0" algn="l"/>
              </a:tabLst>
            </a:pPr>
            <a:r>
              <a:rPr lang="en-US" sz="900" b="0" u="none" strike="noStrike">
                <a:solidFill>
                  <a:srgbClr val="F2A900"/>
                </a:solidFill>
                <a:effectLst/>
                <a:uFillTx/>
                <a:latin typeface="Lato"/>
                <a:ea typeface="Lato"/>
              </a:rPr>
              <a:t>■</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title"/>
          </p:nvPr>
        </p:nvSpPr>
        <p:spPr>
          <a:xfrm>
            <a:off x="0" y="333360"/>
            <a:ext cx="12191040" cy="570600"/>
          </a:xfrm>
          <a:prstGeom prst="rect">
            <a:avLst/>
          </a:prstGeom>
          <a:noFill/>
          <a:ln w="0">
            <a:noFill/>
          </a:ln>
        </p:spPr>
        <p:txBody>
          <a:bodyPr lIns="0" tIns="0" rIns="0" bIns="0" anchor="ctr">
            <a:normAutofit/>
          </a:bodyPr>
          <a:p>
            <a:pPr indent="0" algn="ctr">
              <a:lnSpc>
                <a:spcPct val="100000"/>
              </a:lnSpc>
              <a:buNone/>
              <a:tabLst>
                <a:tab pos="0" algn="l"/>
              </a:tabLst>
            </a:pPr>
            <a:r>
              <a:rPr lang="en-US" sz="3600" b="1" u="none" strike="noStrike">
                <a:solidFill>
                  <a:srgbClr val="002060"/>
                </a:solidFill>
                <a:effectLst/>
                <a:uFillTx/>
                <a:latin typeface="Calibri"/>
                <a:ea typeface="Calibri"/>
              </a:rPr>
              <a:t>SUMMARY OF RELATED WORKS</a:t>
            </a:r>
            <a:endParaRPr lang="en-US" sz="3600" b="0" u="none" strike="noStrike">
              <a:solidFill>
                <a:srgbClr val="000000"/>
              </a:solidFill>
              <a:effectLst/>
              <a:uFillTx/>
              <a:latin typeface="Arial"/>
            </a:endParaRPr>
          </a:p>
        </p:txBody>
      </p:sp>
      <p:sp>
        <p:nvSpPr>
          <p:cNvPr id="290" name="Google Shape;350;p6"/>
          <p:cNvSpPr/>
          <p:nvPr/>
        </p:nvSpPr>
        <p:spPr>
          <a:xfrm>
            <a:off x="571680" y="6176880"/>
            <a:ext cx="951480" cy="6775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FFFFFF"/>
                </a:solidFill>
                <a:effectLst/>
                <a:uFillTx/>
                <a:latin typeface="Calibri"/>
                <a:ea typeface="Calibri"/>
              </a:rPr>
              <a:t>Page 8</a:t>
            </a:r>
            <a:endParaRPr lang="en-US" sz="1400" b="0" u="none" strike="noStrike">
              <a:solidFill>
                <a:srgbClr val="FFFFFF"/>
              </a:solidFill>
              <a:effectLst/>
              <a:uFillTx/>
              <a:latin typeface="Arial"/>
            </a:endParaRPr>
          </a:p>
        </p:txBody>
      </p:sp>
      <p:graphicFrame>
        <p:nvGraphicFramePr>
          <p:cNvPr id="291" name="Google Shape;351;p6"/>
          <p:cNvGraphicFramePr/>
          <p:nvPr/>
        </p:nvGraphicFramePr>
        <p:xfrm>
          <a:off x="399960" y="952200"/>
          <a:ext cx="11238120" cy="5077440"/>
        </p:xfrm>
        <a:graphic>
          <a:graphicData uri="http://schemas.openxmlformats.org/drawingml/2006/table">
            <a:tbl>
              <a:tblPr/>
              <a:tblGrid>
                <a:gridCol w="2381040"/>
                <a:gridCol w="2761920"/>
                <a:gridCol w="3047760"/>
                <a:gridCol w="3047760"/>
              </a:tblGrid>
              <a:tr h="475920">
                <a:tc>
                  <a:txBody>
                    <a:bodyPr lIns="75960" tIns="75960" rIns="75960" bIns="75960" anchor="b">
                      <a:noAutofit/>
                    </a:bodyPr>
                    <a:p>
                      <a:pPr algn="ctr">
                        <a:lnSpc>
                          <a:spcPct val="100000"/>
                        </a:lnSpc>
                        <a:tabLst>
                          <a:tab pos="0" algn="l"/>
                        </a:tabLst>
                      </a:pPr>
                      <a:r>
                        <a:rPr lang="en-US" sz="1400" b="1" u="none" strike="noStrike">
                          <a:solidFill>
                            <a:srgbClr val="FFFFFF"/>
                          </a:solidFill>
                          <a:effectLst/>
                          <a:highlight>
                            <a:srgbClr val="002060"/>
                          </a:highlight>
                          <a:uFillTx/>
                          <a:latin typeface="Calibri"/>
                          <a:ea typeface="Calibri"/>
                        </a:rPr>
                        <a:t>Author(s) &amp; Year</a:t>
                      </a:r>
                      <a:endParaRPr lang="en-US" sz="1400" b="0" u="none" strike="noStrike">
                        <a:solidFill>
                          <a:srgbClr val="FFFFFF"/>
                        </a:solidFill>
                        <a:effectLst/>
                        <a:uFillTx/>
                        <a:latin typeface="Arial"/>
                      </a:endParaRPr>
                    </a:p>
                  </a:txBody>
                  <a:tcPr anchor="b" marL="75960" marR="75960" marT="75960" marB="75960">
                    <a:lnL w="9360">
                      <a:solidFill>
                        <a:srgbClr val="FFFFFF"/>
                      </a:solidFill>
                      <a:prstDash val="solid"/>
                    </a:lnL>
                    <a:lnR w="9360">
                      <a:solidFill>
                        <a:srgbClr val="FFFFFF"/>
                      </a:solidFill>
                      <a:prstDash val="solid"/>
                    </a:lnR>
                    <a:lnT w="9360">
                      <a:solidFill>
                        <a:srgbClr val="FFFFFF"/>
                      </a:solidFill>
                      <a:prstDash val="solid"/>
                    </a:lnT>
                    <a:lnB w="9360">
                      <a:solidFill>
                        <a:srgbClr val="D3D3D3"/>
                      </a:solidFill>
                      <a:prstDash val="solid"/>
                    </a:lnB>
                    <a:solidFill>
                      <a:srgbClr val="002060"/>
                    </a:solidFill>
                  </a:tcPr>
                </a:tc>
                <a:tc>
                  <a:txBody>
                    <a:bodyPr lIns="75960" tIns="75960" rIns="75960" bIns="75960" anchor="b">
                      <a:noAutofit/>
                    </a:bodyPr>
                    <a:p>
                      <a:pPr algn="ctr">
                        <a:lnSpc>
                          <a:spcPct val="100000"/>
                        </a:lnSpc>
                        <a:tabLst>
                          <a:tab pos="0" algn="l"/>
                        </a:tabLst>
                      </a:pPr>
                      <a:r>
                        <a:rPr lang="en-US" sz="1400" b="1" u="none" strike="noStrike">
                          <a:solidFill>
                            <a:srgbClr val="FFFFFF"/>
                          </a:solidFill>
                          <a:effectLst/>
                          <a:highlight>
                            <a:srgbClr val="002060"/>
                          </a:highlight>
                          <a:uFillTx/>
                          <a:latin typeface="Calibri"/>
                          <a:ea typeface="Calibri"/>
                        </a:rPr>
                        <a:t>Research Topic</a:t>
                      </a:r>
                      <a:endParaRPr lang="en-US" sz="1400" b="0" u="none" strike="noStrike">
                        <a:solidFill>
                          <a:srgbClr val="FFFFFF"/>
                        </a:solidFill>
                        <a:effectLst/>
                        <a:uFillTx/>
                        <a:latin typeface="Arial"/>
                      </a:endParaRPr>
                    </a:p>
                  </a:txBody>
                  <a:tcPr anchor="b" marL="75960" marR="75960" marT="75960" marB="75960">
                    <a:lnL w="9360">
                      <a:solidFill>
                        <a:srgbClr val="FFFFFF"/>
                      </a:solidFill>
                      <a:prstDash val="solid"/>
                    </a:lnL>
                    <a:lnR w="9360">
                      <a:solidFill>
                        <a:srgbClr val="FFFFFF"/>
                      </a:solidFill>
                      <a:prstDash val="solid"/>
                    </a:lnR>
                    <a:lnT w="9360">
                      <a:solidFill>
                        <a:srgbClr val="FFFFFF"/>
                      </a:solidFill>
                      <a:prstDash val="solid"/>
                    </a:lnT>
                    <a:lnB w="9360">
                      <a:solidFill>
                        <a:srgbClr val="D3D3D3"/>
                      </a:solidFill>
                      <a:prstDash val="solid"/>
                    </a:lnB>
                    <a:solidFill>
                      <a:srgbClr val="002060"/>
                    </a:solidFill>
                  </a:tcPr>
                </a:tc>
                <a:tc>
                  <a:txBody>
                    <a:bodyPr lIns="75960" tIns="75960" rIns="75960" bIns="75960" anchor="b">
                      <a:noAutofit/>
                    </a:bodyPr>
                    <a:p>
                      <a:pPr algn="ctr">
                        <a:lnSpc>
                          <a:spcPct val="100000"/>
                        </a:lnSpc>
                        <a:tabLst>
                          <a:tab pos="0" algn="l"/>
                        </a:tabLst>
                      </a:pPr>
                      <a:r>
                        <a:rPr lang="en-US" sz="1400" b="1" u="none" strike="noStrike">
                          <a:solidFill>
                            <a:srgbClr val="FFFFFF"/>
                          </a:solidFill>
                          <a:effectLst/>
                          <a:highlight>
                            <a:srgbClr val="002060"/>
                          </a:highlight>
                          <a:uFillTx/>
                          <a:latin typeface="Calibri"/>
                          <a:ea typeface="Calibri"/>
                        </a:rPr>
                        <a:t>Limitation</a:t>
                      </a:r>
                      <a:endParaRPr lang="en-US" sz="1400" b="0" u="none" strike="noStrike">
                        <a:solidFill>
                          <a:srgbClr val="FFFFFF"/>
                        </a:solidFill>
                        <a:effectLst/>
                        <a:uFillTx/>
                        <a:latin typeface="Arial"/>
                      </a:endParaRPr>
                    </a:p>
                  </a:txBody>
                  <a:tcPr anchor="b" marL="75960" marR="75960" marT="75960" marB="75960">
                    <a:lnL w="9360">
                      <a:solidFill>
                        <a:srgbClr val="FFFFFF"/>
                      </a:solidFill>
                      <a:prstDash val="solid"/>
                    </a:lnL>
                    <a:lnR w="9360">
                      <a:solidFill>
                        <a:srgbClr val="FFFFFF"/>
                      </a:solidFill>
                      <a:prstDash val="solid"/>
                    </a:lnR>
                    <a:lnT w="9360">
                      <a:solidFill>
                        <a:srgbClr val="FFFFFF"/>
                      </a:solidFill>
                      <a:prstDash val="solid"/>
                    </a:lnT>
                    <a:lnB w="9360">
                      <a:solidFill>
                        <a:srgbClr val="D3D3D3"/>
                      </a:solidFill>
                      <a:prstDash val="solid"/>
                    </a:lnB>
                    <a:solidFill>
                      <a:srgbClr val="002060"/>
                    </a:solidFill>
                  </a:tcPr>
                </a:tc>
                <a:tc>
                  <a:txBody>
                    <a:bodyPr lIns="75960" tIns="75960" rIns="75960" bIns="75960" anchor="b">
                      <a:noAutofit/>
                    </a:bodyPr>
                    <a:p>
                      <a:pPr algn="ctr">
                        <a:lnSpc>
                          <a:spcPct val="100000"/>
                        </a:lnSpc>
                        <a:tabLst>
                          <a:tab pos="0" algn="l"/>
                        </a:tabLst>
                      </a:pPr>
                      <a:r>
                        <a:rPr lang="en-US" sz="1400" b="1" u="none" strike="noStrike">
                          <a:solidFill>
                            <a:srgbClr val="FFFFFF"/>
                          </a:solidFill>
                          <a:effectLst/>
                          <a:highlight>
                            <a:srgbClr val="002060"/>
                          </a:highlight>
                          <a:uFillTx/>
                          <a:latin typeface="Calibri"/>
                          <a:ea typeface="Calibri"/>
                        </a:rPr>
                        <a:t>Methodology</a:t>
                      </a:r>
                      <a:endParaRPr lang="en-US" sz="1400" b="0" u="none" strike="noStrike">
                        <a:solidFill>
                          <a:srgbClr val="FFFFFF"/>
                        </a:solidFill>
                        <a:effectLst/>
                        <a:uFillTx/>
                        <a:latin typeface="Arial"/>
                      </a:endParaRPr>
                    </a:p>
                  </a:txBody>
                  <a:tcPr anchor="b" marL="75960" marR="75960" marT="75960" marB="75960">
                    <a:lnL w="9360">
                      <a:solidFill>
                        <a:srgbClr val="FFFFFF"/>
                      </a:solidFill>
                      <a:prstDash val="solid"/>
                    </a:lnL>
                    <a:lnR w="9360">
                      <a:solidFill>
                        <a:srgbClr val="FFFFFF"/>
                      </a:solidFill>
                      <a:prstDash val="solid"/>
                    </a:lnR>
                    <a:lnT w="9360">
                      <a:solidFill>
                        <a:srgbClr val="FFFFFF"/>
                      </a:solidFill>
                      <a:prstDash val="solid"/>
                    </a:lnT>
                    <a:lnB w="9360">
                      <a:solidFill>
                        <a:srgbClr val="D3D3D3"/>
                      </a:solidFill>
                      <a:prstDash val="solid"/>
                    </a:lnB>
                    <a:solidFill>
                      <a:srgbClr val="002060"/>
                    </a:solidFill>
                  </a:tcPr>
                </a:tc>
              </a:tr>
              <a:tr h="2095200">
                <a:tc>
                  <a:txBody>
                    <a:bodyPr lIns="114120" tIns="114120" rIns="114120" bIns="114120" anchor="t">
                      <a:noAutofit/>
                    </a:bodyPr>
                    <a:p>
                      <a:pPr>
                        <a:lnSpc>
                          <a:spcPct val="100000"/>
                        </a:lnSpc>
                        <a:tabLst>
                          <a:tab pos="0" algn="l"/>
                        </a:tabLst>
                      </a:pPr>
                      <a:r>
                        <a:rPr lang="en-US" sz="1800" b="1" u="none" strike="noStrike">
                          <a:solidFill>
                            <a:srgbClr val="002060"/>
                          </a:solidFill>
                          <a:effectLst/>
                          <a:highlight>
                            <a:srgbClr val="FFFFFF"/>
                          </a:highlight>
                          <a:uFillTx/>
                          <a:latin typeface="Calibri"/>
                          <a:ea typeface="Calibri"/>
                        </a:rPr>
                        <a:t>X. Wu, C. Wu, and P. Deng (2023)</a:t>
                      </a:r>
                      <a:endParaRPr lang="en-US" sz="1800" b="0" u="none" strike="noStrike">
                        <a:solidFill>
                          <a:srgbClr val="000000"/>
                        </a:solidFill>
                        <a:effectLst/>
                        <a:uFillTx/>
                        <a:latin typeface="Arial"/>
                      </a:endParaRPr>
                    </a:p>
                  </a:txBody>
                  <a:tcPr anchor="t" marL="114120" marR="114120" marT="114120" marB="114120">
                    <a:lnL w="9360">
                      <a:solidFill>
                        <a:srgbClr val="D3D3D3"/>
                      </a:solidFill>
                      <a:prstDash val="solid"/>
                    </a:lnL>
                    <a:lnR w="9360">
                      <a:solidFill>
                        <a:srgbClr val="D3D3D3"/>
                      </a:solidFill>
                      <a:prstDash val="solid"/>
                    </a:lnR>
                    <a:lnT w="9360">
                      <a:solidFill>
                        <a:srgbClr val="D3D3D3"/>
                      </a:solidFill>
                      <a:prstDash val="solid"/>
                    </a:lnT>
                    <a:lnB w="9360">
                      <a:solidFill>
                        <a:srgbClr val="D3D3D3"/>
                      </a:solidFill>
                      <a:prstDash val="solid"/>
                    </a:lnB>
                    <a:solidFill>
                      <a:srgbClr val="FFFFFF"/>
                    </a:solidFill>
                  </a:tcPr>
                </a:tc>
                <a:tc>
                  <a:txBody>
                    <a:bodyPr lIns="114120" tIns="114120" rIns="114120" bIns="114120" anchor="t">
                      <a:noAutofit/>
                    </a:bodyPr>
                    <a:p>
                      <a:pPr>
                        <a:lnSpc>
                          <a:spcPct val="100000"/>
                        </a:lnSpc>
                        <a:tabLst>
                          <a:tab pos="0" algn="l"/>
                        </a:tabLst>
                      </a:pPr>
                      <a:r>
                        <a:rPr lang="en-US" sz="1800" b="0" u="none" strike="noStrike">
                          <a:solidFill>
                            <a:srgbClr val="333333"/>
                          </a:solidFill>
                          <a:effectLst/>
                          <a:highlight>
                            <a:srgbClr val="FFFFFF"/>
                          </a:highlight>
                          <a:uFillTx/>
                          <a:latin typeface="Calibri"/>
                          <a:ea typeface="Calibri"/>
                        </a:rPr>
                        <a:t>Prediction of Packet Loss Rate in Non-Stationary Networks Based on Time-Varying Autoregressive Sequences</a:t>
                      </a:r>
                      <a:endParaRPr lang="en-US" sz="1800" b="0" u="none" strike="noStrike">
                        <a:solidFill>
                          <a:srgbClr val="000000"/>
                        </a:solidFill>
                        <a:effectLst/>
                        <a:uFillTx/>
                        <a:latin typeface="Arial"/>
                      </a:endParaRPr>
                    </a:p>
                  </a:txBody>
                  <a:tcPr anchor="t" marL="114120" marR="114120" marT="114120" marB="114120">
                    <a:lnL w="9360">
                      <a:solidFill>
                        <a:srgbClr val="D3D3D3"/>
                      </a:solidFill>
                      <a:prstDash val="solid"/>
                    </a:lnL>
                    <a:lnR w="9360">
                      <a:solidFill>
                        <a:srgbClr val="D3D3D3"/>
                      </a:solidFill>
                      <a:prstDash val="solid"/>
                    </a:lnR>
                    <a:lnT w="9360">
                      <a:solidFill>
                        <a:srgbClr val="D3D3D3"/>
                      </a:solidFill>
                      <a:prstDash val="solid"/>
                    </a:lnT>
                    <a:lnB w="9360">
                      <a:solidFill>
                        <a:srgbClr val="D3D3D3"/>
                      </a:solidFill>
                      <a:prstDash val="solid"/>
                    </a:lnB>
                    <a:solidFill>
                      <a:srgbClr val="FFFFFF"/>
                    </a:solidFill>
                  </a:tcPr>
                </a:tc>
                <a:tc>
                  <a:txBody>
                    <a:bodyPr lIns="114120" tIns="114120" rIns="114120" bIns="114120" anchor="t">
                      <a:noAutofit/>
                    </a:bodyPr>
                    <a:p>
                      <a:pPr>
                        <a:lnSpc>
                          <a:spcPct val="100000"/>
                        </a:lnSpc>
                        <a:tabLst>
                          <a:tab pos="0" algn="l"/>
                        </a:tabLst>
                      </a:pPr>
                      <a:r>
                        <a:rPr lang="en-US" sz="1800" b="0" u="none" strike="noStrike">
                          <a:solidFill>
                            <a:srgbClr val="333333"/>
                          </a:solidFill>
                          <a:effectLst/>
                          <a:highlight>
                            <a:srgbClr val="FFFFFF"/>
                          </a:highlight>
                          <a:uFillTx/>
                          <a:latin typeface="Calibri"/>
                          <a:ea typeface="Calibri"/>
                        </a:rPr>
                        <a:t>• Requires current packet loss rate to update parameters.</a:t>
                      </a:r>
                      <a:endParaRPr lang="en-US" sz="1800" b="0" u="none" strike="noStrike">
                        <a:solidFill>
                          <a:srgbClr val="000000"/>
                        </a:solidFill>
                        <a:effectLst/>
                        <a:uFillTx/>
                        <a:latin typeface="Arial"/>
                      </a:endParaRPr>
                    </a:p>
                    <a:p>
                      <a:pPr>
                        <a:lnSpc>
                          <a:spcPct val="100000"/>
                        </a:lnSpc>
                        <a:tabLst>
                          <a:tab pos="0" algn="l"/>
                        </a:tabLst>
                      </a:pPr>
                      <a:br>
                        <a:rPr sz="1800"/>
                      </a:br>
                      <a:r>
                        <a:rPr lang="en-US" sz="1800" b="0" u="none" strike="noStrike">
                          <a:solidFill>
                            <a:srgbClr val="333333"/>
                          </a:solidFill>
                          <a:effectLst/>
                          <a:highlight>
                            <a:srgbClr val="FFFFFF"/>
                          </a:highlight>
                          <a:uFillTx/>
                          <a:latin typeface="Calibri"/>
                          <a:ea typeface="Calibri"/>
                        </a:rPr>
                        <a:t>• Error-prone during sudden, drastic fluctuations.</a:t>
                      </a:r>
                      <a:endParaRPr lang="en-US" sz="1800" b="0" u="none" strike="noStrike">
                        <a:solidFill>
                          <a:srgbClr val="000000"/>
                        </a:solidFill>
                        <a:effectLst/>
                        <a:uFillTx/>
                        <a:latin typeface="Arial"/>
                      </a:endParaRPr>
                    </a:p>
                  </a:txBody>
                  <a:tcPr anchor="t" marL="114120" marR="114120" marT="114120" marB="114120">
                    <a:lnL w="9360">
                      <a:solidFill>
                        <a:srgbClr val="D3D3D3"/>
                      </a:solidFill>
                      <a:prstDash val="solid"/>
                    </a:lnL>
                    <a:lnR w="9360">
                      <a:solidFill>
                        <a:srgbClr val="D3D3D3"/>
                      </a:solidFill>
                      <a:prstDash val="solid"/>
                    </a:lnR>
                    <a:lnT w="9360">
                      <a:solidFill>
                        <a:srgbClr val="D3D3D3"/>
                      </a:solidFill>
                      <a:prstDash val="solid"/>
                    </a:lnT>
                    <a:lnB w="9360">
                      <a:solidFill>
                        <a:srgbClr val="D3D3D3"/>
                      </a:solidFill>
                      <a:prstDash val="solid"/>
                    </a:lnB>
                    <a:solidFill>
                      <a:srgbClr val="FFFFFF"/>
                    </a:solidFill>
                  </a:tcPr>
                </a:tc>
                <a:tc>
                  <a:txBody>
                    <a:bodyPr lIns="114120" tIns="114120" rIns="114120" bIns="114120" anchor="t">
                      <a:noAutofit/>
                    </a:bodyPr>
                    <a:p>
                      <a:pPr>
                        <a:lnSpc>
                          <a:spcPct val="100000"/>
                        </a:lnSpc>
                        <a:tabLst>
                          <a:tab pos="0" algn="l"/>
                        </a:tabLst>
                      </a:pPr>
                      <a:r>
                        <a:rPr lang="en-US" sz="1800" b="0" u="none" strike="noStrike">
                          <a:solidFill>
                            <a:srgbClr val="333333"/>
                          </a:solidFill>
                          <a:effectLst/>
                          <a:highlight>
                            <a:srgbClr val="FFFFFF"/>
                          </a:highlight>
                          <a:uFillTx/>
                          <a:latin typeface="Calibri"/>
                          <a:ea typeface="Calibri"/>
                        </a:rPr>
                        <a:t>1. Developed an improved Gilbert-Elliot model to generate time series data.</a:t>
                      </a:r>
                      <a:endParaRPr lang="en-US" sz="1800" b="0" u="none" strike="noStrike">
                        <a:solidFill>
                          <a:srgbClr val="000000"/>
                        </a:solidFill>
                        <a:effectLst/>
                        <a:uFillTx/>
                        <a:latin typeface="Arial"/>
                      </a:endParaRPr>
                    </a:p>
                    <a:p>
                      <a:pPr>
                        <a:lnSpc>
                          <a:spcPct val="100000"/>
                        </a:lnSpc>
                        <a:tabLst>
                          <a:tab pos="0" algn="l"/>
                        </a:tabLst>
                      </a:pPr>
                      <a:br>
                        <a:rPr sz="1800"/>
                      </a:br>
                      <a:r>
                        <a:rPr lang="en-US" sz="1800" b="0" u="none" strike="noStrike">
                          <a:solidFill>
                            <a:srgbClr val="333333"/>
                          </a:solidFill>
                          <a:effectLst/>
                          <a:highlight>
                            <a:srgbClr val="FFFFFF"/>
                          </a:highlight>
                          <a:uFillTx/>
                          <a:latin typeface="Calibri"/>
                          <a:ea typeface="Calibri"/>
                        </a:rPr>
                        <a:t>2. Generated non-stationary data via an added medium state with Gaussian packet loss rates.</a:t>
                      </a:r>
                      <a:endParaRPr lang="en-US" sz="1800" b="0" u="none" strike="noStrike">
                        <a:solidFill>
                          <a:srgbClr val="000000"/>
                        </a:solidFill>
                        <a:effectLst/>
                        <a:uFillTx/>
                        <a:latin typeface="Arial"/>
                      </a:endParaRPr>
                    </a:p>
                  </a:txBody>
                  <a:tcPr anchor="t" marL="114120" marR="114120" marT="114120" marB="114120">
                    <a:lnL w="9360">
                      <a:solidFill>
                        <a:srgbClr val="D3D3D3"/>
                      </a:solidFill>
                      <a:prstDash val="solid"/>
                    </a:lnL>
                    <a:lnR w="9360">
                      <a:solidFill>
                        <a:srgbClr val="D3D3D3"/>
                      </a:solidFill>
                      <a:prstDash val="solid"/>
                    </a:lnR>
                    <a:lnT w="9360">
                      <a:solidFill>
                        <a:srgbClr val="D3D3D3"/>
                      </a:solidFill>
                      <a:prstDash val="solid"/>
                    </a:lnT>
                    <a:lnB w="9360">
                      <a:solidFill>
                        <a:srgbClr val="D3D3D3"/>
                      </a:solidFill>
                      <a:prstDash val="solid"/>
                    </a:lnB>
                    <a:solidFill>
                      <a:srgbClr val="FFFFFF"/>
                    </a:solidFill>
                  </a:tcPr>
                </a:tc>
              </a:tr>
              <a:tr h="2095200">
                <a:tc>
                  <a:txBody>
                    <a:bodyPr lIns="114120" tIns="114120" rIns="114120" bIns="114120" anchor="t">
                      <a:noAutofit/>
                    </a:bodyPr>
                    <a:p>
                      <a:pPr>
                        <a:lnSpc>
                          <a:spcPct val="100000"/>
                        </a:lnSpc>
                        <a:tabLst>
                          <a:tab pos="0" algn="l"/>
                        </a:tabLst>
                      </a:pPr>
                      <a:r>
                        <a:rPr lang="en-US" sz="1800" b="1" u="none" strike="noStrike">
                          <a:solidFill>
                            <a:srgbClr val="002060"/>
                          </a:solidFill>
                          <a:effectLst/>
                          <a:highlight>
                            <a:srgbClr val="F7F9FC"/>
                          </a:highlight>
                          <a:uFillTx/>
                          <a:latin typeface="Calibri"/>
                          <a:ea typeface="Calibri"/>
                        </a:rPr>
                        <a:t>Z. Jia and C. Zhang (2025)</a:t>
                      </a:r>
                      <a:endParaRPr lang="en-US" sz="1800" b="0" u="none" strike="noStrike">
                        <a:solidFill>
                          <a:srgbClr val="000000"/>
                        </a:solidFill>
                        <a:effectLst/>
                        <a:uFillTx/>
                        <a:latin typeface="Arial"/>
                      </a:endParaRPr>
                    </a:p>
                  </a:txBody>
                  <a:tcPr anchor="t" marL="114120" marR="114120" marT="114120" marB="114120">
                    <a:lnL w="9360">
                      <a:solidFill>
                        <a:srgbClr val="D3D3D3"/>
                      </a:solidFill>
                      <a:prstDash val="solid"/>
                    </a:lnL>
                    <a:lnR w="9360">
                      <a:solidFill>
                        <a:srgbClr val="D3D3D3"/>
                      </a:solidFill>
                      <a:prstDash val="solid"/>
                    </a:lnR>
                    <a:lnT w="9360">
                      <a:solidFill>
                        <a:srgbClr val="D3D3D3"/>
                      </a:solidFill>
                      <a:prstDash val="solid"/>
                    </a:lnT>
                    <a:lnB w="9360">
                      <a:solidFill>
                        <a:srgbClr val="D3D3D3"/>
                      </a:solidFill>
                      <a:prstDash val="solid"/>
                    </a:lnB>
                    <a:solidFill>
                      <a:srgbClr val="F7F9FC"/>
                    </a:solidFill>
                  </a:tcPr>
                </a:tc>
                <a:tc>
                  <a:txBody>
                    <a:bodyPr lIns="114120" tIns="114120" rIns="114120" bIns="114120" anchor="t">
                      <a:noAutofit/>
                    </a:bodyPr>
                    <a:p>
                      <a:pPr>
                        <a:lnSpc>
                          <a:spcPct val="100000"/>
                        </a:lnSpc>
                        <a:tabLst>
                          <a:tab pos="0" algn="l"/>
                        </a:tabLst>
                      </a:pPr>
                      <a:r>
                        <a:rPr lang="en-US" sz="1800" b="0" u="none" strike="noStrike">
                          <a:solidFill>
                            <a:srgbClr val="333333"/>
                          </a:solidFill>
                          <a:effectLst/>
                          <a:highlight>
                            <a:srgbClr val="F7F9FC"/>
                          </a:highlight>
                          <a:uFillTx/>
                          <a:latin typeface="Calibri"/>
                          <a:ea typeface="Calibri"/>
                        </a:rPr>
                        <a:t>Time-Varying Autoregressive Models: A Novel Approach Using Physics-Informed Neural Networks</a:t>
                      </a:r>
                      <a:endParaRPr lang="en-US" sz="1800" b="0" u="none" strike="noStrike">
                        <a:solidFill>
                          <a:srgbClr val="000000"/>
                        </a:solidFill>
                        <a:effectLst/>
                        <a:uFillTx/>
                        <a:latin typeface="Arial"/>
                      </a:endParaRPr>
                    </a:p>
                  </a:txBody>
                  <a:tcPr anchor="t" marL="114120" marR="114120" marT="114120" marB="114120">
                    <a:lnL w="9360">
                      <a:solidFill>
                        <a:srgbClr val="D3D3D3"/>
                      </a:solidFill>
                      <a:prstDash val="solid"/>
                    </a:lnL>
                    <a:lnR w="9360">
                      <a:solidFill>
                        <a:srgbClr val="D3D3D3"/>
                      </a:solidFill>
                      <a:prstDash val="solid"/>
                    </a:lnR>
                    <a:lnT w="9360">
                      <a:solidFill>
                        <a:srgbClr val="D3D3D3"/>
                      </a:solidFill>
                      <a:prstDash val="solid"/>
                    </a:lnT>
                    <a:lnB w="9360">
                      <a:solidFill>
                        <a:srgbClr val="D3D3D3"/>
                      </a:solidFill>
                      <a:prstDash val="solid"/>
                    </a:lnB>
                    <a:solidFill>
                      <a:srgbClr val="F7F9FC"/>
                    </a:solidFill>
                  </a:tcPr>
                </a:tc>
                <a:tc>
                  <a:txBody>
                    <a:bodyPr lIns="114120" tIns="114120" rIns="114120" bIns="114120" anchor="t">
                      <a:noAutofit/>
                    </a:bodyPr>
                    <a:p>
                      <a:pPr>
                        <a:lnSpc>
                          <a:spcPct val="100000"/>
                        </a:lnSpc>
                        <a:tabLst>
                          <a:tab pos="0" algn="l"/>
                        </a:tabLst>
                      </a:pPr>
                      <a:r>
                        <a:rPr lang="en-US" sz="1600" b="0" u="none" strike="noStrike">
                          <a:solidFill>
                            <a:srgbClr val="333333"/>
                          </a:solidFill>
                          <a:effectLst/>
                          <a:highlight>
                            <a:srgbClr val="F7F9FC"/>
                          </a:highlight>
                          <a:uFillTx/>
                          <a:latin typeface="Calibri"/>
                          <a:ea typeface="Calibri"/>
                        </a:rPr>
                        <a:t>• Unresolved DNN challenges cause lower prediction accuracy.</a:t>
                      </a:r>
                      <a:endParaRPr lang="en-US" sz="1600" b="0" u="none" strike="noStrike">
                        <a:solidFill>
                          <a:srgbClr val="000000"/>
                        </a:solidFill>
                        <a:effectLst/>
                        <a:uFillTx/>
                        <a:latin typeface="Arial"/>
                      </a:endParaRPr>
                    </a:p>
                    <a:p>
                      <a:pPr>
                        <a:lnSpc>
                          <a:spcPct val="100000"/>
                        </a:lnSpc>
                        <a:tabLst>
                          <a:tab pos="0" algn="l"/>
                        </a:tabLst>
                      </a:pPr>
                      <a:br>
                        <a:rPr sz="1600"/>
                      </a:br>
                      <a:r>
                        <a:rPr lang="en-US" sz="1600" b="0" u="none" strike="noStrike">
                          <a:solidFill>
                            <a:srgbClr val="333333"/>
                          </a:solidFill>
                          <a:effectLst/>
                          <a:highlight>
                            <a:srgbClr val="F7F9FC"/>
                          </a:highlight>
                          <a:uFillTx/>
                          <a:latin typeface="Calibri"/>
                          <a:ea typeface="Calibri"/>
                        </a:rPr>
                        <a:t>• Higher computational demands than compared models.</a:t>
                      </a:r>
                      <a:endParaRPr lang="en-US" sz="1600" b="0" u="none" strike="noStrike">
                        <a:solidFill>
                          <a:srgbClr val="000000"/>
                        </a:solidFill>
                        <a:effectLst/>
                        <a:uFillTx/>
                        <a:latin typeface="Arial"/>
                      </a:endParaRPr>
                    </a:p>
                    <a:p>
                      <a:pPr>
                        <a:lnSpc>
                          <a:spcPct val="100000"/>
                        </a:lnSpc>
                        <a:tabLst>
                          <a:tab pos="0" algn="l"/>
                        </a:tabLst>
                      </a:pPr>
                      <a:br>
                        <a:rPr sz="1600"/>
                      </a:br>
                      <a:r>
                        <a:rPr lang="en-US" sz="1600" b="0" u="none" strike="noStrike">
                          <a:solidFill>
                            <a:srgbClr val="333333"/>
                          </a:solidFill>
                          <a:effectLst/>
                          <a:highlight>
                            <a:srgbClr val="F7F9FC"/>
                          </a:highlight>
                          <a:uFillTx/>
                          <a:latin typeface="Calibri"/>
                          <a:ea typeface="Calibri"/>
                        </a:rPr>
                        <a:t>• Relies on physical priors that may be unavailable.</a:t>
                      </a:r>
                      <a:endParaRPr lang="en-US" sz="1600" b="0" u="none" strike="noStrike">
                        <a:solidFill>
                          <a:srgbClr val="000000"/>
                        </a:solidFill>
                        <a:effectLst/>
                        <a:uFillTx/>
                        <a:latin typeface="Arial"/>
                      </a:endParaRPr>
                    </a:p>
                  </a:txBody>
                  <a:tcPr anchor="t" marL="114120" marR="114120" marT="114120" marB="114120">
                    <a:lnL w="9360">
                      <a:solidFill>
                        <a:srgbClr val="D3D3D3"/>
                      </a:solidFill>
                      <a:prstDash val="solid"/>
                    </a:lnL>
                    <a:lnR w="9360">
                      <a:solidFill>
                        <a:srgbClr val="D3D3D3"/>
                      </a:solidFill>
                      <a:prstDash val="solid"/>
                    </a:lnR>
                    <a:lnT w="9360">
                      <a:solidFill>
                        <a:srgbClr val="D3D3D3"/>
                      </a:solidFill>
                      <a:prstDash val="solid"/>
                    </a:lnT>
                    <a:lnB w="9360">
                      <a:solidFill>
                        <a:srgbClr val="D3D3D3"/>
                      </a:solidFill>
                      <a:prstDash val="solid"/>
                    </a:lnB>
                    <a:solidFill>
                      <a:srgbClr val="F7F9FC"/>
                    </a:solidFill>
                  </a:tcPr>
                </a:tc>
                <a:tc>
                  <a:txBody>
                    <a:bodyPr lIns="114120" tIns="114120" rIns="114120" bIns="114120" anchor="t">
                      <a:noAutofit/>
                    </a:bodyPr>
                    <a:p>
                      <a:pPr>
                        <a:lnSpc>
                          <a:spcPct val="100000"/>
                        </a:lnSpc>
                        <a:tabLst>
                          <a:tab pos="0" algn="l"/>
                        </a:tabLst>
                      </a:pPr>
                      <a:r>
                        <a:rPr lang="en-US" sz="1800" b="0" u="none" strike="noStrike">
                          <a:solidFill>
                            <a:srgbClr val="333333"/>
                          </a:solidFill>
                          <a:effectLst/>
                          <a:highlight>
                            <a:srgbClr val="F7F9FC"/>
                          </a:highlight>
                          <a:uFillTx/>
                          <a:latin typeface="Calibri"/>
                          <a:ea typeface="Calibri"/>
                        </a:rPr>
                        <a:t>1. Defined individual models.</a:t>
                      </a:r>
                      <a:endParaRPr lang="en-US" sz="1800" b="0" u="none" strike="noStrike">
                        <a:solidFill>
                          <a:srgbClr val="000000"/>
                        </a:solidFill>
                        <a:effectLst/>
                        <a:uFillTx/>
                        <a:latin typeface="Arial"/>
                      </a:endParaRPr>
                    </a:p>
                    <a:p>
                      <a:pPr>
                        <a:lnSpc>
                          <a:spcPct val="100000"/>
                        </a:lnSpc>
                        <a:tabLst>
                          <a:tab pos="0" algn="l"/>
                        </a:tabLst>
                      </a:pPr>
                      <a:br>
                        <a:rPr sz="1800"/>
                      </a:br>
                      <a:r>
                        <a:rPr lang="en-US" sz="1800" b="0" u="none" strike="noStrike">
                          <a:solidFill>
                            <a:srgbClr val="333333"/>
                          </a:solidFill>
                          <a:effectLst/>
                          <a:highlight>
                            <a:srgbClr val="F7F9FC"/>
                          </a:highlight>
                          <a:uFillTx/>
                          <a:latin typeface="Calibri"/>
                          <a:ea typeface="Calibri"/>
                        </a:rPr>
                        <a:t>2. Combined PINN with TVAR and TV-VAR.</a:t>
                      </a:r>
                      <a:endParaRPr lang="en-US" sz="1800" b="0" u="none" strike="noStrike">
                        <a:solidFill>
                          <a:srgbClr val="000000"/>
                        </a:solidFill>
                        <a:effectLst/>
                        <a:uFillTx/>
                        <a:latin typeface="Arial"/>
                      </a:endParaRPr>
                    </a:p>
                    <a:p>
                      <a:pPr>
                        <a:lnSpc>
                          <a:spcPct val="100000"/>
                        </a:lnSpc>
                        <a:tabLst>
                          <a:tab pos="0" algn="l"/>
                        </a:tabLst>
                      </a:pPr>
                      <a:br>
                        <a:rPr sz="1800"/>
                      </a:br>
                      <a:r>
                        <a:rPr lang="en-US" sz="1800" b="0" u="none" strike="noStrike">
                          <a:solidFill>
                            <a:srgbClr val="333333"/>
                          </a:solidFill>
                          <a:effectLst/>
                          <a:highlight>
                            <a:srgbClr val="F7F9FC"/>
                          </a:highlight>
                          <a:uFillTx/>
                          <a:latin typeface="Calibri"/>
                          <a:ea typeface="Calibri"/>
                        </a:rPr>
                        <a:t>3. Compared simulations across three scenarios.</a:t>
                      </a:r>
                      <a:endParaRPr lang="en-US" sz="1800" b="0" u="none" strike="noStrike">
                        <a:solidFill>
                          <a:srgbClr val="000000"/>
                        </a:solidFill>
                        <a:effectLst/>
                        <a:uFillTx/>
                        <a:latin typeface="Arial"/>
                      </a:endParaRPr>
                    </a:p>
                  </a:txBody>
                  <a:tcPr anchor="t" marL="114120" marR="114120" marT="114120" marB="114120">
                    <a:lnL w="9360">
                      <a:solidFill>
                        <a:srgbClr val="D3D3D3"/>
                      </a:solidFill>
                      <a:prstDash val="solid"/>
                    </a:lnL>
                    <a:lnR w="9360">
                      <a:solidFill>
                        <a:srgbClr val="D3D3D3"/>
                      </a:solidFill>
                      <a:prstDash val="solid"/>
                    </a:lnR>
                    <a:lnT w="9360">
                      <a:solidFill>
                        <a:srgbClr val="D3D3D3"/>
                      </a:solidFill>
                      <a:prstDash val="solid"/>
                    </a:lnT>
                    <a:lnB w="9360">
                      <a:solidFill>
                        <a:srgbClr val="D3D3D3"/>
                      </a:solidFill>
                      <a:prstDash val="solid"/>
                    </a:lnB>
                    <a:solidFill>
                      <a:srgbClr val="F7F9FC"/>
                    </a:solidFill>
                  </a:tcPr>
                </a:tc>
              </a:tr>
            </a:tbl>
          </a:graphicData>
        </a:graphic>
      </p:graphicFrame>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title"/>
          </p:nvPr>
        </p:nvSpPr>
        <p:spPr>
          <a:xfrm>
            <a:off x="0" y="333360"/>
            <a:ext cx="12191040" cy="570600"/>
          </a:xfrm>
          <a:prstGeom prst="rect">
            <a:avLst/>
          </a:prstGeom>
          <a:noFill/>
          <a:ln w="0">
            <a:noFill/>
          </a:ln>
        </p:spPr>
        <p:txBody>
          <a:bodyPr lIns="0" tIns="0" rIns="0" bIns="0" anchor="ctr">
            <a:normAutofit/>
          </a:bodyPr>
          <a:p>
            <a:pPr indent="0" algn="ctr">
              <a:lnSpc>
                <a:spcPct val="100000"/>
              </a:lnSpc>
              <a:buNone/>
              <a:tabLst>
                <a:tab pos="0" algn="l"/>
              </a:tabLst>
            </a:pPr>
            <a:r>
              <a:rPr lang="en-US" sz="3600" b="1" u="none" strike="noStrike">
                <a:solidFill>
                  <a:srgbClr val="002060"/>
                </a:solidFill>
                <a:effectLst/>
                <a:uFillTx/>
                <a:latin typeface="Calibri"/>
                <a:ea typeface="Calibri"/>
              </a:rPr>
              <a:t>SUMMARY OF RELATED WORKS CONT...</a:t>
            </a:r>
            <a:endParaRPr lang="en-US" sz="3600" b="0" u="none" strike="noStrike">
              <a:solidFill>
                <a:srgbClr val="000000"/>
              </a:solidFill>
              <a:effectLst/>
              <a:uFillTx/>
              <a:latin typeface="Arial"/>
            </a:endParaRPr>
          </a:p>
        </p:txBody>
      </p:sp>
      <p:sp>
        <p:nvSpPr>
          <p:cNvPr id="293" name="Google Shape;357;p7"/>
          <p:cNvSpPr/>
          <p:nvPr/>
        </p:nvSpPr>
        <p:spPr>
          <a:xfrm>
            <a:off x="571680" y="6176880"/>
            <a:ext cx="951480" cy="6775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FFFFFF"/>
                </a:solidFill>
                <a:effectLst/>
                <a:uFillTx/>
                <a:latin typeface="Calibri"/>
                <a:ea typeface="Calibri"/>
              </a:rPr>
              <a:t>Page 9</a:t>
            </a:r>
            <a:endParaRPr lang="en-US" sz="1400" b="0" u="none" strike="noStrike">
              <a:solidFill>
                <a:srgbClr val="FFFFFF"/>
              </a:solidFill>
              <a:effectLst/>
              <a:uFillTx/>
              <a:latin typeface="Arial"/>
            </a:endParaRPr>
          </a:p>
        </p:txBody>
      </p:sp>
      <p:graphicFrame>
        <p:nvGraphicFramePr>
          <p:cNvPr id="294" name="Google Shape;358;p7"/>
          <p:cNvGraphicFramePr/>
          <p:nvPr/>
        </p:nvGraphicFramePr>
        <p:xfrm>
          <a:off x="476280" y="1095480"/>
          <a:ext cx="11238120" cy="4749480"/>
        </p:xfrm>
        <a:graphic>
          <a:graphicData uri="http://schemas.openxmlformats.org/drawingml/2006/table">
            <a:tbl>
              <a:tblPr/>
              <a:tblGrid>
                <a:gridCol w="2381040"/>
                <a:gridCol w="2761920"/>
                <a:gridCol w="3047760"/>
                <a:gridCol w="3047760"/>
              </a:tblGrid>
              <a:tr h="475920">
                <a:tc>
                  <a:txBody>
                    <a:bodyPr lIns="75960" tIns="75960" rIns="75960" bIns="75960" anchor="b">
                      <a:noAutofit/>
                    </a:bodyPr>
                    <a:p>
                      <a:pPr algn="ctr">
                        <a:lnSpc>
                          <a:spcPct val="100000"/>
                        </a:lnSpc>
                        <a:tabLst>
                          <a:tab pos="0" algn="l"/>
                        </a:tabLst>
                      </a:pPr>
                      <a:r>
                        <a:rPr lang="en-US" sz="1400" b="1" u="none" strike="noStrike">
                          <a:solidFill>
                            <a:srgbClr val="FFFFFF"/>
                          </a:solidFill>
                          <a:effectLst/>
                          <a:highlight>
                            <a:srgbClr val="002060"/>
                          </a:highlight>
                          <a:uFillTx/>
                          <a:latin typeface="Calibri"/>
                          <a:ea typeface="Calibri"/>
                        </a:rPr>
                        <a:t>Author(s) &amp; Year</a:t>
                      </a:r>
                      <a:endParaRPr lang="en-US" sz="1400" b="0" u="none" strike="noStrike">
                        <a:solidFill>
                          <a:srgbClr val="FFFFFF"/>
                        </a:solidFill>
                        <a:effectLst/>
                        <a:uFillTx/>
                        <a:latin typeface="Arial"/>
                      </a:endParaRPr>
                    </a:p>
                  </a:txBody>
                  <a:tcPr anchor="b" marL="75960" marR="75960" marT="75960" marB="75960">
                    <a:lnL w="9360">
                      <a:solidFill>
                        <a:srgbClr val="FFFFFF"/>
                      </a:solidFill>
                      <a:prstDash val="solid"/>
                    </a:lnL>
                    <a:lnR w="9360">
                      <a:solidFill>
                        <a:srgbClr val="FFFFFF"/>
                      </a:solidFill>
                      <a:prstDash val="solid"/>
                    </a:lnR>
                    <a:lnT w="9360">
                      <a:solidFill>
                        <a:srgbClr val="FFFFFF"/>
                      </a:solidFill>
                      <a:prstDash val="solid"/>
                    </a:lnT>
                    <a:lnB w="9360">
                      <a:solidFill>
                        <a:srgbClr val="D3D3D3"/>
                      </a:solidFill>
                      <a:prstDash val="solid"/>
                    </a:lnB>
                    <a:solidFill>
                      <a:srgbClr val="002060"/>
                    </a:solidFill>
                  </a:tcPr>
                </a:tc>
                <a:tc>
                  <a:txBody>
                    <a:bodyPr lIns="75960" tIns="75960" rIns="75960" bIns="75960" anchor="b">
                      <a:noAutofit/>
                    </a:bodyPr>
                    <a:p>
                      <a:pPr algn="ctr">
                        <a:lnSpc>
                          <a:spcPct val="100000"/>
                        </a:lnSpc>
                        <a:tabLst>
                          <a:tab pos="0" algn="l"/>
                        </a:tabLst>
                      </a:pPr>
                      <a:r>
                        <a:rPr lang="en-US" sz="1400" b="1" u="none" strike="noStrike">
                          <a:solidFill>
                            <a:srgbClr val="FFFFFF"/>
                          </a:solidFill>
                          <a:effectLst/>
                          <a:highlight>
                            <a:srgbClr val="002060"/>
                          </a:highlight>
                          <a:uFillTx/>
                          <a:latin typeface="Calibri"/>
                          <a:ea typeface="Calibri"/>
                        </a:rPr>
                        <a:t>Research Topic</a:t>
                      </a:r>
                      <a:endParaRPr lang="en-US" sz="1400" b="0" u="none" strike="noStrike">
                        <a:solidFill>
                          <a:srgbClr val="FFFFFF"/>
                        </a:solidFill>
                        <a:effectLst/>
                        <a:uFillTx/>
                        <a:latin typeface="Arial"/>
                      </a:endParaRPr>
                    </a:p>
                  </a:txBody>
                  <a:tcPr anchor="b" marL="75960" marR="75960" marT="75960" marB="75960">
                    <a:lnL w="9360">
                      <a:solidFill>
                        <a:srgbClr val="FFFFFF"/>
                      </a:solidFill>
                      <a:prstDash val="solid"/>
                    </a:lnL>
                    <a:lnR w="9360">
                      <a:solidFill>
                        <a:srgbClr val="FFFFFF"/>
                      </a:solidFill>
                      <a:prstDash val="solid"/>
                    </a:lnR>
                    <a:lnT w="9360">
                      <a:solidFill>
                        <a:srgbClr val="FFFFFF"/>
                      </a:solidFill>
                      <a:prstDash val="solid"/>
                    </a:lnT>
                    <a:lnB w="9360">
                      <a:solidFill>
                        <a:srgbClr val="D3D3D3"/>
                      </a:solidFill>
                      <a:prstDash val="solid"/>
                    </a:lnB>
                    <a:solidFill>
                      <a:srgbClr val="002060"/>
                    </a:solidFill>
                  </a:tcPr>
                </a:tc>
                <a:tc>
                  <a:txBody>
                    <a:bodyPr lIns="75960" tIns="75960" rIns="75960" bIns="75960" anchor="b">
                      <a:noAutofit/>
                    </a:bodyPr>
                    <a:p>
                      <a:pPr algn="ctr">
                        <a:lnSpc>
                          <a:spcPct val="100000"/>
                        </a:lnSpc>
                        <a:tabLst>
                          <a:tab pos="0" algn="l"/>
                        </a:tabLst>
                      </a:pPr>
                      <a:r>
                        <a:rPr lang="en-US" sz="1400" b="1" u="none" strike="noStrike">
                          <a:solidFill>
                            <a:srgbClr val="FFFFFF"/>
                          </a:solidFill>
                          <a:effectLst/>
                          <a:highlight>
                            <a:srgbClr val="002060"/>
                          </a:highlight>
                          <a:uFillTx/>
                          <a:latin typeface="Calibri"/>
                          <a:ea typeface="Calibri"/>
                        </a:rPr>
                        <a:t>Limitation</a:t>
                      </a:r>
                      <a:endParaRPr lang="en-US" sz="1400" b="0" u="none" strike="noStrike">
                        <a:solidFill>
                          <a:srgbClr val="FFFFFF"/>
                        </a:solidFill>
                        <a:effectLst/>
                        <a:uFillTx/>
                        <a:latin typeface="Arial"/>
                      </a:endParaRPr>
                    </a:p>
                  </a:txBody>
                  <a:tcPr anchor="b" marL="75960" marR="75960" marT="75960" marB="75960">
                    <a:lnL w="9360">
                      <a:solidFill>
                        <a:srgbClr val="FFFFFF"/>
                      </a:solidFill>
                      <a:prstDash val="solid"/>
                    </a:lnL>
                    <a:lnR w="9360">
                      <a:solidFill>
                        <a:srgbClr val="FFFFFF"/>
                      </a:solidFill>
                      <a:prstDash val="solid"/>
                    </a:lnR>
                    <a:lnT w="9360">
                      <a:solidFill>
                        <a:srgbClr val="FFFFFF"/>
                      </a:solidFill>
                      <a:prstDash val="solid"/>
                    </a:lnT>
                    <a:lnB w="9360">
                      <a:solidFill>
                        <a:srgbClr val="D3D3D3"/>
                      </a:solidFill>
                      <a:prstDash val="solid"/>
                    </a:lnB>
                    <a:solidFill>
                      <a:srgbClr val="002060"/>
                    </a:solidFill>
                  </a:tcPr>
                </a:tc>
                <a:tc>
                  <a:txBody>
                    <a:bodyPr lIns="75960" tIns="75960" rIns="75960" bIns="75960" anchor="b">
                      <a:noAutofit/>
                    </a:bodyPr>
                    <a:p>
                      <a:pPr algn="ctr">
                        <a:lnSpc>
                          <a:spcPct val="100000"/>
                        </a:lnSpc>
                        <a:tabLst>
                          <a:tab pos="0" algn="l"/>
                        </a:tabLst>
                      </a:pPr>
                      <a:r>
                        <a:rPr lang="en-US" sz="1400" b="1" u="none" strike="noStrike">
                          <a:solidFill>
                            <a:srgbClr val="FFFFFF"/>
                          </a:solidFill>
                          <a:effectLst/>
                          <a:highlight>
                            <a:srgbClr val="002060"/>
                          </a:highlight>
                          <a:uFillTx/>
                          <a:latin typeface="Calibri"/>
                          <a:ea typeface="Calibri"/>
                        </a:rPr>
                        <a:t>Methodology</a:t>
                      </a:r>
                      <a:endParaRPr lang="en-US" sz="1400" b="0" u="none" strike="noStrike">
                        <a:solidFill>
                          <a:srgbClr val="FFFFFF"/>
                        </a:solidFill>
                        <a:effectLst/>
                        <a:uFillTx/>
                        <a:latin typeface="Arial"/>
                      </a:endParaRPr>
                    </a:p>
                  </a:txBody>
                  <a:tcPr anchor="b" marL="75960" marR="75960" marT="75960" marB="75960">
                    <a:lnL w="9360">
                      <a:solidFill>
                        <a:srgbClr val="FFFFFF"/>
                      </a:solidFill>
                      <a:prstDash val="solid"/>
                    </a:lnL>
                    <a:lnR w="9360">
                      <a:solidFill>
                        <a:srgbClr val="FFFFFF"/>
                      </a:solidFill>
                      <a:prstDash val="solid"/>
                    </a:lnR>
                    <a:lnT w="9360">
                      <a:solidFill>
                        <a:srgbClr val="FFFFFF"/>
                      </a:solidFill>
                      <a:prstDash val="solid"/>
                    </a:lnT>
                    <a:lnB w="9360">
                      <a:solidFill>
                        <a:srgbClr val="D3D3D3"/>
                      </a:solidFill>
                      <a:prstDash val="solid"/>
                    </a:lnB>
                    <a:solidFill>
                      <a:srgbClr val="002060"/>
                    </a:solidFill>
                  </a:tcPr>
                </a:tc>
              </a:tr>
              <a:tr h="2095200">
                <a:tc>
                  <a:txBody>
                    <a:bodyPr lIns="114120" tIns="114120" rIns="114120" bIns="114120" anchor="t">
                      <a:noAutofit/>
                    </a:bodyPr>
                    <a:p>
                      <a:pPr>
                        <a:lnSpc>
                          <a:spcPct val="100000"/>
                        </a:lnSpc>
                        <a:tabLst>
                          <a:tab pos="0" algn="l"/>
                        </a:tabLst>
                      </a:pPr>
                      <a:r>
                        <a:rPr lang="en-US" sz="1600" b="1" u="none" strike="noStrike">
                          <a:solidFill>
                            <a:srgbClr val="002060"/>
                          </a:solidFill>
                          <a:effectLst/>
                          <a:highlight>
                            <a:srgbClr val="FFFFFF"/>
                          </a:highlight>
                          <a:uFillTx/>
                          <a:latin typeface="Calibri"/>
                          <a:ea typeface="Calibri"/>
                        </a:rPr>
                        <a:t>J. M. B. Haslbeck, L. F. Bringmann, and L. J. Waldorp (2020)</a:t>
                      </a:r>
                      <a:endParaRPr lang="en-US" sz="1600" b="0" u="none" strike="noStrike">
                        <a:solidFill>
                          <a:srgbClr val="000000"/>
                        </a:solidFill>
                        <a:effectLst/>
                        <a:uFillTx/>
                        <a:latin typeface="Arial"/>
                      </a:endParaRPr>
                    </a:p>
                  </a:txBody>
                  <a:tcPr anchor="t" marL="114120" marR="114120" marT="114120" marB="114120">
                    <a:lnL w="9360">
                      <a:solidFill>
                        <a:srgbClr val="D3D3D3"/>
                      </a:solidFill>
                      <a:prstDash val="solid"/>
                    </a:lnL>
                    <a:lnR w="9360">
                      <a:solidFill>
                        <a:srgbClr val="D3D3D3"/>
                      </a:solidFill>
                      <a:prstDash val="solid"/>
                    </a:lnR>
                    <a:lnT w="9360">
                      <a:solidFill>
                        <a:srgbClr val="D3D3D3"/>
                      </a:solidFill>
                      <a:prstDash val="solid"/>
                    </a:lnT>
                    <a:lnB w="9360">
                      <a:solidFill>
                        <a:srgbClr val="D3D3D3"/>
                      </a:solidFill>
                      <a:prstDash val="solid"/>
                    </a:lnB>
                    <a:solidFill>
                      <a:srgbClr val="FFFFFF"/>
                    </a:solidFill>
                  </a:tcPr>
                </a:tc>
                <a:tc>
                  <a:txBody>
                    <a:bodyPr lIns="114120" tIns="114120" rIns="114120" bIns="114120" anchor="t">
                      <a:noAutofit/>
                    </a:bodyPr>
                    <a:p>
                      <a:pPr>
                        <a:lnSpc>
                          <a:spcPct val="100000"/>
                        </a:lnSpc>
                        <a:tabLst>
                          <a:tab pos="0" algn="l"/>
                        </a:tabLst>
                      </a:pPr>
                      <a:r>
                        <a:rPr lang="en-US" sz="1600" b="0" u="none" strike="noStrike">
                          <a:solidFill>
                            <a:srgbClr val="333333"/>
                          </a:solidFill>
                          <a:effectLst/>
                          <a:highlight>
                            <a:srgbClr val="FFFFFF"/>
                          </a:highlight>
                          <a:uFillTx/>
                          <a:latin typeface="Calibri"/>
                          <a:ea typeface="Calibri"/>
                        </a:rPr>
                        <a:t>A Tutorial on Estimating Time-Varying Vector Autoregressive Model</a:t>
                      </a:r>
                      <a:endParaRPr lang="en-US" sz="1600" b="0" u="none" strike="noStrike">
                        <a:solidFill>
                          <a:srgbClr val="000000"/>
                        </a:solidFill>
                        <a:effectLst/>
                        <a:uFillTx/>
                        <a:latin typeface="Arial"/>
                      </a:endParaRPr>
                    </a:p>
                  </a:txBody>
                  <a:tcPr anchor="t" marL="114120" marR="114120" marT="114120" marB="114120">
                    <a:lnL w="9360">
                      <a:solidFill>
                        <a:srgbClr val="D3D3D3"/>
                      </a:solidFill>
                      <a:prstDash val="solid"/>
                    </a:lnL>
                    <a:lnR w="9360">
                      <a:solidFill>
                        <a:srgbClr val="D3D3D3"/>
                      </a:solidFill>
                      <a:prstDash val="solid"/>
                    </a:lnR>
                    <a:lnT w="9360">
                      <a:solidFill>
                        <a:srgbClr val="D3D3D3"/>
                      </a:solidFill>
                      <a:prstDash val="solid"/>
                    </a:lnT>
                    <a:lnB w="9360">
                      <a:solidFill>
                        <a:srgbClr val="D3D3D3"/>
                      </a:solidFill>
                      <a:prstDash val="solid"/>
                    </a:lnB>
                    <a:solidFill>
                      <a:srgbClr val="FFFFFF"/>
                    </a:solidFill>
                  </a:tcPr>
                </a:tc>
                <a:tc>
                  <a:txBody>
                    <a:bodyPr lIns="114120" tIns="114120" rIns="114120" bIns="114120" anchor="t">
                      <a:noAutofit/>
                    </a:bodyPr>
                    <a:p>
                      <a:pPr>
                        <a:lnSpc>
                          <a:spcPct val="100000"/>
                        </a:lnSpc>
                        <a:tabLst>
                          <a:tab pos="0" algn="l"/>
                        </a:tabLst>
                      </a:pPr>
                      <a:r>
                        <a:rPr lang="en-US" sz="1600" b="0" u="none" strike="noStrike">
                          <a:solidFill>
                            <a:srgbClr val="333333"/>
                          </a:solidFill>
                          <a:effectLst/>
                          <a:highlight>
                            <a:srgbClr val="FFFFFF"/>
                          </a:highlight>
                          <a:uFillTx/>
                          <a:latin typeface="Calibri"/>
                          <a:ea typeface="Calibri"/>
                        </a:rPr>
                        <a:t>• High dependence on Signal-to-Noise ratio.</a:t>
                      </a:r>
                      <a:endParaRPr lang="en-US" sz="1600" b="0" u="none" strike="noStrike">
                        <a:solidFill>
                          <a:srgbClr val="000000"/>
                        </a:solidFill>
                        <a:effectLst/>
                        <a:uFillTx/>
                        <a:latin typeface="Arial"/>
                      </a:endParaRPr>
                    </a:p>
                    <a:p>
                      <a:pPr>
                        <a:lnSpc>
                          <a:spcPct val="100000"/>
                        </a:lnSpc>
                        <a:tabLst>
                          <a:tab pos="0" algn="l"/>
                        </a:tabLst>
                      </a:pPr>
                      <a:br>
                        <a:rPr sz="1600"/>
                      </a:br>
                      <a:r>
                        <a:rPr lang="en-US" sz="1600" b="0" u="none" strike="noStrike">
                          <a:solidFill>
                            <a:srgbClr val="333333"/>
                          </a:solidFill>
                          <a:effectLst/>
                          <a:highlight>
                            <a:srgbClr val="FFFFFF"/>
                          </a:highlight>
                          <a:uFillTx/>
                          <a:latin typeface="Calibri"/>
                          <a:ea typeface="Calibri"/>
                        </a:rPr>
                        <a:t>• Limited to strictly monotone parameters.</a:t>
                      </a:r>
                      <a:endParaRPr lang="en-US" sz="1600" b="0" u="none" strike="noStrike">
                        <a:solidFill>
                          <a:srgbClr val="000000"/>
                        </a:solidFill>
                        <a:effectLst/>
                        <a:uFillTx/>
                        <a:latin typeface="Arial"/>
                      </a:endParaRPr>
                    </a:p>
                    <a:p>
                      <a:pPr>
                        <a:lnSpc>
                          <a:spcPct val="100000"/>
                        </a:lnSpc>
                        <a:tabLst>
                          <a:tab pos="0" algn="l"/>
                        </a:tabLst>
                      </a:pPr>
                      <a:br>
                        <a:rPr sz="1600"/>
                      </a:br>
                      <a:r>
                        <a:rPr lang="en-US" sz="1600" b="0" u="none" strike="noStrike">
                          <a:solidFill>
                            <a:srgbClr val="333333"/>
                          </a:solidFill>
                          <a:effectLst/>
                          <a:highlight>
                            <a:srgbClr val="FFFFFF"/>
                          </a:highlight>
                          <a:uFillTx/>
                          <a:latin typeface="Calibri"/>
                          <a:ea typeface="Calibri"/>
                        </a:rPr>
                        <a:t>• Restricted to VAR models with p = 10 variables and single lag.</a:t>
                      </a:r>
                      <a:endParaRPr lang="en-US" sz="1600" b="0" u="none" strike="noStrike">
                        <a:solidFill>
                          <a:srgbClr val="000000"/>
                        </a:solidFill>
                        <a:effectLst/>
                        <a:uFillTx/>
                        <a:latin typeface="Arial"/>
                      </a:endParaRPr>
                    </a:p>
                  </a:txBody>
                  <a:tcPr anchor="t" marL="114120" marR="114120" marT="114120" marB="114120">
                    <a:lnL w="9360">
                      <a:solidFill>
                        <a:srgbClr val="D3D3D3"/>
                      </a:solidFill>
                      <a:prstDash val="solid"/>
                    </a:lnL>
                    <a:lnR w="9360">
                      <a:solidFill>
                        <a:srgbClr val="D3D3D3"/>
                      </a:solidFill>
                      <a:prstDash val="solid"/>
                    </a:lnR>
                    <a:lnT w="9360">
                      <a:solidFill>
                        <a:srgbClr val="D3D3D3"/>
                      </a:solidFill>
                      <a:prstDash val="solid"/>
                    </a:lnT>
                    <a:lnB w="9360">
                      <a:solidFill>
                        <a:srgbClr val="D3D3D3"/>
                      </a:solidFill>
                      <a:prstDash val="solid"/>
                    </a:lnB>
                    <a:solidFill>
                      <a:srgbClr val="FFFFFF"/>
                    </a:solidFill>
                  </a:tcPr>
                </a:tc>
                <a:tc>
                  <a:txBody>
                    <a:bodyPr lIns="114120" tIns="114120" rIns="114120" bIns="114120" anchor="t">
                      <a:noAutofit/>
                    </a:bodyPr>
                    <a:p>
                      <a:pPr>
                        <a:lnSpc>
                          <a:spcPct val="100000"/>
                        </a:lnSpc>
                        <a:tabLst>
                          <a:tab pos="0" algn="l"/>
                        </a:tabLst>
                      </a:pPr>
                      <a:r>
                        <a:rPr lang="en-US" sz="1600" b="1" u="none" strike="noStrike">
                          <a:solidFill>
                            <a:srgbClr val="333333"/>
                          </a:solidFill>
                          <a:effectLst/>
                          <a:highlight>
                            <a:srgbClr val="FFFFFF"/>
                          </a:highlight>
                          <a:uFillTx/>
                          <a:latin typeface="Calibri"/>
                          <a:ea typeface="Calibri"/>
                        </a:rPr>
                        <a:t>1. </a:t>
                      </a:r>
                      <a:r>
                        <a:rPr lang="en-US" sz="1600" b="1" u="none" strike="noStrike">
                          <a:solidFill>
                            <a:srgbClr val="333333"/>
                          </a:solidFill>
                          <a:effectLst/>
                          <a:uFillTx/>
                          <a:latin typeface="Calibri"/>
                          <a:ea typeface="Calibri"/>
                        </a:rPr>
                        <a:t>Generalized Additive Models (</a:t>
                      </a:r>
                      <a:r>
                        <a:rPr lang="en-US" sz="1600" b="1" u="none" strike="noStrike">
                          <a:solidFill>
                            <a:srgbClr val="333333"/>
                          </a:solidFill>
                          <a:effectLst/>
                          <a:highlight>
                            <a:srgbClr val="FFFFFF"/>
                          </a:highlight>
                          <a:uFillTx/>
                          <a:latin typeface="Calibri"/>
                          <a:ea typeface="Calibri"/>
                        </a:rPr>
                        <a:t>GAM)</a:t>
                      </a:r>
                      <a:endParaRPr lang="en-US" sz="1600" b="0" u="none" strike="noStrike">
                        <a:solidFill>
                          <a:srgbClr val="000000"/>
                        </a:solidFill>
                        <a:effectLst/>
                        <a:uFillTx/>
                        <a:latin typeface="Arial"/>
                      </a:endParaRPr>
                    </a:p>
                    <a:p>
                      <a:pPr>
                        <a:lnSpc>
                          <a:spcPct val="100000"/>
                        </a:lnSpc>
                        <a:tabLst>
                          <a:tab pos="0" algn="l"/>
                        </a:tabLst>
                      </a:pPr>
                      <a:br>
                        <a:rPr sz="1600"/>
                      </a:br>
                      <a:r>
                        <a:rPr lang="en-US" sz="1600" b="1" u="none" strike="noStrike">
                          <a:solidFill>
                            <a:srgbClr val="333333"/>
                          </a:solidFill>
                          <a:effectLst/>
                          <a:highlight>
                            <a:srgbClr val="FFFFFF"/>
                          </a:highlight>
                          <a:uFillTx/>
                          <a:latin typeface="Calibri"/>
                          <a:ea typeface="Calibri"/>
                        </a:rPr>
                        <a:t>2. Kernel-Smoothing (KS)</a:t>
                      </a:r>
                      <a:endParaRPr lang="en-US" sz="1600" b="0" u="none" strike="noStrike">
                        <a:solidFill>
                          <a:srgbClr val="000000"/>
                        </a:solidFill>
                        <a:effectLst/>
                        <a:uFillTx/>
                        <a:latin typeface="Arial"/>
                      </a:endParaRPr>
                    </a:p>
                  </a:txBody>
                  <a:tcPr anchor="t" marL="114120" marR="114120" marT="114120" marB="114120">
                    <a:lnL w="9360">
                      <a:solidFill>
                        <a:srgbClr val="D3D3D3"/>
                      </a:solidFill>
                      <a:prstDash val="solid"/>
                    </a:lnL>
                    <a:lnR w="9360">
                      <a:solidFill>
                        <a:srgbClr val="D3D3D3"/>
                      </a:solidFill>
                      <a:prstDash val="solid"/>
                    </a:lnR>
                    <a:lnT w="9360">
                      <a:solidFill>
                        <a:srgbClr val="D3D3D3"/>
                      </a:solidFill>
                      <a:prstDash val="solid"/>
                    </a:lnT>
                    <a:lnB w="9360">
                      <a:solidFill>
                        <a:srgbClr val="D3D3D3"/>
                      </a:solidFill>
                      <a:prstDash val="solid"/>
                    </a:lnB>
                    <a:solidFill>
                      <a:srgbClr val="FFFFFF"/>
                    </a:solidFill>
                  </a:tcPr>
                </a:tc>
              </a:tr>
              <a:tr h="2095200">
                <a:tc>
                  <a:txBody>
                    <a:bodyPr lIns="114120" tIns="114120" rIns="114120" bIns="114120" anchor="t">
                      <a:noAutofit/>
                    </a:bodyPr>
                    <a:p>
                      <a:pPr>
                        <a:lnSpc>
                          <a:spcPct val="100000"/>
                        </a:lnSpc>
                        <a:tabLst>
                          <a:tab pos="0" algn="l"/>
                        </a:tabLst>
                      </a:pPr>
                      <a:r>
                        <a:rPr lang="en-US" sz="1600" b="1" u="none" strike="noStrike">
                          <a:solidFill>
                            <a:srgbClr val="002060"/>
                          </a:solidFill>
                          <a:effectLst/>
                          <a:highlight>
                            <a:srgbClr val="F7F9FC"/>
                          </a:highlight>
                          <a:uFillTx/>
                          <a:latin typeface="Calibri"/>
                          <a:ea typeface="Calibri"/>
                        </a:rPr>
                        <a:t>R. Abduljabbar, H. Dia, P.-W. Tsai, and S. Liyanage (2021)</a:t>
                      </a:r>
                      <a:endParaRPr lang="en-US" sz="1600" b="0" u="none" strike="noStrike">
                        <a:solidFill>
                          <a:srgbClr val="000000"/>
                        </a:solidFill>
                        <a:effectLst/>
                        <a:uFillTx/>
                        <a:latin typeface="Arial"/>
                      </a:endParaRPr>
                    </a:p>
                  </a:txBody>
                  <a:tcPr anchor="t" marL="114120" marR="114120" marT="114120" marB="114120">
                    <a:lnL w="9360">
                      <a:solidFill>
                        <a:srgbClr val="D3D3D3"/>
                      </a:solidFill>
                      <a:prstDash val="solid"/>
                    </a:lnL>
                    <a:lnR w="9360">
                      <a:solidFill>
                        <a:srgbClr val="D3D3D3"/>
                      </a:solidFill>
                      <a:prstDash val="solid"/>
                    </a:lnR>
                    <a:lnT w="9360">
                      <a:solidFill>
                        <a:srgbClr val="D3D3D3"/>
                      </a:solidFill>
                      <a:prstDash val="solid"/>
                    </a:lnT>
                    <a:lnB w="9360">
                      <a:solidFill>
                        <a:srgbClr val="D3D3D3"/>
                      </a:solidFill>
                      <a:prstDash val="solid"/>
                    </a:lnB>
                    <a:solidFill>
                      <a:srgbClr val="F7F9FC"/>
                    </a:solidFill>
                  </a:tcPr>
                </a:tc>
                <a:tc>
                  <a:txBody>
                    <a:bodyPr lIns="114120" tIns="114120" rIns="114120" bIns="114120" anchor="t">
                      <a:noAutofit/>
                    </a:bodyPr>
                    <a:p>
                      <a:pPr>
                        <a:lnSpc>
                          <a:spcPct val="100000"/>
                        </a:lnSpc>
                        <a:tabLst>
                          <a:tab pos="0" algn="l"/>
                        </a:tabLst>
                      </a:pPr>
                      <a:r>
                        <a:rPr lang="en-US" sz="1600" b="0" u="none" strike="noStrike">
                          <a:solidFill>
                            <a:srgbClr val="333333"/>
                          </a:solidFill>
                          <a:effectLst/>
                          <a:highlight>
                            <a:srgbClr val="F7F9FC"/>
                          </a:highlight>
                          <a:uFillTx/>
                          <a:latin typeface="Calibri"/>
                          <a:ea typeface="Calibri"/>
                        </a:rPr>
                        <a:t>Forecasting the Traffic Flow by Using ARIMA and LSTM Models: Case of Muhima Junction</a:t>
                      </a:r>
                      <a:endParaRPr lang="en-US" sz="1600" b="0" u="none" strike="noStrike">
                        <a:solidFill>
                          <a:srgbClr val="000000"/>
                        </a:solidFill>
                        <a:effectLst/>
                        <a:uFillTx/>
                        <a:latin typeface="Arial"/>
                      </a:endParaRPr>
                    </a:p>
                  </a:txBody>
                  <a:tcPr anchor="t" marL="114120" marR="114120" marT="114120" marB="114120">
                    <a:lnL w="9360">
                      <a:solidFill>
                        <a:srgbClr val="D3D3D3"/>
                      </a:solidFill>
                      <a:prstDash val="solid"/>
                    </a:lnL>
                    <a:lnR w="9360">
                      <a:solidFill>
                        <a:srgbClr val="D3D3D3"/>
                      </a:solidFill>
                      <a:prstDash val="solid"/>
                    </a:lnR>
                    <a:lnT w="9360">
                      <a:solidFill>
                        <a:srgbClr val="D3D3D3"/>
                      </a:solidFill>
                      <a:prstDash val="solid"/>
                    </a:lnT>
                    <a:lnB w="9360">
                      <a:solidFill>
                        <a:srgbClr val="D3D3D3"/>
                      </a:solidFill>
                      <a:prstDash val="solid"/>
                    </a:lnB>
                    <a:solidFill>
                      <a:srgbClr val="F7F9FC"/>
                    </a:solidFill>
                  </a:tcPr>
                </a:tc>
                <a:tc>
                  <a:txBody>
                    <a:bodyPr lIns="114120" tIns="114120" rIns="114120" bIns="114120" anchor="t">
                      <a:noAutofit/>
                    </a:bodyPr>
                    <a:p>
                      <a:pPr>
                        <a:lnSpc>
                          <a:spcPct val="100000"/>
                        </a:lnSpc>
                        <a:tabLst>
                          <a:tab pos="0" algn="l"/>
                        </a:tabLst>
                      </a:pPr>
                      <a:r>
                        <a:rPr lang="en-US" sz="1600" b="0" u="none" strike="noStrike">
                          <a:solidFill>
                            <a:srgbClr val="333333"/>
                          </a:solidFill>
                          <a:effectLst/>
                          <a:highlight>
                            <a:srgbClr val="F7F9FC"/>
                          </a:highlight>
                          <a:uFillTx/>
                          <a:latin typeface="Calibri"/>
                          <a:ea typeface="Calibri"/>
                        </a:rPr>
                        <a:t>• Mixed traffic data (mostly non-stationary).</a:t>
                      </a:r>
                      <a:endParaRPr lang="en-US" sz="1600" b="0" u="none" strike="noStrike">
                        <a:solidFill>
                          <a:srgbClr val="000000"/>
                        </a:solidFill>
                        <a:effectLst/>
                        <a:uFillTx/>
                        <a:latin typeface="Arial"/>
                      </a:endParaRPr>
                    </a:p>
                    <a:p>
                      <a:pPr>
                        <a:lnSpc>
                          <a:spcPct val="100000"/>
                        </a:lnSpc>
                        <a:tabLst>
                          <a:tab pos="0" algn="l"/>
                        </a:tabLst>
                      </a:pPr>
                      <a:br>
                        <a:rPr sz="1600"/>
                      </a:br>
                      <a:r>
                        <a:rPr lang="en-US" sz="1600" b="0" u="none" strike="noStrike">
                          <a:solidFill>
                            <a:srgbClr val="333333"/>
                          </a:solidFill>
                          <a:effectLst/>
                          <a:highlight>
                            <a:srgbClr val="F7F9FC"/>
                          </a:highlight>
                          <a:uFillTx/>
                          <a:latin typeface="Calibri"/>
                          <a:ea typeface="Calibri"/>
                        </a:rPr>
                        <a:t>• Ignores environmental factors due to data limits.</a:t>
                      </a:r>
                      <a:endParaRPr lang="en-US" sz="1600" b="0" u="none" strike="noStrike">
                        <a:solidFill>
                          <a:srgbClr val="000000"/>
                        </a:solidFill>
                        <a:effectLst/>
                        <a:uFillTx/>
                        <a:latin typeface="Arial"/>
                      </a:endParaRPr>
                    </a:p>
                  </a:txBody>
                  <a:tcPr anchor="t" marL="114120" marR="114120" marT="114120" marB="114120">
                    <a:lnL w="9360">
                      <a:solidFill>
                        <a:srgbClr val="D3D3D3"/>
                      </a:solidFill>
                      <a:prstDash val="solid"/>
                    </a:lnL>
                    <a:lnR w="9360">
                      <a:solidFill>
                        <a:srgbClr val="D3D3D3"/>
                      </a:solidFill>
                      <a:prstDash val="solid"/>
                    </a:lnR>
                    <a:lnT w="9360">
                      <a:solidFill>
                        <a:srgbClr val="D3D3D3"/>
                      </a:solidFill>
                      <a:prstDash val="solid"/>
                    </a:lnT>
                    <a:lnB w="9360">
                      <a:solidFill>
                        <a:srgbClr val="D3D3D3"/>
                      </a:solidFill>
                      <a:prstDash val="solid"/>
                    </a:lnB>
                    <a:solidFill>
                      <a:srgbClr val="F7F9FC"/>
                    </a:solidFill>
                  </a:tcPr>
                </a:tc>
                <a:tc>
                  <a:txBody>
                    <a:bodyPr lIns="114120" tIns="114120" rIns="114120" bIns="114120" anchor="t">
                      <a:noAutofit/>
                    </a:bodyPr>
                    <a:p>
                      <a:pPr>
                        <a:lnSpc>
                          <a:spcPct val="100000"/>
                        </a:lnSpc>
                        <a:tabLst>
                          <a:tab pos="0" algn="l"/>
                        </a:tabLst>
                      </a:pPr>
                      <a:r>
                        <a:rPr lang="en-US" sz="1600" b="0" u="none" strike="noStrike">
                          <a:solidFill>
                            <a:srgbClr val="333333"/>
                          </a:solidFill>
                          <a:effectLst/>
                          <a:highlight>
                            <a:srgbClr val="F7F9FC"/>
                          </a:highlight>
                          <a:uFillTx/>
                          <a:latin typeface="Calibri"/>
                          <a:ea typeface="Calibri"/>
                        </a:rPr>
                        <a:t>1. ARIMA filters noise to predict linear trends.</a:t>
                      </a:r>
                      <a:endParaRPr lang="en-US" sz="1600" b="0" u="none" strike="noStrike">
                        <a:solidFill>
                          <a:srgbClr val="000000"/>
                        </a:solidFill>
                        <a:effectLst/>
                        <a:uFillTx/>
                        <a:latin typeface="Arial"/>
                      </a:endParaRPr>
                    </a:p>
                    <a:p>
                      <a:pPr>
                        <a:lnSpc>
                          <a:spcPct val="100000"/>
                        </a:lnSpc>
                        <a:tabLst>
                          <a:tab pos="0" algn="l"/>
                        </a:tabLst>
                      </a:pPr>
                      <a:br>
                        <a:rPr sz="1600"/>
                      </a:br>
                      <a:r>
                        <a:rPr lang="en-US" sz="1600" b="0" u="none" strike="noStrike">
                          <a:solidFill>
                            <a:srgbClr val="333333"/>
                          </a:solidFill>
                          <a:effectLst/>
                          <a:highlight>
                            <a:srgbClr val="F7F9FC"/>
                          </a:highlight>
                          <a:uFillTx/>
                          <a:latin typeface="Calibri"/>
                          <a:ea typeface="Calibri"/>
                        </a:rPr>
                        <a:t>2. LSTM captures complex, non-linear traffic patterns.</a:t>
                      </a:r>
                      <a:endParaRPr lang="en-US" sz="1600" b="0" u="none" strike="noStrike">
                        <a:solidFill>
                          <a:srgbClr val="000000"/>
                        </a:solidFill>
                        <a:effectLst/>
                        <a:uFillTx/>
                        <a:latin typeface="Arial"/>
                      </a:endParaRPr>
                    </a:p>
                  </a:txBody>
                  <a:tcPr anchor="t" marL="114120" marR="114120" marT="114120" marB="114120">
                    <a:lnL w="9360">
                      <a:solidFill>
                        <a:srgbClr val="D3D3D3"/>
                      </a:solidFill>
                      <a:prstDash val="solid"/>
                    </a:lnL>
                    <a:lnR w="9360">
                      <a:solidFill>
                        <a:srgbClr val="D3D3D3"/>
                      </a:solidFill>
                      <a:prstDash val="solid"/>
                    </a:lnR>
                    <a:lnT w="9360">
                      <a:solidFill>
                        <a:srgbClr val="D3D3D3"/>
                      </a:solidFill>
                      <a:prstDash val="solid"/>
                    </a:lnT>
                    <a:lnB w="9360">
                      <a:solidFill>
                        <a:srgbClr val="D3D3D3"/>
                      </a:solidFill>
                      <a:prstDash val="solid"/>
                    </a:lnB>
                    <a:solidFill>
                      <a:srgbClr val="F7F9FC"/>
                    </a:solidFill>
                  </a:tcPr>
                </a:tc>
              </a:tr>
            </a:tbl>
          </a:graphicData>
        </a:graphic>
      </p:graphicFrame>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title"/>
          </p:nvPr>
        </p:nvSpPr>
        <p:spPr>
          <a:xfrm>
            <a:off x="0" y="333360"/>
            <a:ext cx="12191040" cy="570600"/>
          </a:xfrm>
          <a:prstGeom prst="rect">
            <a:avLst/>
          </a:prstGeom>
          <a:noFill/>
          <a:ln w="0">
            <a:noFill/>
          </a:ln>
        </p:spPr>
        <p:txBody>
          <a:bodyPr lIns="0" tIns="0" rIns="0" bIns="0" anchor="ctr">
            <a:normAutofit/>
          </a:bodyPr>
          <a:p>
            <a:pPr indent="0" algn="ctr">
              <a:lnSpc>
                <a:spcPct val="100000"/>
              </a:lnSpc>
              <a:buNone/>
              <a:tabLst>
                <a:tab pos="0" algn="l"/>
              </a:tabLst>
            </a:pPr>
            <a:r>
              <a:rPr lang="en-US" sz="3600" b="1" u="none" strike="noStrike">
                <a:solidFill>
                  <a:srgbClr val="002060"/>
                </a:solidFill>
                <a:effectLst/>
                <a:uFillTx/>
                <a:latin typeface="Calibri"/>
                <a:ea typeface="Calibri"/>
              </a:rPr>
              <a:t>SUMMARY OF RELATED WORKS CONT...</a:t>
            </a:r>
            <a:endParaRPr lang="en-US" sz="3600" b="0" u="none" strike="noStrike">
              <a:solidFill>
                <a:srgbClr val="000000"/>
              </a:solidFill>
              <a:effectLst/>
              <a:uFillTx/>
              <a:latin typeface="Arial"/>
            </a:endParaRPr>
          </a:p>
        </p:txBody>
      </p:sp>
      <p:sp>
        <p:nvSpPr>
          <p:cNvPr id="296" name="Google Shape;364;p8"/>
          <p:cNvSpPr/>
          <p:nvPr/>
        </p:nvSpPr>
        <p:spPr>
          <a:xfrm>
            <a:off x="571680" y="6176880"/>
            <a:ext cx="951480" cy="6775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FFFFFF"/>
                </a:solidFill>
                <a:effectLst/>
                <a:uFillTx/>
                <a:latin typeface="Calibri"/>
                <a:ea typeface="Calibri"/>
              </a:rPr>
              <a:t>Page 10</a:t>
            </a:r>
            <a:endParaRPr lang="en-US" sz="1400" b="0" u="none" strike="noStrike">
              <a:solidFill>
                <a:srgbClr val="FFFFFF"/>
              </a:solidFill>
              <a:effectLst/>
              <a:uFillTx/>
              <a:latin typeface="Arial"/>
            </a:endParaRPr>
          </a:p>
        </p:txBody>
      </p:sp>
      <p:graphicFrame>
        <p:nvGraphicFramePr>
          <p:cNvPr id="297" name="Google Shape;365;p8"/>
          <p:cNvGraphicFramePr/>
          <p:nvPr/>
        </p:nvGraphicFramePr>
        <p:xfrm>
          <a:off x="365040" y="961920"/>
          <a:ext cx="11238120" cy="5076360"/>
        </p:xfrm>
        <a:graphic>
          <a:graphicData uri="http://schemas.openxmlformats.org/drawingml/2006/table">
            <a:tbl>
              <a:tblPr/>
              <a:tblGrid>
                <a:gridCol w="2381040"/>
                <a:gridCol w="2761920"/>
                <a:gridCol w="3047760"/>
                <a:gridCol w="3047760"/>
              </a:tblGrid>
              <a:tr h="475920">
                <a:tc>
                  <a:txBody>
                    <a:bodyPr lIns="75960" tIns="75960" rIns="75960" bIns="75960" anchor="b">
                      <a:noAutofit/>
                    </a:bodyPr>
                    <a:p>
                      <a:pPr algn="ctr">
                        <a:lnSpc>
                          <a:spcPct val="100000"/>
                        </a:lnSpc>
                        <a:tabLst>
                          <a:tab pos="0" algn="l"/>
                        </a:tabLst>
                      </a:pPr>
                      <a:r>
                        <a:rPr lang="en-US" sz="1400" b="1" u="none" strike="noStrike">
                          <a:solidFill>
                            <a:srgbClr val="FFFFFF"/>
                          </a:solidFill>
                          <a:effectLst/>
                          <a:highlight>
                            <a:srgbClr val="002060"/>
                          </a:highlight>
                          <a:uFillTx/>
                          <a:latin typeface="Calibri"/>
                          <a:ea typeface="Calibri"/>
                        </a:rPr>
                        <a:t>Author(s) &amp; Year</a:t>
                      </a:r>
                      <a:endParaRPr lang="en-US" sz="1400" b="0" u="none" strike="noStrike">
                        <a:solidFill>
                          <a:srgbClr val="FFFFFF"/>
                        </a:solidFill>
                        <a:effectLst/>
                        <a:uFillTx/>
                        <a:latin typeface="Arial"/>
                      </a:endParaRPr>
                    </a:p>
                  </a:txBody>
                  <a:tcPr anchor="b" marL="75960" marR="75960" marT="75960" marB="75960">
                    <a:lnL w="9360">
                      <a:solidFill>
                        <a:srgbClr val="FFFFFF"/>
                      </a:solidFill>
                      <a:prstDash val="solid"/>
                    </a:lnL>
                    <a:lnR w="9360">
                      <a:solidFill>
                        <a:srgbClr val="FFFFFF"/>
                      </a:solidFill>
                      <a:prstDash val="solid"/>
                    </a:lnR>
                    <a:lnT w="9360">
                      <a:solidFill>
                        <a:srgbClr val="FFFFFF"/>
                      </a:solidFill>
                      <a:prstDash val="solid"/>
                    </a:lnT>
                    <a:lnB w="9360">
                      <a:solidFill>
                        <a:srgbClr val="D3D3D3"/>
                      </a:solidFill>
                      <a:prstDash val="solid"/>
                    </a:lnB>
                    <a:solidFill>
                      <a:srgbClr val="002060"/>
                    </a:solidFill>
                  </a:tcPr>
                </a:tc>
                <a:tc>
                  <a:txBody>
                    <a:bodyPr lIns="75960" tIns="75960" rIns="75960" bIns="75960" anchor="b">
                      <a:noAutofit/>
                    </a:bodyPr>
                    <a:p>
                      <a:pPr algn="ctr">
                        <a:lnSpc>
                          <a:spcPct val="100000"/>
                        </a:lnSpc>
                        <a:tabLst>
                          <a:tab pos="0" algn="l"/>
                        </a:tabLst>
                      </a:pPr>
                      <a:r>
                        <a:rPr lang="en-US" sz="1400" b="1" u="none" strike="noStrike">
                          <a:solidFill>
                            <a:srgbClr val="FFFFFF"/>
                          </a:solidFill>
                          <a:effectLst/>
                          <a:highlight>
                            <a:srgbClr val="002060"/>
                          </a:highlight>
                          <a:uFillTx/>
                          <a:latin typeface="Calibri"/>
                          <a:ea typeface="Calibri"/>
                        </a:rPr>
                        <a:t>Research Topic</a:t>
                      </a:r>
                      <a:endParaRPr lang="en-US" sz="1400" b="0" u="none" strike="noStrike">
                        <a:solidFill>
                          <a:srgbClr val="FFFFFF"/>
                        </a:solidFill>
                        <a:effectLst/>
                        <a:uFillTx/>
                        <a:latin typeface="Arial"/>
                      </a:endParaRPr>
                    </a:p>
                  </a:txBody>
                  <a:tcPr anchor="b" marL="75960" marR="75960" marT="75960" marB="75960">
                    <a:lnL w="9360">
                      <a:solidFill>
                        <a:srgbClr val="FFFFFF"/>
                      </a:solidFill>
                      <a:prstDash val="solid"/>
                    </a:lnL>
                    <a:lnR w="9360">
                      <a:solidFill>
                        <a:srgbClr val="FFFFFF"/>
                      </a:solidFill>
                      <a:prstDash val="solid"/>
                    </a:lnR>
                    <a:lnT w="9360">
                      <a:solidFill>
                        <a:srgbClr val="FFFFFF"/>
                      </a:solidFill>
                      <a:prstDash val="solid"/>
                    </a:lnT>
                    <a:lnB w="9360">
                      <a:solidFill>
                        <a:srgbClr val="D3D3D3"/>
                      </a:solidFill>
                      <a:prstDash val="solid"/>
                    </a:lnB>
                    <a:solidFill>
                      <a:srgbClr val="002060"/>
                    </a:solidFill>
                  </a:tcPr>
                </a:tc>
                <a:tc>
                  <a:txBody>
                    <a:bodyPr lIns="75960" tIns="75960" rIns="75960" bIns="75960" anchor="b">
                      <a:noAutofit/>
                    </a:bodyPr>
                    <a:p>
                      <a:pPr algn="ctr">
                        <a:lnSpc>
                          <a:spcPct val="100000"/>
                        </a:lnSpc>
                        <a:tabLst>
                          <a:tab pos="0" algn="l"/>
                        </a:tabLst>
                      </a:pPr>
                      <a:r>
                        <a:rPr lang="en-US" sz="1400" b="1" u="none" strike="noStrike">
                          <a:solidFill>
                            <a:srgbClr val="FFFFFF"/>
                          </a:solidFill>
                          <a:effectLst/>
                          <a:highlight>
                            <a:srgbClr val="002060"/>
                          </a:highlight>
                          <a:uFillTx/>
                          <a:latin typeface="Calibri"/>
                          <a:ea typeface="Calibri"/>
                        </a:rPr>
                        <a:t>Limitation</a:t>
                      </a:r>
                      <a:endParaRPr lang="en-US" sz="1400" b="0" u="none" strike="noStrike">
                        <a:solidFill>
                          <a:srgbClr val="FFFFFF"/>
                        </a:solidFill>
                        <a:effectLst/>
                        <a:uFillTx/>
                        <a:latin typeface="Arial"/>
                      </a:endParaRPr>
                    </a:p>
                  </a:txBody>
                  <a:tcPr anchor="b" marL="75960" marR="75960" marT="75960" marB="75960">
                    <a:lnL w="9360">
                      <a:solidFill>
                        <a:srgbClr val="FFFFFF"/>
                      </a:solidFill>
                      <a:prstDash val="solid"/>
                    </a:lnL>
                    <a:lnR w="9360">
                      <a:solidFill>
                        <a:srgbClr val="FFFFFF"/>
                      </a:solidFill>
                      <a:prstDash val="solid"/>
                    </a:lnR>
                    <a:lnT w="9360">
                      <a:solidFill>
                        <a:srgbClr val="FFFFFF"/>
                      </a:solidFill>
                      <a:prstDash val="solid"/>
                    </a:lnT>
                    <a:lnB w="9360">
                      <a:solidFill>
                        <a:srgbClr val="D3D3D3"/>
                      </a:solidFill>
                      <a:prstDash val="solid"/>
                    </a:lnB>
                    <a:solidFill>
                      <a:srgbClr val="002060"/>
                    </a:solidFill>
                  </a:tcPr>
                </a:tc>
                <a:tc>
                  <a:txBody>
                    <a:bodyPr lIns="75960" tIns="75960" rIns="75960" bIns="75960" anchor="b">
                      <a:noAutofit/>
                    </a:bodyPr>
                    <a:p>
                      <a:pPr algn="ctr">
                        <a:lnSpc>
                          <a:spcPct val="100000"/>
                        </a:lnSpc>
                        <a:tabLst>
                          <a:tab pos="0" algn="l"/>
                        </a:tabLst>
                      </a:pPr>
                      <a:r>
                        <a:rPr lang="en-US" sz="1400" b="1" u="none" strike="noStrike">
                          <a:solidFill>
                            <a:srgbClr val="FFFFFF"/>
                          </a:solidFill>
                          <a:effectLst/>
                          <a:highlight>
                            <a:srgbClr val="002060"/>
                          </a:highlight>
                          <a:uFillTx/>
                          <a:latin typeface="Calibri"/>
                          <a:ea typeface="Calibri"/>
                        </a:rPr>
                        <a:t>Methodology</a:t>
                      </a:r>
                      <a:endParaRPr lang="en-US" sz="1400" b="0" u="none" strike="noStrike">
                        <a:solidFill>
                          <a:srgbClr val="FFFFFF"/>
                        </a:solidFill>
                        <a:effectLst/>
                        <a:uFillTx/>
                        <a:latin typeface="Arial"/>
                      </a:endParaRPr>
                    </a:p>
                  </a:txBody>
                  <a:tcPr anchor="b" marL="75960" marR="75960" marT="75960" marB="75960">
                    <a:lnL w="9360">
                      <a:solidFill>
                        <a:srgbClr val="FFFFFF"/>
                      </a:solidFill>
                      <a:prstDash val="solid"/>
                    </a:lnL>
                    <a:lnR w="9360">
                      <a:solidFill>
                        <a:srgbClr val="FFFFFF"/>
                      </a:solidFill>
                      <a:prstDash val="solid"/>
                    </a:lnR>
                    <a:lnT w="9360">
                      <a:solidFill>
                        <a:srgbClr val="FFFFFF"/>
                      </a:solidFill>
                      <a:prstDash val="solid"/>
                    </a:lnT>
                    <a:lnB w="9360">
                      <a:solidFill>
                        <a:srgbClr val="D3D3D3"/>
                      </a:solidFill>
                      <a:prstDash val="solid"/>
                    </a:lnB>
                    <a:solidFill>
                      <a:srgbClr val="002060"/>
                    </a:solidFill>
                  </a:tcPr>
                </a:tc>
              </a:tr>
              <a:tr h="2095200">
                <a:tc>
                  <a:txBody>
                    <a:bodyPr lIns="114120" tIns="114120" rIns="114120" bIns="114120" anchor="t">
                      <a:noAutofit/>
                    </a:bodyPr>
                    <a:p>
                      <a:pPr>
                        <a:lnSpc>
                          <a:spcPct val="100000"/>
                        </a:lnSpc>
                        <a:tabLst>
                          <a:tab pos="0" algn="l"/>
                        </a:tabLst>
                      </a:pPr>
                      <a:r>
                        <a:rPr lang="en-US" sz="1600" b="1" u="none" strike="noStrike">
                          <a:solidFill>
                            <a:srgbClr val="002060"/>
                          </a:solidFill>
                          <a:effectLst/>
                          <a:highlight>
                            <a:srgbClr val="FFFFFF"/>
                          </a:highlight>
                          <a:uFillTx/>
                          <a:latin typeface="Calibri"/>
                          <a:ea typeface="Calibri"/>
                        </a:rPr>
                        <a:t>E. Owoeye, T. Komolafe, I. Oke, S. Adegbola, I. Adeyemo, and A. Saka (2025)</a:t>
                      </a:r>
                      <a:endParaRPr lang="en-US" sz="1600" b="0" u="none" strike="noStrike">
                        <a:solidFill>
                          <a:srgbClr val="000000"/>
                        </a:solidFill>
                        <a:effectLst/>
                        <a:uFillTx/>
                        <a:latin typeface="Arial"/>
                      </a:endParaRPr>
                    </a:p>
                  </a:txBody>
                  <a:tcPr anchor="t" marL="114120" marR="114120" marT="114120" marB="114120">
                    <a:lnL w="9360">
                      <a:solidFill>
                        <a:srgbClr val="D3D3D3"/>
                      </a:solidFill>
                      <a:prstDash val="solid"/>
                    </a:lnL>
                    <a:lnR w="9360">
                      <a:solidFill>
                        <a:srgbClr val="D3D3D3"/>
                      </a:solidFill>
                      <a:prstDash val="solid"/>
                    </a:lnR>
                    <a:lnT w="9360">
                      <a:solidFill>
                        <a:srgbClr val="D3D3D3"/>
                      </a:solidFill>
                      <a:prstDash val="solid"/>
                    </a:lnT>
                    <a:lnB w="9360">
                      <a:solidFill>
                        <a:srgbClr val="D3D3D3"/>
                      </a:solidFill>
                      <a:prstDash val="solid"/>
                    </a:lnB>
                    <a:solidFill>
                      <a:srgbClr val="FFFFFF"/>
                    </a:solidFill>
                  </a:tcPr>
                </a:tc>
                <a:tc>
                  <a:txBody>
                    <a:bodyPr lIns="114120" tIns="114120" rIns="114120" bIns="114120" anchor="t">
                      <a:noAutofit/>
                    </a:bodyPr>
                    <a:p>
                      <a:pPr>
                        <a:lnSpc>
                          <a:spcPct val="100000"/>
                        </a:lnSpc>
                        <a:tabLst>
                          <a:tab pos="0" algn="l"/>
                        </a:tabLst>
                      </a:pPr>
                      <a:r>
                        <a:rPr lang="en-US" sz="1600" b="0" u="none" strike="noStrike">
                          <a:solidFill>
                            <a:srgbClr val="333333"/>
                          </a:solidFill>
                          <a:effectLst/>
                          <a:highlight>
                            <a:srgbClr val="FFFFFF"/>
                          </a:highlight>
                          <a:uFillTx/>
                          <a:latin typeface="Calibri"/>
                          <a:ea typeface="Calibri"/>
                        </a:rPr>
                        <a:t>Adaptive Hybrid Routing for Wireless Mesh Networks in Smart Grid</a:t>
                      </a:r>
                      <a:endParaRPr lang="en-US" sz="1600" b="0" u="none" strike="noStrike">
                        <a:solidFill>
                          <a:srgbClr val="000000"/>
                        </a:solidFill>
                        <a:effectLst/>
                        <a:uFillTx/>
                        <a:latin typeface="Arial"/>
                      </a:endParaRPr>
                    </a:p>
                  </a:txBody>
                  <a:tcPr anchor="t" marL="114120" marR="114120" marT="114120" marB="114120">
                    <a:lnL w="9360">
                      <a:solidFill>
                        <a:srgbClr val="D3D3D3"/>
                      </a:solidFill>
                      <a:prstDash val="solid"/>
                    </a:lnL>
                    <a:lnR w="9360">
                      <a:solidFill>
                        <a:srgbClr val="D3D3D3"/>
                      </a:solidFill>
                      <a:prstDash val="solid"/>
                    </a:lnR>
                    <a:lnT w="9360">
                      <a:solidFill>
                        <a:srgbClr val="D3D3D3"/>
                      </a:solidFill>
                      <a:prstDash val="solid"/>
                    </a:lnT>
                    <a:lnB w="9360">
                      <a:solidFill>
                        <a:srgbClr val="D3D3D3"/>
                      </a:solidFill>
                      <a:prstDash val="solid"/>
                    </a:lnB>
                    <a:solidFill>
                      <a:srgbClr val="FFFFFF"/>
                    </a:solidFill>
                  </a:tcPr>
                </a:tc>
                <a:tc>
                  <a:txBody>
                    <a:bodyPr lIns="114120" tIns="114120" rIns="114120" bIns="114120" anchor="t">
                      <a:noAutofit/>
                    </a:bodyPr>
                    <a:p>
                      <a:pPr>
                        <a:lnSpc>
                          <a:spcPct val="100000"/>
                        </a:lnSpc>
                        <a:tabLst>
                          <a:tab pos="0" algn="l"/>
                        </a:tabLst>
                      </a:pPr>
                      <a:r>
                        <a:rPr lang="en-US" sz="1600" b="0" u="none" strike="noStrike">
                          <a:solidFill>
                            <a:srgbClr val="333333"/>
                          </a:solidFill>
                          <a:effectLst/>
                          <a:highlight>
                            <a:srgbClr val="FFFFFF"/>
                          </a:highlight>
                          <a:uFillTx/>
                          <a:latin typeface="Calibri"/>
                          <a:ea typeface="Calibri"/>
                        </a:rPr>
                        <a:t>• High computational overhead on resource-constrained routers.</a:t>
                      </a:r>
                      <a:endParaRPr lang="en-US" sz="1600" b="0" u="none" strike="noStrike">
                        <a:solidFill>
                          <a:srgbClr val="000000"/>
                        </a:solidFill>
                        <a:effectLst/>
                        <a:uFillTx/>
                        <a:latin typeface="Arial"/>
                      </a:endParaRPr>
                    </a:p>
                    <a:p>
                      <a:pPr>
                        <a:lnSpc>
                          <a:spcPct val="100000"/>
                        </a:lnSpc>
                        <a:tabLst>
                          <a:tab pos="0" algn="l"/>
                        </a:tabLst>
                      </a:pPr>
                      <a:br>
                        <a:rPr sz="1600"/>
                      </a:br>
                      <a:r>
                        <a:rPr lang="en-US" sz="1600" b="0" u="none" strike="noStrike">
                          <a:solidFill>
                            <a:srgbClr val="333333"/>
                          </a:solidFill>
                          <a:effectLst/>
                          <a:highlight>
                            <a:srgbClr val="FFFFFF"/>
                          </a:highlight>
                          <a:uFillTx/>
                          <a:latin typeface="Calibri"/>
                          <a:ea typeface="Calibri"/>
                        </a:rPr>
                        <a:t>• ML model performance is highly dependent on training data quality and quantity.</a:t>
                      </a:r>
                      <a:endParaRPr lang="en-US" sz="1600" b="0" u="none" strike="noStrike">
                        <a:solidFill>
                          <a:srgbClr val="000000"/>
                        </a:solidFill>
                        <a:effectLst/>
                        <a:uFillTx/>
                        <a:latin typeface="Arial"/>
                      </a:endParaRPr>
                    </a:p>
                  </a:txBody>
                  <a:tcPr anchor="t" marL="114120" marR="114120" marT="114120" marB="114120">
                    <a:lnL w="9360">
                      <a:solidFill>
                        <a:srgbClr val="D3D3D3"/>
                      </a:solidFill>
                      <a:prstDash val="solid"/>
                    </a:lnL>
                    <a:lnR w="9360">
                      <a:solidFill>
                        <a:srgbClr val="D3D3D3"/>
                      </a:solidFill>
                      <a:prstDash val="solid"/>
                    </a:lnR>
                    <a:lnT w="9360">
                      <a:solidFill>
                        <a:srgbClr val="D3D3D3"/>
                      </a:solidFill>
                      <a:prstDash val="solid"/>
                    </a:lnT>
                    <a:lnB w="9360">
                      <a:solidFill>
                        <a:srgbClr val="D3D3D3"/>
                      </a:solidFill>
                      <a:prstDash val="solid"/>
                    </a:lnB>
                    <a:solidFill>
                      <a:srgbClr val="FFFFFF"/>
                    </a:solidFill>
                  </a:tcPr>
                </a:tc>
                <a:tc>
                  <a:txBody>
                    <a:bodyPr lIns="114120" tIns="114120" rIns="114120" bIns="114120" anchor="t">
                      <a:noAutofit/>
                    </a:bodyPr>
                    <a:p>
                      <a:pPr>
                        <a:lnSpc>
                          <a:spcPct val="100000"/>
                        </a:lnSpc>
                        <a:tabLst>
                          <a:tab pos="0" algn="l"/>
                        </a:tabLst>
                      </a:pPr>
                      <a:r>
                        <a:rPr lang="en-US" sz="1600" b="0" u="none" strike="noStrike">
                          <a:solidFill>
                            <a:srgbClr val="333333"/>
                          </a:solidFill>
                          <a:effectLst/>
                          <a:highlight>
                            <a:srgbClr val="FFFFFF"/>
                          </a:highlight>
                          <a:uFillTx/>
                          <a:latin typeface="Calibri"/>
                          <a:ea typeface="Calibri"/>
                        </a:rPr>
                        <a:t>1. Modeled Smart Grid mesh.</a:t>
                      </a:r>
                      <a:endParaRPr lang="en-US" sz="1600" b="0" u="none" strike="noStrike">
                        <a:solidFill>
                          <a:srgbClr val="000000"/>
                        </a:solidFill>
                        <a:effectLst/>
                        <a:uFillTx/>
                        <a:latin typeface="Arial"/>
                      </a:endParaRPr>
                    </a:p>
                    <a:p>
                      <a:pPr>
                        <a:lnSpc>
                          <a:spcPct val="100000"/>
                        </a:lnSpc>
                        <a:tabLst>
                          <a:tab pos="0" algn="l"/>
                        </a:tabLst>
                      </a:pPr>
                      <a:br>
                        <a:rPr sz="1600"/>
                      </a:br>
                      <a:r>
                        <a:rPr lang="en-US" sz="1600" b="0" u="none" strike="noStrike">
                          <a:solidFill>
                            <a:srgbClr val="333333"/>
                          </a:solidFill>
                          <a:effectLst/>
                          <a:highlight>
                            <a:srgbClr val="FFFFFF"/>
                          </a:highlight>
                          <a:uFillTx/>
                          <a:latin typeface="Calibri"/>
                          <a:ea typeface="Calibri"/>
                        </a:rPr>
                        <a:t>2. Combined RPL and GPSR protocols.</a:t>
                      </a:r>
                      <a:endParaRPr lang="en-US" sz="1600" b="0" u="none" strike="noStrike">
                        <a:solidFill>
                          <a:srgbClr val="000000"/>
                        </a:solidFill>
                        <a:effectLst/>
                        <a:uFillTx/>
                        <a:latin typeface="Arial"/>
                      </a:endParaRPr>
                    </a:p>
                    <a:p>
                      <a:pPr>
                        <a:lnSpc>
                          <a:spcPct val="100000"/>
                        </a:lnSpc>
                        <a:tabLst>
                          <a:tab pos="0" algn="l"/>
                        </a:tabLst>
                      </a:pPr>
                      <a:br>
                        <a:rPr sz="1600"/>
                      </a:br>
                      <a:r>
                        <a:rPr lang="en-US" sz="1600" b="0" u="none" strike="noStrike">
                          <a:solidFill>
                            <a:srgbClr val="333333"/>
                          </a:solidFill>
                          <a:effectLst/>
                          <a:highlight>
                            <a:srgbClr val="FFFFFF"/>
                          </a:highlight>
                          <a:uFillTx/>
                          <a:latin typeface="Calibri"/>
                          <a:ea typeface="Calibri"/>
                        </a:rPr>
                        <a:t>3. Integrated Random Forest classifier as dynamic decision engine.</a:t>
                      </a:r>
                      <a:endParaRPr lang="en-US" sz="1600" b="0" u="none" strike="noStrike">
                        <a:solidFill>
                          <a:srgbClr val="000000"/>
                        </a:solidFill>
                        <a:effectLst/>
                        <a:uFillTx/>
                        <a:latin typeface="Arial"/>
                      </a:endParaRPr>
                    </a:p>
                  </a:txBody>
                  <a:tcPr anchor="t" marL="114120" marR="114120" marT="114120" marB="114120">
                    <a:lnL w="9360">
                      <a:solidFill>
                        <a:srgbClr val="D3D3D3"/>
                      </a:solidFill>
                      <a:prstDash val="solid"/>
                    </a:lnL>
                    <a:lnR w="9360">
                      <a:solidFill>
                        <a:srgbClr val="D3D3D3"/>
                      </a:solidFill>
                      <a:prstDash val="solid"/>
                    </a:lnR>
                    <a:lnT w="9360">
                      <a:solidFill>
                        <a:srgbClr val="D3D3D3"/>
                      </a:solidFill>
                      <a:prstDash val="solid"/>
                    </a:lnT>
                    <a:lnB w="9360">
                      <a:solidFill>
                        <a:srgbClr val="D3D3D3"/>
                      </a:solidFill>
                      <a:prstDash val="solid"/>
                    </a:lnB>
                    <a:solidFill>
                      <a:srgbClr val="FFFFFF"/>
                    </a:solidFill>
                  </a:tcPr>
                </a:tc>
              </a:tr>
              <a:tr h="2095200">
                <a:tc>
                  <a:txBody>
                    <a:bodyPr lIns="114120" tIns="114120" rIns="114120" bIns="114120" anchor="t">
                      <a:noAutofit/>
                    </a:bodyPr>
                    <a:p>
                      <a:pPr>
                        <a:lnSpc>
                          <a:spcPct val="100000"/>
                        </a:lnSpc>
                        <a:tabLst>
                          <a:tab pos="0" algn="l"/>
                        </a:tabLst>
                      </a:pPr>
                      <a:r>
                        <a:rPr lang="en-US" sz="1600" b="1" u="none" strike="noStrike">
                          <a:solidFill>
                            <a:srgbClr val="002060"/>
                          </a:solidFill>
                          <a:effectLst/>
                          <a:highlight>
                            <a:srgbClr val="F7F9FC"/>
                          </a:highlight>
                          <a:uFillTx/>
                          <a:latin typeface="Calibri"/>
                          <a:ea typeface="Calibri"/>
                        </a:rPr>
                        <a:t>D. Thakre and S. Awaya (2024)</a:t>
                      </a:r>
                      <a:endParaRPr lang="en-US" sz="1600" b="0" u="none" strike="noStrike">
                        <a:solidFill>
                          <a:srgbClr val="000000"/>
                        </a:solidFill>
                        <a:effectLst/>
                        <a:uFillTx/>
                        <a:latin typeface="Arial"/>
                      </a:endParaRPr>
                    </a:p>
                  </a:txBody>
                  <a:tcPr anchor="t" marL="114120" marR="114120" marT="114120" marB="114120">
                    <a:lnL w="9360">
                      <a:solidFill>
                        <a:srgbClr val="D3D3D3"/>
                      </a:solidFill>
                      <a:prstDash val="solid"/>
                    </a:lnL>
                    <a:lnR w="9360">
                      <a:solidFill>
                        <a:srgbClr val="D3D3D3"/>
                      </a:solidFill>
                      <a:prstDash val="solid"/>
                    </a:lnR>
                    <a:lnT w="9360">
                      <a:solidFill>
                        <a:srgbClr val="D3D3D3"/>
                      </a:solidFill>
                      <a:prstDash val="solid"/>
                    </a:lnT>
                    <a:lnB w="9360">
                      <a:solidFill>
                        <a:srgbClr val="D3D3D3"/>
                      </a:solidFill>
                      <a:prstDash val="solid"/>
                    </a:lnB>
                    <a:solidFill>
                      <a:srgbClr val="F7F9FC"/>
                    </a:solidFill>
                  </a:tcPr>
                </a:tc>
                <a:tc>
                  <a:txBody>
                    <a:bodyPr lIns="114120" tIns="114120" rIns="114120" bIns="114120" anchor="t">
                      <a:noAutofit/>
                    </a:bodyPr>
                    <a:p>
                      <a:pPr>
                        <a:lnSpc>
                          <a:spcPct val="100000"/>
                        </a:lnSpc>
                        <a:tabLst>
                          <a:tab pos="0" algn="l"/>
                        </a:tabLst>
                      </a:pPr>
                      <a:r>
                        <a:rPr lang="en-US" sz="1600" b="0" u="none" strike="noStrike">
                          <a:solidFill>
                            <a:srgbClr val="333333"/>
                          </a:solidFill>
                          <a:effectLst/>
                          <a:highlight>
                            <a:srgbClr val="F7F9FC"/>
                          </a:highlight>
                          <a:uFillTx/>
                          <a:latin typeface="Calibri"/>
                          <a:ea typeface="Calibri"/>
                        </a:rPr>
                        <a:t>Performance Study of AODV, OLSR, and DSDV Routing Protocols in Mobile AD HOC Networks</a:t>
                      </a:r>
                      <a:endParaRPr lang="en-US" sz="1600" b="0" u="none" strike="noStrike">
                        <a:solidFill>
                          <a:srgbClr val="000000"/>
                        </a:solidFill>
                        <a:effectLst/>
                        <a:uFillTx/>
                        <a:latin typeface="Arial"/>
                      </a:endParaRPr>
                    </a:p>
                  </a:txBody>
                  <a:tcPr anchor="t" marL="114120" marR="114120" marT="114120" marB="114120">
                    <a:lnL w="9360">
                      <a:solidFill>
                        <a:srgbClr val="D3D3D3"/>
                      </a:solidFill>
                      <a:prstDash val="solid"/>
                    </a:lnL>
                    <a:lnR w="9360">
                      <a:solidFill>
                        <a:srgbClr val="D3D3D3"/>
                      </a:solidFill>
                      <a:prstDash val="solid"/>
                    </a:lnR>
                    <a:lnT w="9360">
                      <a:solidFill>
                        <a:srgbClr val="D3D3D3"/>
                      </a:solidFill>
                      <a:prstDash val="solid"/>
                    </a:lnT>
                    <a:lnB w="9360">
                      <a:solidFill>
                        <a:srgbClr val="D3D3D3"/>
                      </a:solidFill>
                      <a:prstDash val="solid"/>
                    </a:lnB>
                    <a:solidFill>
                      <a:srgbClr val="F7F9FC"/>
                    </a:solidFill>
                  </a:tcPr>
                </a:tc>
                <a:tc>
                  <a:txBody>
                    <a:bodyPr lIns="114120" tIns="114120" rIns="114120" bIns="114120" anchor="t">
                      <a:noAutofit/>
                    </a:bodyPr>
                    <a:p>
                      <a:pPr>
                        <a:lnSpc>
                          <a:spcPct val="100000"/>
                        </a:lnSpc>
                        <a:tabLst>
                          <a:tab pos="0" algn="l"/>
                        </a:tabLst>
                      </a:pPr>
                      <a:r>
                        <a:rPr lang="en-US" sz="1600" b="0" u="none" strike="noStrike">
                          <a:solidFill>
                            <a:srgbClr val="333333"/>
                          </a:solidFill>
                          <a:effectLst/>
                          <a:highlight>
                            <a:srgbClr val="F7F9FC"/>
                          </a:highlight>
                          <a:uFillTx/>
                          <a:latin typeface="Calibri"/>
                          <a:ea typeface="Calibri"/>
                        </a:rPr>
                        <a:t>• Did not perform original simulations (relied on findings of others).</a:t>
                      </a:r>
                      <a:endParaRPr lang="en-US" sz="1600" b="0" u="none" strike="noStrike">
                        <a:solidFill>
                          <a:srgbClr val="000000"/>
                        </a:solidFill>
                        <a:effectLst/>
                        <a:uFillTx/>
                        <a:latin typeface="Arial"/>
                      </a:endParaRPr>
                    </a:p>
                  </a:txBody>
                  <a:tcPr anchor="t" marL="114120" marR="114120" marT="114120" marB="114120">
                    <a:lnL w="9360">
                      <a:solidFill>
                        <a:srgbClr val="D3D3D3"/>
                      </a:solidFill>
                      <a:prstDash val="solid"/>
                    </a:lnL>
                    <a:lnR w="9360">
                      <a:solidFill>
                        <a:srgbClr val="D3D3D3"/>
                      </a:solidFill>
                      <a:prstDash val="solid"/>
                    </a:lnR>
                    <a:lnT w="9360">
                      <a:solidFill>
                        <a:srgbClr val="D3D3D3"/>
                      </a:solidFill>
                      <a:prstDash val="solid"/>
                    </a:lnT>
                    <a:lnB w="9360">
                      <a:solidFill>
                        <a:srgbClr val="D3D3D3"/>
                      </a:solidFill>
                      <a:prstDash val="solid"/>
                    </a:lnB>
                    <a:solidFill>
                      <a:srgbClr val="F7F9FC"/>
                    </a:solidFill>
                  </a:tcPr>
                </a:tc>
                <a:tc>
                  <a:txBody>
                    <a:bodyPr lIns="114120" tIns="114120" rIns="114120" bIns="114120" anchor="t">
                      <a:noAutofit/>
                    </a:bodyPr>
                    <a:p>
                      <a:pPr>
                        <a:lnSpc>
                          <a:spcPct val="100000"/>
                        </a:lnSpc>
                        <a:tabLst>
                          <a:tab pos="0" algn="l"/>
                        </a:tabLst>
                      </a:pPr>
                      <a:r>
                        <a:rPr lang="en-US" sz="1600" b="0" u="none" strike="noStrike">
                          <a:solidFill>
                            <a:srgbClr val="333333"/>
                          </a:solidFill>
                          <a:effectLst/>
                          <a:highlight>
                            <a:srgbClr val="F7F9FC"/>
                          </a:highlight>
                          <a:uFillTx/>
                          <a:latin typeface="Calibri"/>
                          <a:ea typeface="Calibri"/>
                        </a:rPr>
                        <a:t>1. Simulated MANET using MATLAB.</a:t>
                      </a:r>
                      <a:endParaRPr lang="en-US" sz="1600" b="0" u="none" strike="noStrike">
                        <a:solidFill>
                          <a:srgbClr val="000000"/>
                        </a:solidFill>
                        <a:effectLst/>
                        <a:uFillTx/>
                        <a:latin typeface="Arial"/>
                      </a:endParaRPr>
                    </a:p>
                    <a:p>
                      <a:pPr>
                        <a:lnSpc>
                          <a:spcPct val="100000"/>
                        </a:lnSpc>
                        <a:tabLst>
                          <a:tab pos="0" algn="l"/>
                        </a:tabLst>
                      </a:pPr>
                      <a:br>
                        <a:rPr sz="1600"/>
                      </a:br>
                      <a:r>
                        <a:rPr lang="en-US" sz="1600" b="0" u="none" strike="noStrike">
                          <a:solidFill>
                            <a:srgbClr val="333333"/>
                          </a:solidFill>
                          <a:effectLst/>
                          <a:highlight>
                            <a:srgbClr val="F7F9FC"/>
                          </a:highlight>
                          <a:uFillTx/>
                          <a:latin typeface="Calibri"/>
                          <a:ea typeface="Calibri"/>
                        </a:rPr>
                        <a:t>2. Compared standard OLSR with hybrid OLSR+LEACH.</a:t>
                      </a:r>
                      <a:endParaRPr lang="en-US" sz="1600" b="0" u="none" strike="noStrike">
                        <a:solidFill>
                          <a:srgbClr val="000000"/>
                        </a:solidFill>
                        <a:effectLst/>
                        <a:uFillTx/>
                        <a:latin typeface="Arial"/>
                      </a:endParaRPr>
                    </a:p>
                    <a:p>
                      <a:pPr>
                        <a:lnSpc>
                          <a:spcPct val="100000"/>
                        </a:lnSpc>
                        <a:tabLst>
                          <a:tab pos="0" algn="l"/>
                        </a:tabLst>
                      </a:pPr>
                      <a:br>
                        <a:rPr sz="1600"/>
                      </a:br>
                      <a:r>
                        <a:rPr lang="en-US" sz="1600" b="0" u="none" strike="noStrike">
                          <a:solidFill>
                            <a:srgbClr val="333333"/>
                          </a:solidFill>
                          <a:effectLst/>
                          <a:highlight>
                            <a:srgbClr val="F7F9FC"/>
                          </a:highlight>
                          <a:uFillTx/>
                          <a:latin typeface="Calibri"/>
                          <a:ea typeface="Calibri"/>
                        </a:rPr>
                        <a:t>3. Evaluated Throughput and PDR under varying node counts and areas.</a:t>
                      </a:r>
                      <a:endParaRPr lang="en-US" sz="1600" b="0" u="none" strike="noStrike">
                        <a:solidFill>
                          <a:srgbClr val="000000"/>
                        </a:solidFill>
                        <a:effectLst/>
                        <a:uFillTx/>
                        <a:latin typeface="Arial"/>
                      </a:endParaRPr>
                    </a:p>
                  </a:txBody>
                  <a:tcPr anchor="t" marL="114120" marR="114120" marT="114120" marB="114120">
                    <a:lnL w="9360">
                      <a:solidFill>
                        <a:srgbClr val="D3D3D3"/>
                      </a:solidFill>
                      <a:prstDash val="solid"/>
                    </a:lnL>
                    <a:lnR w="9360">
                      <a:solidFill>
                        <a:srgbClr val="D3D3D3"/>
                      </a:solidFill>
                      <a:prstDash val="solid"/>
                    </a:lnR>
                    <a:lnT w="9360">
                      <a:solidFill>
                        <a:srgbClr val="D3D3D3"/>
                      </a:solidFill>
                      <a:prstDash val="solid"/>
                    </a:lnT>
                    <a:lnB w="9360">
                      <a:solidFill>
                        <a:srgbClr val="D3D3D3"/>
                      </a:solidFill>
                      <a:prstDash val="solid"/>
                    </a:lnB>
                    <a:solidFill>
                      <a:srgbClr val="F7F9FC"/>
                    </a:solidFill>
                  </a:tcPr>
                </a:tc>
              </a:tr>
            </a:tbl>
          </a:graphicData>
        </a:graphic>
      </p:graphicFrame>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Google Shape;370;p9"/>
          <p:cNvSpPr/>
          <p:nvPr/>
        </p:nvSpPr>
        <p:spPr>
          <a:xfrm>
            <a:off x="4038480" y="2334600"/>
            <a:ext cx="3305520" cy="3183480"/>
          </a:xfrm>
          <a:prstGeom prst="ellipse">
            <a:avLst/>
          </a:prstGeom>
          <a:blipFill rotWithShape="0">
            <a:blip r:embed="rId1"/>
            <a:srcRect/>
            <a:stretch/>
          </a:blipFill>
          <a:ln w="0">
            <a:noFill/>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299" name="Google Shape;371;p9"/>
          <p:cNvSpPr/>
          <p:nvPr/>
        </p:nvSpPr>
        <p:spPr>
          <a:xfrm>
            <a:off x="0" y="0"/>
            <a:ext cx="12188520" cy="6173280"/>
          </a:xfrm>
          <a:prstGeom prst="rect">
            <a:avLst/>
          </a:prstGeom>
          <a:solidFill>
            <a:srgbClr val="FFFFCC">
              <a:alpha val="86000"/>
            </a:srgbClr>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300" name="Google Shape;372;p9"/>
          <p:cNvSpPr/>
          <p:nvPr/>
        </p:nvSpPr>
        <p:spPr>
          <a:xfrm>
            <a:off x="0" y="0"/>
            <a:ext cx="9140400" cy="18216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sp>
        <p:nvSpPr>
          <p:cNvPr id="301" name="Google Shape;373;p9"/>
          <p:cNvSpPr/>
          <p:nvPr/>
        </p:nvSpPr>
        <p:spPr>
          <a:xfrm>
            <a:off x="9144000" y="0"/>
            <a:ext cx="3044520" cy="182160"/>
          </a:xfrm>
          <a:prstGeom prst="rect">
            <a:avLst/>
          </a:prstGeom>
          <a:solidFill>
            <a:schemeClr val="accent4"/>
          </a:solidFill>
          <a:ln w="12700">
            <a:solidFill>
              <a:srgbClr val="FFC000"/>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302" name="Google Shape;374;p9"/>
          <p:cNvSpPr/>
          <p:nvPr/>
        </p:nvSpPr>
        <p:spPr>
          <a:xfrm>
            <a:off x="0" y="6176880"/>
            <a:ext cx="12188520" cy="67752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pic>
        <p:nvPicPr>
          <p:cNvPr id="303" name="Google Shape;375;p9"/>
          <p:cNvPicPr/>
          <p:nvPr/>
        </p:nvPicPr>
        <p:blipFill>
          <a:blip r:embed="rId2"/>
          <a:stretch/>
        </p:blipFill>
        <p:spPr>
          <a:xfrm>
            <a:off x="8210520" y="6176880"/>
            <a:ext cx="3978000" cy="681480"/>
          </a:xfrm>
          <a:prstGeom prst="rect">
            <a:avLst/>
          </a:prstGeom>
          <a:noFill/>
          <a:ln w="0">
            <a:noFill/>
          </a:ln>
        </p:spPr>
      </p:pic>
      <p:sp>
        <p:nvSpPr>
          <p:cNvPr id="304" name="PlaceHolder 1"/>
          <p:cNvSpPr>
            <a:spLocks noGrp="1"/>
          </p:cNvSpPr>
          <p:nvPr>
            <p:ph type="title"/>
          </p:nvPr>
        </p:nvSpPr>
        <p:spPr>
          <a:xfrm>
            <a:off x="76320" y="227520"/>
            <a:ext cx="12038400" cy="555120"/>
          </a:xfrm>
          <a:prstGeom prst="rect">
            <a:avLst/>
          </a:prstGeom>
          <a:noFill/>
          <a:ln w="0">
            <a:noFill/>
          </a:ln>
        </p:spPr>
        <p:txBody>
          <a:bodyPr lIns="0" tIns="0" rIns="0" bIns="0" anchor="ctr">
            <a:spAutoFit/>
          </a:bodyPr>
          <a:p>
            <a:pPr indent="0" algn="ctr">
              <a:lnSpc>
                <a:spcPct val="100000"/>
              </a:lnSpc>
              <a:buNone/>
              <a:tabLst>
                <a:tab pos="0" algn="l"/>
              </a:tabLst>
            </a:pPr>
            <a:r>
              <a:rPr lang="en-US" sz="3600" b="1" u="none" strike="noStrike">
                <a:solidFill>
                  <a:srgbClr val="002060"/>
                </a:solidFill>
                <a:effectLst/>
                <a:uFillTx/>
                <a:latin typeface="Calibri"/>
                <a:ea typeface="Calibri"/>
              </a:rPr>
              <a:t>METHODOLOGY</a:t>
            </a:r>
            <a:endParaRPr lang="en-US" sz="3600" b="0" u="none" strike="noStrike">
              <a:solidFill>
                <a:srgbClr val="000000"/>
              </a:solidFill>
              <a:effectLst/>
              <a:uFillTx/>
              <a:latin typeface="Arial"/>
            </a:endParaRPr>
          </a:p>
        </p:txBody>
      </p:sp>
      <p:grpSp>
        <p:nvGrpSpPr>
          <p:cNvPr id="305" name="Google Shape;377;p9"/>
          <p:cNvGrpSpPr/>
          <p:nvPr/>
        </p:nvGrpSpPr>
        <p:grpSpPr>
          <a:xfrm>
            <a:off x="762120" y="1190520"/>
            <a:ext cx="10666800" cy="666000"/>
            <a:chOff x="762120" y="1190520"/>
            <a:chExt cx="10666800" cy="666000"/>
          </a:xfrm>
        </p:grpSpPr>
        <p:sp>
          <p:nvSpPr>
            <p:cNvPr id="306" name="Google Shape;378;p9"/>
            <p:cNvSpPr/>
            <p:nvPr/>
          </p:nvSpPr>
          <p:spPr>
            <a:xfrm>
              <a:off x="762120" y="1190520"/>
              <a:ext cx="10666800" cy="666000"/>
            </a:xfrm>
            <a:prstGeom prst="rect">
              <a:avLst/>
            </a:prstGeom>
            <a:no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307" name="Google Shape;379;p9"/>
            <p:cNvSpPr/>
            <p:nvPr/>
          </p:nvSpPr>
          <p:spPr>
            <a:xfrm>
              <a:off x="762120" y="1190520"/>
              <a:ext cx="10666800" cy="66600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2000" b="1" u="none" strike="noStrike">
                  <a:solidFill>
                    <a:srgbClr val="1F2937"/>
                  </a:solidFill>
                  <a:effectLst/>
                  <a:uFillTx/>
                  <a:latin typeface="Calibri"/>
                  <a:ea typeface="Calibri"/>
                </a:rPr>
                <a:t>Methodology used to model, simulate and evaluate TVAR model for packet loss prediction in WMNs was done in three phases:</a:t>
              </a:r>
              <a:endParaRPr lang="en-US" sz="2000" b="0" u="none" strike="noStrike">
                <a:solidFill>
                  <a:srgbClr val="FFFFFF"/>
                </a:solidFill>
                <a:effectLst/>
                <a:uFillTx/>
                <a:latin typeface="Arial"/>
              </a:endParaRPr>
            </a:p>
          </p:txBody>
        </p:sp>
      </p:grpSp>
      <p:grpSp>
        <p:nvGrpSpPr>
          <p:cNvPr id="308" name="Google Shape;380;p9"/>
          <p:cNvGrpSpPr/>
          <p:nvPr/>
        </p:nvGrpSpPr>
        <p:grpSpPr>
          <a:xfrm>
            <a:off x="762120" y="2048040"/>
            <a:ext cx="3237480" cy="3332880"/>
            <a:chOff x="762120" y="2048040"/>
            <a:chExt cx="3237480" cy="3332880"/>
          </a:xfrm>
        </p:grpSpPr>
        <p:sp>
          <p:nvSpPr>
            <p:cNvPr id="309" name="Google Shape;381;p9"/>
            <p:cNvSpPr/>
            <p:nvPr/>
          </p:nvSpPr>
          <p:spPr>
            <a:xfrm>
              <a:off x="762120" y="2048040"/>
              <a:ext cx="3237480" cy="3332880"/>
            </a:xfrm>
            <a:prstGeom prst="roundRect">
              <a:avLst>
                <a:gd name="adj" fmla="val 4705"/>
              </a:avLst>
            </a:prstGeom>
            <a:solidFill>
              <a:srgbClr val="FFFFFF"/>
            </a:solidFill>
            <a:ln w="19050">
              <a:solidFill>
                <a:srgbClr val="002060"/>
              </a:solidFill>
              <a:round/>
            </a:ln>
          </p:spPr>
          <p:style>
            <a:lnRef idx="0"/>
            <a:fillRef idx="0"/>
            <a:effectRef idx="0"/>
            <a:fontRef idx="minor"/>
          </p:style>
          <p:txBody>
            <a:bodyPr lIns="0" tIns="0" rIns="0" bIns="0" anchor="ctr">
              <a:noAutofit/>
            </a:bodyPr>
            <a:p>
              <a:endParaRPr lang="en-US" sz="1400" b="0" u="none" strike="noStrike">
                <a:solidFill>
                  <a:srgbClr val="000000"/>
                </a:solidFill>
                <a:effectLst/>
                <a:uFillTx/>
                <a:latin typeface="Arial"/>
              </a:endParaRPr>
            </a:p>
          </p:txBody>
        </p:sp>
        <p:sp>
          <p:nvSpPr>
            <p:cNvPr id="310" name="Google Shape;382;p9"/>
            <p:cNvSpPr/>
            <p:nvPr/>
          </p:nvSpPr>
          <p:spPr>
            <a:xfrm>
              <a:off x="762120" y="2048040"/>
              <a:ext cx="3237480" cy="570600"/>
            </a:xfrm>
            <a:prstGeom prst="roundRect">
              <a:avLst>
                <a:gd name="adj" fmla="val 26666"/>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311" name="Google Shape;383;p9"/>
            <p:cNvSpPr/>
            <p:nvPr/>
          </p:nvSpPr>
          <p:spPr>
            <a:xfrm>
              <a:off x="762120" y="2333520"/>
              <a:ext cx="3237480" cy="284760"/>
            </a:xfrm>
            <a:prstGeom prst="rect">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312" name="Google Shape;384;p9"/>
            <p:cNvSpPr/>
            <p:nvPr/>
          </p:nvSpPr>
          <p:spPr>
            <a:xfrm>
              <a:off x="762120" y="2048040"/>
              <a:ext cx="3237480" cy="3332880"/>
            </a:xfrm>
            <a:prstGeom prst="rect">
              <a:avLst/>
            </a:prstGeom>
            <a:noFill/>
            <a:ln w="0">
              <a:noFill/>
            </a:ln>
          </p:spPr>
          <p:style>
            <a:lnRef idx="0"/>
            <a:fillRef idx="0"/>
            <a:effectRef idx="0"/>
            <a:fontRef idx="minor"/>
          </p:style>
          <p:txBody>
            <a:bodyPr lIns="190440" tIns="190440" rIns="190440" bIns="190440" anchor="t">
              <a:noAutofit/>
            </a:bodyPr>
            <a:p>
              <a:pPr algn="ctr">
                <a:lnSpc>
                  <a:spcPct val="100000"/>
                </a:lnSpc>
                <a:tabLst>
                  <a:tab pos="0" algn="l"/>
                </a:tabLst>
              </a:pPr>
              <a:r>
                <a:rPr lang="en-US" sz="2000" b="1" u="none" strike="noStrike">
                  <a:solidFill>
                    <a:srgbClr val="FFFFFF"/>
                  </a:solidFill>
                  <a:effectLst/>
                  <a:uFillTx/>
                  <a:latin typeface="Calibri"/>
                  <a:ea typeface="Calibri"/>
                </a:rPr>
                <a:t>PHASE 01</a:t>
              </a:r>
              <a:endParaRPr lang="en-US" sz="2000" b="0" u="none" strike="noStrike">
                <a:solidFill>
                  <a:srgbClr val="FFFFFF"/>
                </a:solidFill>
                <a:effectLst/>
                <a:uFillTx/>
                <a:latin typeface="Arial"/>
              </a:endParaRPr>
            </a:p>
            <a:p>
              <a:pPr algn="ctr">
                <a:lnSpc>
                  <a:spcPct val="100000"/>
                </a:lnSpc>
                <a:spcBef>
                  <a:spcPts val="2251"/>
                </a:spcBef>
                <a:tabLst>
                  <a:tab pos="0" algn="l"/>
                </a:tabLst>
              </a:pPr>
              <a:r>
                <a:rPr lang="en-US" sz="1800" b="1" u="none" strike="noStrike">
                  <a:solidFill>
                    <a:srgbClr val="002060"/>
                  </a:solidFill>
                  <a:effectLst/>
                  <a:uFillTx/>
                  <a:latin typeface="Calibri"/>
                  <a:ea typeface="Calibri"/>
                </a:rPr>
                <a:t>Network Simulation</a:t>
              </a:r>
              <a:endParaRPr lang="en-US" sz="1800" b="0" u="none" strike="noStrike">
                <a:solidFill>
                  <a:srgbClr val="FFFFFF"/>
                </a:solidFill>
                <a:effectLst/>
                <a:uFillTx/>
                <a:latin typeface="Arial"/>
              </a:endParaRPr>
            </a:p>
            <a:p>
              <a:pPr algn="ctr">
                <a:lnSpc>
                  <a:spcPct val="100000"/>
                </a:lnSpc>
                <a:spcBef>
                  <a:spcPts val="1125"/>
                </a:spcBef>
                <a:tabLst>
                  <a:tab pos="0" algn="l"/>
                </a:tabLst>
              </a:pPr>
              <a:r>
                <a:rPr lang="en-US" sz="1800" b="0" u="none" strike="noStrike">
                  <a:solidFill>
                    <a:srgbClr val="374151"/>
                  </a:solidFill>
                  <a:effectLst/>
                  <a:uFillTx/>
                  <a:latin typeface="Calibri"/>
                  <a:ea typeface="Calibri"/>
                </a:rPr>
                <a:t>Using NS-3 to model, and simulate the network.</a:t>
              </a:r>
              <a:endParaRPr lang="en-US" sz="1800" b="0" u="none" strike="noStrike">
                <a:solidFill>
                  <a:srgbClr val="FFFFFF"/>
                </a:solidFill>
                <a:effectLst/>
                <a:uFillTx/>
                <a:latin typeface="Arial"/>
              </a:endParaRPr>
            </a:p>
          </p:txBody>
        </p:sp>
      </p:grpSp>
      <p:grpSp>
        <p:nvGrpSpPr>
          <p:cNvPr id="313" name="Google Shape;385;p9"/>
          <p:cNvGrpSpPr/>
          <p:nvPr/>
        </p:nvGrpSpPr>
        <p:grpSpPr>
          <a:xfrm>
            <a:off x="4476600" y="2048040"/>
            <a:ext cx="3237480" cy="3332880"/>
            <a:chOff x="4476600" y="2048040"/>
            <a:chExt cx="3237480" cy="3332880"/>
          </a:xfrm>
        </p:grpSpPr>
        <p:sp>
          <p:nvSpPr>
            <p:cNvPr id="314" name="Google Shape;386;p9"/>
            <p:cNvSpPr/>
            <p:nvPr/>
          </p:nvSpPr>
          <p:spPr>
            <a:xfrm>
              <a:off x="4476600" y="2048040"/>
              <a:ext cx="3237480" cy="3332880"/>
            </a:xfrm>
            <a:prstGeom prst="roundRect">
              <a:avLst>
                <a:gd name="adj" fmla="val 4705"/>
              </a:avLst>
            </a:prstGeom>
            <a:solidFill>
              <a:srgbClr val="FFFFFF"/>
            </a:solidFill>
            <a:ln w="19050">
              <a:solidFill>
                <a:srgbClr val="002060"/>
              </a:solidFill>
              <a:round/>
            </a:ln>
          </p:spPr>
          <p:style>
            <a:lnRef idx="0"/>
            <a:fillRef idx="0"/>
            <a:effectRef idx="0"/>
            <a:fontRef idx="minor"/>
          </p:style>
          <p:txBody>
            <a:bodyPr lIns="0" tIns="0" rIns="0" bIns="0" anchor="ctr">
              <a:noAutofit/>
            </a:bodyPr>
            <a:p>
              <a:endParaRPr lang="en-US" sz="1400" b="0" u="none" strike="noStrike">
                <a:solidFill>
                  <a:srgbClr val="000000"/>
                </a:solidFill>
                <a:effectLst/>
                <a:uFillTx/>
                <a:latin typeface="Arial"/>
              </a:endParaRPr>
            </a:p>
          </p:txBody>
        </p:sp>
        <p:sp>
          <p:nvSpPr>
            <p:cNvPr id="315" name="Google Shape;387;p9"/>
            <p:cNvSpPr/>
            <p:nvPr/>
          </p:nvSpPr>
          <p:spPr>
            <a:xfrm>
              <a:off x="4476600" y="2048040"/>
              <a:ext cx="3237480" cy="570600"/>
            </a:xfrm>
            <a:prstGeom prst="roundRect">
              <a:avLst>
                <a:gd name="adj" fmla="val 26666"/>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316" name="Google Shape;388;p9"/>
            <p:cNvSpPr/>
            <p:nvPr/>
          </p:nvSpPr>
          <p:spPr>
            <a:xfrm>
              <a:off x="4476600" y="2333520"/>
              <a:ext cx="3237480" cy="284760"/>
            </a:xfrm>
            <a:prstGeom prst="rect">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317" name="Google Shape;389;p9"/>
            <p:cNvSpPr/>
            <p:nvPr/>
          </p:nvSpPr>
          <p:spPr>
            <a:xfrm>
              <a:off x="4476600" y="2048040"/>
              <a:ext cx="3237480" cy="3332880"/>
            </a:xfrm>
            <a:prstGeom prst="rect">
              <a:avLst/>
            </a:prstGeom>
            <a:noFill/>
            <a:ln w="0">
              <a:noFill/>
            </a:ln>
          </p:spPr>
          <p:style>
            <a:lnRef idx="0"/>
            <a:fillRef idx="0"/>
            <a:effectRef idx="0"/>
            <a:fontRef idx="minor"/>
          </p:style>
          <p:txBody>
            <a:bodyPr lIns="190440" tIns="190440" rIns="190440" bIns="190440" anchor="t">
              <a:noAutofit/>
            </a:bodyPr>
            <a:p>
              <a:pPr algn="ctr">
                <a:lnSpc>
                  <a:spcPct val="100000"/>
                </a:lnSpc>
                <a:tabLst>
                  <a:tab pos="0" algn="l"/>
                </a:tabLst>
              </a:pPr>
              <a:r>
                <a:rPr lang="en-US" sz="2000" b="1" u="none" strike="noStrike">
                  <a:solidFill>
                    <a:srgbClr val="FFFFFF"/>
                  </a:solidFill>
                  <a:effectLst/>
                  <a:uFillTx/>
                  <a:latin typeface="Calibri"/>
                  <a:ea typeface="Calibri"/>
                </a:rPr>
                <a:t>PHASE 02</a:t>
              </a:r>
              <a:endParaRPr lang="en-US" sz="2000" b="0" u="none" strike="noStrike">
                <a:solidFill>
                  <a:srgbClr val="FFFFFF"/>
                </a:solidFill>
                <a:effectLst/>
                <a:uFillTx/>
                <a:latin typeface="Arial"/>
              </a:endParaRPr>
            </a:p>
            <a:p>
              <a:pPr algn="ctr">
                <a:lnSpc>
                  <a:spcPct val="100000"/>
                </a:lnSpc>
                <a:spcBef>
                  <a:spcPts val="2251"/>
                </a:spcBef>
                <a:tabLst>
                  <a:tab pos="0" algn="l"/>
                </a:tabLst>
              </a:pPr>
              <a:r>
                <a:rPr lang="en-US" sz="1800" b="1" u="none" strike="noStrike">
                  <a:solidFill>
                    <a:srgbClr val="002060"/>
                  </a:solidFill>
                  <a:effectLst/>
                  <a:uFillTx/>
                  <a:latin typeface="Calibri"/>
                  <a:ea typeface="Calibri"/>
                </a:rPr>
                <a:t>Model Training</a:t>
              </a:r>
              <a:endParaRPr lang="en-US" sz="1800" b="0" u="none" strike="noStrike">
                <a:solidFill>
                  <a:srgbClr val="FFFFFF"/>
                </a:solidFill>
                <a:effectLst/>
                <a:uFillTx/>
                <a:latin typeface="Arial"/>
              </a:endParaRPr>
            </a:p>
            <a:p>
              <a:pPr algn="ctr">
                <a:lnSpc>
                  <a:spcPct val="100000"/>
                </a:lnSpc>
                <a:spcBef>
                  <a:spcPts val="1125"/>
                </a:spcBef>
                <a:tabLst>
                  <a:tab pos="0" algn="l"/>
                </a:tabLst>
              </a:pPr>
              <a:r>
                <a:rPr lang="en-US" sz="1800" b="0" u="none" strike="noStrike">
                  <a:solidFill>
                    <a:srgbClr val="374151"/>
                  </a:solidFill>
                  <a:effectLst/>
                  <a:uFillTx/>
                  <a:latin typeface="Calibri"/>
                  <a:ea typeface="Calibri"/>
                </a:rPr>
                <a:t>Training with TVAR.</a:t>
              </a:r>
              <a:endParaRPr lang="en-US" sz="1800" b="0" u="none" strike="noStrike">
                <a:solidFill>
                  <a:srgbClr val="FFFFFF"/>
                </a:solidFill>
                <a:effectLst/>
                <a:uFillTx/>
                <a:latin typeface="Arial"/>
              </a:endParaRPr>
            </a:p>
          </p:txBody>
        </p:sp>
      </p:grpSp>
      <p:grpSp>
        <p:nvGrpSpPr>
          <p:cNvPr id="318" name="Google Shape;390;p9"/>
          <p:cNvGrpSpPr/>
          <p:nvPr/>
        </p:nvGrpSpPr>
        <p:grpSpPr>
          <a:xfrm>
            <a:off x="8191440" y="2048040"/>
            <a:ext cx="3237480" cy="3332880"/>
            <a:chOff x="8191440" y="2048040"/>
            <a:chExt cx="3237480" cy="3332880"/>
          </a:xfrm>
        </p:grpSpPr>
        <p:sp>
          <p:nvSpPr>
            <p:cNvPr id="319" name="Google Shape;391;p9"/>
            <p:cNvSpPr/>
            <p:nvPr/>
          </p:nvSpPr>
          <p:spPr>
            <a:xfrm>
              <a:off x="8191440" y="2048040"/>
              <a:ext cx="3237480" cy="3332880"/>
            </a:xfrm>
            <a:prstGeom prst="roundRect">
              <a:avLst>
                <a:gd name="adj" fmla="val 4705"/>
              </a:avLst>
            </a:prstGeom>
            <a:solidFill>
              <a:srgbClr val="FFFFFF"/>
            </a:solidFill>
            <a:ln w="19050">
              <a:solidFill>
                <a:srgbClr val="002060"/>
              </a:solidFill>
              <a:round/>
            </a:ln>
          </p:spPr>
          <p:style>
            <a:lnRef idx="0"/>
            <a:fillRef idx="0"/>
            <a:effectRef idx="0"/>
            <a:fontRef idx="minor"/>
          </p:style>
          <p:txBody>
            <a:bodyPr lIns="0" tIns="0" rIns="0" bIns="0" anchor="ctr">
              <a:noAutofit/>
            </a:bodyPr>
            <a:p>
              <a:endParaRPr lang="en-US" sz="1400" b="0" u="none" strike="noStrike">
                <a:solidFill>
                  <a:srgbClr val="000000"/>
                </a:solidFill>
                <a:effectLst/>
                <a:uFillTx/>
                <a:latin typeface="Arial"/>
              </a:endParaRPr>
            </a:p>
          </p:txBody>
        </p:sp>
        <p:sp>
          <p:nvSpPr>
            <p:cNvPr id="320" name="Google Shape;392;p9"/>
            <p:cNvSpPr/>
            <p:nvPr/>
          </p:nvSpPr>
          <p:spPr>
            <a:xfrm>
              <a:off x="8191440" y="2048040"/>
              <a:ext cx="3237480" cy="570600"/>
            </a:xfrm>
            <a:prstGeom prst="roundRect">
              <a:avLst>
                <a:gd name="adj" fmla="val 26666"/>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321" name="Google Shape;393;p9"/>
            <p:cNvSpPr/>
            <p:nvPr/>
          </p:nvSpPr>
          <p:spPr>
            <a:xfrm>
              <a:off x="8191440" y="2333520"/>
              <a:ext cx="3237480" cy="284760"/>
            </a:xfrm>
            <a:prstGeom prst="rect">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322" name="Google Shape;394;p9"/>
            <p:cNvSpPr/>
            <p:nvPr/>
          </p:nvSpPr>
          <p:spPr>
            <a:xfrm>
              <a:off x="8191440" y="2048040"/>
              <a:ext cx="3237480" cy="3332880"/>
            </a:xfrm>
            <a:prstGeom prst="rect">
              <a:avLst/>
            </a:prstGeom>
            <a:noFill/>
            <a:ln w="0">
              <a:noFill/>
            </a:ln>
          </p:spPr>
          <p:style>
            <a:lnRef idx="0"/>
            <a:fillRef idx="0"/>
            <a:effectRef idx="0"/>
            <a:fontRef idx="minor"/>
          </p:style>
          <p:txBody>
            <a:bodyPr lIns="190440" tIns="190440" rIns="190440" bIns="190440" anchor="t">
              <a:noAutofit/>
            </a:bodyPr>
            <a:p>
              <a:pPr algn="ctr">
                <a:lnSpc>
                  <a:spcPct val="100000"/>
                </a:lnSpc>
                <a:tabLst>
                  <a:tab pos="0" algn="l"/>
                </a:tabLst>
              </a:pPr>
              <a:r>
                <a:rPr lang="en-US" sz="2000" b="1" u="none" strike="noStrike">
                  <a:solidFill>
                    <a:srgbClr val="FFFFFF"/>
                  </a:solidFill>
                  <a:effectLst/>
                  <a:uFillTx/>
                  <a:latin typeface="Calibri"/>
                  <a:ea typeface="Calibri"/>
                </a:rPr>
                <a:t>PHASE 03</a:t>
              </a:r>
              <a:endParaRPr lang="en-US" sz="2000" b="0" u="none" strike="noStrike">
                <a:solidFill>
                  <a:srgbClr val="FFFFFF"/>
                </a:solidFill>
                <a:effectLst/>
                <a:uFillTx/>
                <a:latin typeface="Arial"/>
              </a:endParaRPr>
            </a:p>
            <a:p>
              <a:pPr algn="ctr">
                <a:lnSpc>
                  <a:spcPct val="100000"/>
                </a:lnSpc>
                <a:spcBef>
                  <a:spcPts val="2251"/>
                </a:spcBef>
                <a:tabLst>
                  <a:tab pos="0" algn="l"/>
                </a:tabLst>
              </a:pPr>
              <a:r>
                <a:rPr lang="en-US" sz="1800" b="1" u="none" strike="noStrike">
                  <a:solidFill>
                    <a:srgbClr val="002060"/>
                  </a:solidFill>
                  <a:effectLst/>
                  <a:uFillTx/>
                  <a:latin typeface="Calibri"/>
                  <a:ea typeface="Calibri"/>
                </a:rPr>
                <a:t>Performance Evaluation</a:t>
              </a:r>
              <a:endParaRPr lang="en-US" sz="1800" b="0" u="none" strike="noStrike">
                <a:solidFill>
                  <a:srgbClr val="FFFFFF"/>
                </a:solidFill>
                <a:effectLst/>
                <a:uFillTx/>
                <a:latin typeface="Arial"/>
              </a:endParaRPr>
            </a:p>
            <a:p>
              <a:pPr algn="ctr">
                <a:lnSpc>
                  <a:spcPct val="100000"/>
                </a:lnSpc>
                <a:spcBef>
                  <a:spcPts val="1125"/>
                </a:spcBef>
                <a:tabLst>
                  <a:tab pos="0" algn="l"/>
                </a:tabLst>
              </a:pPr>
              <a:r>
                <a:rPr lang="en-US" sz="1800" b="0" u="none" strike="noStrike">
                  <a:solidFill>
                    <a:srgbClr val="374151"/>
                  </a:solidFill>
                  <a:effectLst/>
                  <a:uFillTx/>
                  <a:latin typeface="Calibri"/>
                  <a:ea typeface="Calibri"/>
                </a:rPr>
                <a:t>Evaluating the model performance.</a:t>
              </a:r>
              <a:endParaRPr lang="en-US" sz="1800" b="0" u="none" strike="noStrike">
                <a:solidFill>
                  <a:srgbClr val="FFFFFF"/>
                </a:solidFill>
                <a:effectLst/>
                <a:uFillTx/>
                <a:latin typeface="Arial"/>
              </a:endParaRPr>
            </a:p>
          </p:txBody>
        </p:sp>
      </p:grpSp>
      <p:sp>
        <p:nvSpPr>
          <p:cNvPr id="323" name="Google Shape;395;p9"/>
          <p:cNvSpPr/>
          <p:nvPr/>
        </p:nvSpPr>
        <p:spPr>
          <a:xfrm>
            <a:off x="571680" y="6176880"/>
            <a:ext cx="951480" cy="6775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FFFFFF"/>
                </a:solidFill>
                <a:effectLst/>
                <a:uFillTx/>
                <a:latin typeface="Calibri"/>
                <a:ea typeface="Calibri"/>
              </a:rPr>
              <a:t>Page 11</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Google Shape;400;p10"/>
          <p:cNvSpPr/>
          <p:nvPr/>
        </p:nvSpPr>
        <p:spPr>
          <a:xfrm>
            <a:off x="4038480" y="2334600"/>
            <a:ext cx="3305520" cy="3183480"/>
          </a:xfrm>
          <a:prstGeom prst="ellipse">
            <a:avLst/>
          </a:prstGeom>
          <a:blipFill rotWithShape="0">
            <a:blip r:embed="rId1"/>
            <a:srcRect/>
            <a:stretch/>
          </a:blipFill>
          <a:ln w="0">
            <a:noFill/>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325" name="Google Shape;401;p10"/>
          <p:cNvSpPr/>
          <p:nvPr/>
        </p:nvSpPr>
        <p:spPr>
          <a:xfrm>
            <a:off x="0" y="0"/>
            <a:ext cx="12188520" cy="6173280"/>
          </a:xfrm>
          <a:prstGeom prst="rect">
            <a:avLst/>
          </a:prstGeom>
          <a:solidFill>
            <a:srgbClr val="FFFFCC">
              <a:alpha val="86000"/>
            </a:srgbClr>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326" name="Google Shape;402;p10"/>
          <p:cNvSpPr/>
          <p:nvPr/>
        </p:nvSpPr>
        <p:spPr>
          <a:xfrm>
            <a:off x="0" y="0"/>
            <a:ext cx="9140400" cy="18216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sp>
        <p:nvSpPr>
          <p:cNvPr id="327" name="Google Shape;403;p10"/>
          <p:cNvSpPr/>
          <p:nvPr/>
        </p:nvSpPr>
        <p:spPr>
          <a:xfrm>
            <a:off x="9144000" y="0"/>
            <a:ext cx="3044520" cy="182160"/>
          </a:xfrm>
          <a:prstGeom prst="rect">
            <a:avLst/>
          </a:prstGeom>
          <a:solidFill>
            <a:schemeClr val="accent4"/>
          </a:solidFill>
          <a:ln w="12700">
            <a:solidFill>
              <a:srgbClr val="FFC000"/>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328" name="Google Shape;404;p10"/>
          <p:cNvSpPr/>
          <p:nvPr/>
        </p:nvSpPr>
        <p:spPr>
          <a:xfrm>
            <a:off x="0" y="6176880"/>
            <a:ext cx="12188520" cy="67752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pic>
        <p:nvPicPr>
          <p:cNvPr id="329" name="Google Shape;405;p10"/>
          <p:cNvPicPr/>
          <p:nvPr/>
        </p:nvPicPr>
        <p:blipFill>
          <a:blip r:embed="rId2"/>
          <a:stretch/>
        </p:blipFill>
        <p:spPr>
          <a:xfrm>
            <a:off x="8210520" y="6176880"/>
            <a:ext cx="3978000" cy="681480"/>
          </a:xfrm>
          <a:prstGeom prst="rect">
            <a:avLst/>
          </a:prstGeom>
          <a:noFill/>
          <a:ln w="0">
            <a:noFill/>
          </a:ln>
        </p:spPr>
      </p:pic>
      <p:sp>
        <p:nvSpPr>
          <p:cNvPr id="330" name="PlaceHolder 1"/>
          <p:cNvSpPr>
            <a:spLocks noGrp="1"/>
          </p:cNvSpPr>
          <p:nvPr>
            <p:ph type="title"/>
          </p:nvPr>
        </p:nvSpPr>
        <p:spPr>
          <a:xfrm>
            <a:off x="76320" y="227520"/>
            <a:ext cx="12038400" cy="555120"/>
          </a:xfrm>
          <a:prstGeom prst="rect">
            <a:avLst/>
          </a:prstGeom>
          <a:noFill/>
          <a:ln w="0">
            <a:noFill/>
          </a:ln>
        </p:spPr>
        <p:txBody>
          <a:bodyPr lIns="0" tIns="0" rIns="0" bIns="0" anchor="ctr">
            <a:spAutoFit/>
          </a:bodyPr>
          <a:p>
            <a:pPr indent="0" algn="ctr">
              <a:lnSpc>
                <a:spcPct val="100000"/>
              </a:lnSpc>
              <a:buNone/>
              <a:tabLst>
                <a:tab pos="0" algn="l"/>
              </a:tabLst>
            </a:pPr>
            <a:r>
              <a:rPr lang="en-US" sz="3600" b="1" u="none" strike="noStrike">
                <a:solidFill>
                  <a:srgbClr val="002060"/>
                </a:solidFill>
                <a:effectLst/>
                <a:uFillTx/>
                <a:latin typeface="Calibri"/>
                <a:ea typeface="Calibri"/>
              </a:rPr>
              <a:t>NETWORK MODELING &amp; SIMULATION</a:t>
            </a:r>
            <a:endParaRPr lang="en-US" sz="3600" b="0" u="none" strike="noStrike">
              <a:solidFill>
                <a:srgbClr val="000000"/>
              </a:solidFill>
              <a:effectLst/>
              <a:uFillTx/>
              <a:latin typeface="Arial"/>
            </a:endParaRPr>
          </a:p>
        </p:txBody>
      </p:sp>
      <p:grpSp>
        <p:nvGrpSpPr>
          <p:cNvPr id="331" name="Google Shape;407;p10"/>
          <p:cNvGrpSpPr/>
          <p:nvPr/>
        </p:nvGrpSpPr>
        <p:grpSpPr>
          <a:xfrm>
            <a:off x="762120" y="1190520"/>
            <a:ext cx="5142600" cy="2237400"/>
            <a:chOff x="762120" y="1190520"/>
            <a:chExt cx="5142600" cy="2237400"/>
          </a:xfrm>
        </p:grpSpPr>
        <p:sp>
          <p:nvSpPr>
            <p:cNvPr id="332" name="Google Shape;408;p10"/>
            <p:cNvSpPr/>
            <p:nvPr/>
          </p:nvSpPr>
          <p:spPr>
            <a:xfrm>
              <a:off x="762120" y="1190520"/>
              <a:ext cx="5142600" cy="2237400"/>
            </a:xfrm>
            <a:prstGeom prst="roundRect">
              <a:avLst>
                <a:gd name="adj" fmla="val 6382"/>
              </a:avLst>
            </a:prstGeom>
            <a:solidFill>
              <a:srgbClr val="FFFFFF"/>
            </a:solidFill>
            <a:ln w="19050">
              <a:solidFill>
                <a:srgbClr val="002060"/>
              </a:solidFill>
              <a:round/>
            </a:ln>
          </p:spPr>
          <p:style>
            <a:lnRef idx="0"/>
            <a:fillRef idx="0"/>
            <a:effectRef idx="0"/>
            <a:fontRef idx="minor"/>
          </p:style>
          <p:txBody>
            <a:bodyPr lIns="0" tIns="0" rIns="0" bIns="0" anchor="ctr">
              <a:noAutofit/>
            </a:bodyPr>
            <a:p>
              <a:endParaRPr lang="en-US" sz="1400" b="0" u="none" strike="noStrike">
                <a:solidFill>
                  <a:srgbClr val="000000"/>
                </a:solidFill>
                <a:effectLst/>
                <a:uFillTx/>
                <a:latin typeface="Arial"/>
              </a:endParaRPr>
            </a:p>
          </p:txBody>
        </p:sp>
        <p:sp>
          <p:nvSpPr>
            <p:cNvPr id="333" name="Google Shape;409;p10"/>
            <p:cNvSpPr/>
            <p:nvPr/>
          </p:nvSpPr>
          <p:spPr>
            <a:xfrm>
              <a:off x="762120" y="1190520"/>
              <a:ext cx="5142600" cy="475200"/>
            </a:xfrm>
            <a:prstGeom prst="roundRect">
              <a:avLst>
                <a:gd name="adj" fmla="val 30000"/>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334" name="Google Shape;410;p10"/>
            <p:cNvSpPr/>
            <p:nvPr/>
          </p:nvSpPr>
          <p:spPr>
            <a:xfrm>
              <a:off x="762120" y="1428840"/>
              <a:ext cx="5142600" cy="237240"/>
            </a:xfrm>
            <a:prstGeom prst="rect">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335" name="Google Shape;411;p10"/>
            <p:cNvSpPr/>
            <p:nvPr/>
          </p:nvSpPr>
          <p:spPr>
            <a:xfrm>
              <a:off x="762120" y="1190520"/>
              <a:ext cx="5142600" cy="2237400"/>
            </a:xfrm>
            <a:prstGeom prst="rect">
              <a:avLst/>
            </a:prstGeom>
            <a:noFill/>
            <a:ln w="0">
              <a:noFill/>
            </a:ln>
          </p:spPr>
          <p:style>
            <a:lnRef idx="0"/>
            <a:fillRef idx="0"/>
            <a:effectRef idx="0"/>
            <a:fontRef idx="minor"/>
          </p:style>
          <p:txBody>
            <a:bodyPr lIns="190440" tIns="114480" rIns="190440" bIns="114480" anchor="t">
              <a:noAutofit/>
            </a:bodyPr>
            <a:p>
              <a:pPr algn="ctr">
                <a:lnSpc>
                  <a:spcPct val="100000"/>
                </a:lnSpc>
                <a:tabLst>
                  <a:tab pos="0" algn="l"/>
                </a:tabLst>
              </a:pPr>
              <a:r>
                <a:rPr lang="en-US" sz="2000" b="1" u="none" strike="noStrike">
                  <a:solidFill>
                    <a:srgbClr val="FFFFFF"/>
                  </a:solidFill>
                  <a:effectLst/>
                  <a:uFillTx/>
                  <a:latin typeface="Calibri"/>
                  <a:ea typeface="Calibri"/>
                </a:rPr>
                <a:t>NETWORK CONFIGURATION</a:t>
              </a:r>
              <a:endParaRPr lang="en-US" sz="2000" b="0" u="none" strike="noStrike">
                <a:solidFill>
                  <a:srgbClr val="FFFFFF"/>
                </a:solidFill>
                <a:effectLst/>
                <a:uFillTx/>
                <a:latin typeface="Arial"/>
              </a:endParaRPr>
            </a:p>
            <a:p>
              <a:pPr marL="457200" indent="-330120">
                <a:lnSpc>
                  <a:spcPct val="100000"/>
                </a:lnSpc>
                <a:spcBef>
                  <a:spcPts val="1874"/>
                </a:spcBef>
                <a:buClr>
                  <a:srgbClr val="374151"/>
                </a:buClr>
                <a:buFont typeface="Calibri"/>
                <a:buChar char="●"/>
                <a:tabLst>
                  <a:tab pos="0" algn="l"/>
                </a:tabLst>
              </a:pPr>
              <a:r>
                <a:rPr lang="en-US" sz="1800" b="0" u="none" strike="noStrike">
                  <a:solidFill>
                    <a:srgbClr val="374151"/>
                  </a:solidFill>
                  <a:effectLst/>
                  <a:uFillTx/>
                  <a:latin typeface="Calibri"/>
                  <a:ea typeface="Calibri"/>
                </a:rPr>
                <a:t>Simple </a:t>
              </a:r>
              <a:r>
                <a:rPr lang="en-US" sz="1800" b="1" u="none" strike="noStrike">
                  <a:solidFill>
                    <a:srgbClr val="002060"/>
                  </a:solidFill>
                  <a:effectLst/>
                  <a:uFillTx/>
                  <a:latin typeface="Calibri"/>
                  <a:ea typeface="Calibri"/>
                </a:rPr>
                <a:t>10-node grid topology</a:t>
              </a:r>
              <a:r>
                <a:rPr lang="en-US" sz="1800" b="0" u="none" strike="noStrike">
                  <a:solidFill>
                    <a:srgbClr val="374151"/>
                  </a:solidFill>
                  <a:effectLst/>
                  <a:uFillTx/>
                  <a:latin typeface="Calibri"/>
                  <a:ea typeface="Calibri"/>
                </a:rPr>
                <a:t> layout.</a:t>
              </a:r>
              <a:endParaRPr lang="en-US" sz="1800" b="0" u="none" strike="noStrike">
                <a:solidFill>
                  <a:srgbClr val="FFFFFF"/>
                </a:solidFill>
                <a:effectLst/>
                <a:uFillTx/>
                <a:latin typeface="Arial"/>
              </a:endParaRPr>
            </a:p>
            <a:p>
              <a:pPr marL="457200" indent="-330120">
                <a:lnSpc>
                  <a:spcPct val="100000"/>
                </a:lnSpc>
                <a:spcBef>
                  <a:spcPts val="901"/>
                </a:spcBef>
                <a:buClr>
                  <a:srgbClr val="374151"/>
                </a:buClr>
                <a:buFont typeface="Calibri"/>
                <a:buChar char="●"/>
                <a:tabLst>
                  <a:tab pos="0" algn="l"/>
                </a:tabLst>
              </a:pPr>
              <a:r>
                <a:rPr lang="en-US" sz="1800" b="1" u="none" strike="noStrike">
                  <a:solidFill>
                    <a:srgbClr val="002060"/>
                  </a:solidFill>
                  <a:effectLst/>
                  <a:uFillTx/>
                  <a:latin typeface="Calibri"/>
                  <a:ea typeface="Calibri"/>
                </a:rPr>
                <a:t>100-meter node spacing</a:t>
              </a:r>
              <a:r>
                <a:rPr lang="en-US" sz="1800" b="0" u="none" strike="noStrike">
                  <a:solidFill>
                    <a:srgbClr val="374151"/>
                  </a:solidFill>
                  <a:effectLst/>
                  <a:uFillTx/>
                  <a:latin typeface="Calibri"/>
                  <a:ea typeface="Calibri"/>
                </a:rPr>
                <a:t>.</a:t>
              </a:r>
              <a:endParaRPr lang="en-US" sz="1800" b="0" u="none" strike="noStrike">
                <a:solidFill>
                  <a:srgbClr val="FFFFFF"/>
                </a:solidFill>
                <a:effectLst/>
                <a:uFillTx/>
                <a:latin typeface="Arial"/>
              </a:endParaRPr>
            </a:p>
            <a:p>
              <a:pPr marL="457200" indent="-330120">
                <a:lnSpc>
                  <a:spcPct val="100000"/>
                </a:lnSpc>
                <a:spcBef>
                  <a:spcPts val="901"/>
                </a:spcBef>
                <a:buClr>
                  <a:srgbClr val="374151"/>
                </a:buClr>
                <a:buFont typeface="Calibri"/>
                <a:buChar char="●"/>
                <a:tabLst>
                  <a:tab pos="0" algn="l"/>
                </a:tabLst>
              </a:pPr>
              <a:r>
                <a:rPr lang="en-US" sz="1800" b="0" u="none" strike="noStrike">
                  <a:solidFill>
                    <a:srgbClr val="374151"/>
                  </a:solidFill>
                  <a:effectLst/>
                  <a:uFillTx/>
                  <a:latin typeface="Calibri"/>
                  <a:ea typeface="Calibri"/>
                </a:rPr>
                <a:t>The last node is designated as the </a:t>
              </a:r>
              <a:r>
                <a:rPr lang="en-US" sz="1800" b="1" u="none" strike="noStrike">
                  <a:solidFill>
                    <a:srgbClr val="002060"/>
                  </a:solidFill>
                  <a:effectLst/>
                  <a:uFillTx/>
                  <a:latin typeface="Calibri"/>
                  <a:ea typeface="Calibri"/>
                </a:rPr>
                <a:t>gateway node</a:t>
              </a:r>
              <a:r>
                <a:rPr lang="en-US" sz="1800" b="0" u="none" strike="noStrike">
                  <a:solidFill>
                    <a:srgbClr val="374151"/>
                  </a:solidFill>
                  <a:effectLst/>
                  <a:uFillTx/>
                  <a:latin typeface="Calibri"/>
                  <a:ea typeface="Calibri"/>
                </a:rPr>
                <a:t>.</a:t>
              </a:r>
              <a:endParaRPr lang="en-US" sz="1800" b="0" u="none" strike="noStrike">
                <a:solidFill>
                  <a:srgbClr val="FFFFFF"/>
                </a:solidFill>
                <a:effectLst/>
                <a:uFillTx/>
                <a:latin typeface="Arial"/>
              </a:endParaRPr>
            </a:p>
          </p:txBody>
        </p:sp>
      </p:grpSp>
      <p:grpSp>
        <p:nvGrpSpPr>
          <p:cNvPr id="336" name="Google Shape;412;p10"/>
          <p:cNvGrpSpPr/>
          <p:nvPr/>
        </p:nvGrpSpPr>
        <p:grpSpPr>
          <a:xfrm>
            <a:off x="762120" y="3619440"/>
            <a:ext cx="5142600" cy="2332800"/>
            <a:chOff x="762120" y="3619440"/>
            <a:chExt cx="5142600" cy="2332800"/>
          </a:xfrm>
        </p:grpSpPr>
        <p:sp>
          <p:nvSpPr>
            <p:cNvPr id="337" name="Google Shape;413;p10"/>
            <p:cNvSpPr/>
            <p:nvPr/>
          </p:nvSpPr>
          <p:spPr>
            <a:xfrm>
              <a:off x="762120" y="3619440"/>
              <a:ext cx="5142600" cy="2332800"/>
            </a:xfrm>
            <a:prstGeom prst="roundRect">
              <a:avLst>
                <a:gd name="adj" fmla="val 6122"/>
              </a:avLst>
            </a:prstGeom>
            <a:solidFill>
              <a:srgbClr val="FFFFFF"/>
            </a:solidFill>
            <a:ln w="19050">
              <a:solidFill>
                <a:srgbClr val="002060"/>
              </a:solidFill>
              <a:round/>
            </a:ln>
          </p:spPr>
          <p:style>
            <a:lnRef idx="0"/>
            <a:fillRef idx="0"/>
            <a:effectRef idx="0"/>
            <a:fontRef idx="minor"/>
          </p:style>
          <p:txBody>
            <a:bodyPr lIns="0" tIns="0" rIns="0" bIns="0" anchor="ctr">
              <a:noAutofit/>
            </a:bodyPr>
            <a:p>
              <a:endParaRPr lang="en-US" sz="1400" b="0" u="none" strike="noStrike">
                <a:solidFill>
                  <a:srgbClr val="000000"/>
                </a:solidFill>
                <a:effectLst/>
                <a:uFillTx/>
                <a:latin typeface="Arial"/>
              </a:endParaRPr>
            </a:p>
          </p:txBody>
        </p:sp>
        <p:sp>
          <p:nvSpPr>
            <p:cNvPr id="338" name="Google Shape;414;p10"/>
            <p:cNvSpPr/>
            <p:nvPr/>
          </p:nvSpPr>
          <p:spPr>
            <a:xfrm>
              <a:off x="762120" y="3619440"/>
              <a:ext cx="5142600" cy="475200"/>
            </a:xfrm>
            <a:prstGeom prst="roundRect">
              <a:avLst>
                <a:gd name="adj" fmla="val 30000"/>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339" name="Google Shape;415;p10"/>
            <p:cNvSpPr/>
            <p:nvPr/>
          </p:nvSpPr>
          <p:spPr>
            <a:xfrm>
              <a:off x="762120" y="3857760"/>
              <a:ext cx="5142600" cy="237240"/>
            </a:xfrm>
            <a:prstGeom prst="rect">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340" name="Google Shape;416;p10"/>
            <p:cNvSpPr/>
            <p:nvPr/>
          </p:nvSpPr>
          <p:spPr>
            <a:xfrm>
              <a:off x="762120" y="3619440"/>
              <a:ext cx="5142600" cy="2332800"/>
            </a:xfrm>
            <a:prstGeom prst="rect">
              <a:avLst/>
            </a:prstGeom>
            <a:noFill/>
            <a:ln w="0">
              <a:noFill/>
            </a:ln>
          </p:spPr>
          <p:style>
            <a:lnRef idx="0"/>
            <a:fillRef idx="0"/>
            <a:effectRef idx="0"/>
            <a:fontRef idx="minor"/>
          </p:style>
          <p:txBody>
            <a:bodyPr lIns="190440" tIns="114480" rIns="190440" bIns="114480" anchor="t">
              <a:noAutofit/>
            </a:bodyPr>
            <a:p>
              <a:pPr algn="ctr">
                <a:lnSpc>
                  <a:spcPct val="100000"/>
                </a:lnSpc>
                <a:tabLst>
                  <a:tab pos="0" algn="l"/>
                </a:tabLst>
              </a:pPr>
              <a:r>
                <a:rPr lang="en-US" sz="2000" b="1" u="none" strike="noStrike">
                  <a:solidFill>
                    <a:srgbClr val="FFFFFF"/>
                  </a:solidFill>
                  <a:effectLst/>
                  <a:uFillTx/>
                  <a:latin typeface="Calibri"/>
                  <a:ea typeface="Calibri"/>
                </a:rPr>
                <a:t>SIMULATION PARAMETERS</a:t>
              </a:r>
              <a:endParaRPr lang="en-US" sz="2000" b="0" u="none" strike="noStrike">
                <a:solidFill>
                  <a:srgbClr val="FFFFFF"/>
                </a:solidFill>
                <a:effectLst/>
                <a:uFillTx/>
                <a:latin typeface="Arial"/>
              </a:endParaRPr>
            </a:p>
            <a:p>
              <a:pPr marL="457200" indent="-330120">
                <a:lnSpc>
                  <a:spcPct val="100000"/>
                </a:lnSpc>
                <a:spcBef>
                  <a:spcPts val="1874"/>
                </a:spcBef>
                <a:buClr>
                  <a:srgbClr val="374151"/>
                </a:buClr>
                <a:buFont typeface="Calibri"/>
                <a:buChar char="●"/>
                <a:tabLst>
                  <a:tab pos="0" algn="l"/>
                </a:tabLst>
              </a:pPr>
              <a:r>
                <a:rPr lang="en-US" sz="1800" b="0" u="none" strike="noStrike">
                  <a:solidFill>
                    <a:srgbClr val="374151"/>
                  </a:solidFill>
                  <a:effectLst/>
                  <a:uFillTx/>
                  <a:latin typeface="Calibri"/>
                  <a:ea typeface="Calibri"/>
                </a:rPr>
                <a:t>Configured with </a:t>
              </a:r>
              <a:r>
                <a:rPr lang="en-US" sz="1800" b="1" u="none" strike="noStrike">
                  <a:solidFill>
                    <a:srgbClr val="002060"/>
                  </a:solidFill>
                  <a:effectLst/>
                  <a:uFillTx/>
                  <a:latin typeface="Calibri"/>
                  <a:ea typeface="Calibri"/>
                </a:rPr>
                <a:t>802.11a wireless standard</a:t>
              </a:r>
              <a:r>
                <a:rPr lang="en-US" sz="1800" b="0" u="none" strike="noStrike">
                  <a:solidFill>
                    <a:srgbClr val="374151"/>
                  </a:solidFill>
                  <a:effectLst/>
                  <a:uFillTx/>
                  <a:latin typeface="Calibri"/>
                  <a:ea typeface="Calibri"/>
                </a:rPr>
                <a:t>.</a:t>
              </a:r>
              <a:endParaRPr lang="en-US" sz="1800" b="0" u="none" strike="noStrike">
                <a:solidFill>
                  <a:srgbClr val="FFFFFF"/>
                </a:solidFill>
                <a:effectLst/>
                <a:uFillTx/>
                <a:latin typeface="Arial"/>
              </a:endParaRPr>
            </a:p>
            <a:p>
              <a:pPr marL="457200" indent="-330120">
                <a:lnSpc>
                  <a:spcPct val="100000"/>
                </a:lnSpc>
                <a:spcBef>
                  <a:spcPts val="751"/>
                </a:spcBef>
                <a:buClr>
                  <a:srgbClr val="374151"/>
                </a:buClr>
                <a:buFont typeface="Calibri"/>
                <a:buChar char="●"/>
                <a:tabLst>
                  <a:tab pos="0" algn="l"/>
                </a:tabLst>
              </a:pPr>
              <a:r>
                <a:rPr lang="en-US" sz="1800" b="1" u="none" strike="noStrike">
                  <a:solidFill>
                    <a:srgbClr val="002060"/>
                  </a:solidFill>
                  <a:effectLst/>
                  <a:uFillTx/>
                  <a:latin typeface="Calibri"/>
                  <a:ea typeface="Calibri"/>
                </a:rPr>
                <a:t>Log Distance path loss</a:t>
              </a:r>
              <a:r>
                <a:rPr lang="en-US" sz="1800" b="0" u="none" strike="noStrike">
                  <a:solidFill>
                    <a:srgbClr val="374151"/>
                  </a:solidFill>
                  <a:effectLst/>
                  <a:uFillTx/>
                  <a:latin typeface="Calibri"/>
                  <a:ea typeface="Calibri"/>
                </a:rPr>
                <a:t> model (exponent 2.3).</a:t>
              </a:r>
              <a:endParaRPr lang="en-US" sz="1800" b="0" u="none" strike="noStrike">
                <a:solidFill>
                  <a:srgbClr val="FFFFFF"/>
                </a:solidFill>
                <a:effectLst/>
                <a:uFillTx/>
                <a:latin typeface="Arial"/>
              </a:endParaRPr>
            </a:p>
            <a:p>
              <a:pPr marL="457200" indent="-330120">
                <a:lnSpc>
                  <a:spcPct val="100000"/>
                </a:lnSpc>
                <a:spcBef>
                  <a:spcPts val="751"/>
                </a:spcBef>
                <a:buClr>
                  <a:srgbClr val="374151"/>
                </a:buClr>
                <a:buFont typeface="Calibri"/>
                <a:buChar char="●"/>
                <a:tabLst>
                  <a:tab pos="0" algn="l"/>
                </a:tabLst>
              </a:pPr>
              <a:r>
                <a:rPr lang="en-US" sz="1800" b="0" u="none" strike="noStrike">
                  <a:solidFill>
                    <a:srgbClr val="374151"/>
                  </a:solidFill>
                  <a:effectLst/>
                  <a:uFillTx/>
                  <a:latin typeface="Calibri"/>
                  <a:ea typeface="Calibri"/>
                </a:rPr>
                <a:t>Each node requires </a:t>
              </a:r>
              <a:r>
                <a:rPr lang="en-US" sz="1800" b="1" u="none" strike="noStrike">
                  <a:solidFill>
                    <a:srgbClr val="002060"/>
                  </a:solidFill>
                  <a:effectLst/>
                  <a:uFillTx/>
                  <a:latin typeface="Calibri"/>
                  <a:ea typeface="Calibri"/>
                </a:rPr>
                <a:t>1 to 4 hops</a:t>
              </a:r>
              <a:r>
                <a:rPr lang="en-US" sz="1800" b="0" u="none" strike="noStrike">
                  <a:solidFill>
                    <a:srgbClr val="374151"/>
                  </a:solidFill>
                  <a:effectLst/>
                  <a:uFillTx/>
                  <a:latin typeface="Calibri"/>
                  <a:ea typeface="Calibri"/>
                </a:rPr>
                <a:t> to reach source.</a:t>
              </a:r>
              <a:endParaRPr lang="en-US" sz="1800" b="0" u="none" strike="noStrike">
                <a:solidFill>
                  <a:srgbClr val="FFFFFF"/>
                </a:solidFill>
                <a:effectLst/>
                <a:uFillTx/>
                <a:latin typeface="Arial"/>
              </a:endParaRPr>
            </a:p>
          </p:txBody>
        </p:sp>
      </p:grpSp>
      <p:grpSp>
        <p:nvGrpSpPr>
          <p:cNvPr id="341" name="Google Shape;417;p10"/>
          <p:cNvGrpSpPr/>
          <p:nvPr/>
        </p:nvGrpSpPr>
        <p:grpSpPr>
          <a:xfrm>
            <a:off x="6286680" y="1190520"/>
            <a:ext cx="5142600" cy="4761360"/>
            <a:chOff x="6286680" y="1190520"/>
            <a:chExt cx="5142600" cy="4761360"/>
          </a:xfrm>
        </p:grpSpPr>
        <p:sp>
          <p:nvSpPr>
            <p:cNvPr id="342" name="Google Shape;418;p10"/>
            <p:cNvSpPr/>
            <p:nvPr/>
          </p:nvSpPr>
          <p:spPr>
            <a:xfrm>
              <a:off x="6286680" y="1190520"/>
              <a:ext cx="5142600" cy="4761360"/>
            </a:xfrm>
            <a:prstGeom prst="roundRect">
              <a:avLst>
                <a:gd name="adj" fmla="val 3000"/>
              </a:avLst>
            </a:prstGeom>
            <a:solidFill>
              <a:srgbClr val="FFFFFF"/>
            </a:solidFill>
            <a:ln w="19050">
              <a:solidFill>
                <a:srgbClr val="002060"/>
              </a:solidFill>
              <a:round/>
            </a:ln>
          </p:spPr>
          <p:style>
            <a:lnRef idx="0"/>
            <a:fillRef idx="0"/>
            <a:effectRef idx="0"/>
            <a:fontRef idx="minor"/>
          </p:style>
          <p:txBody>
            <a:bodyPr lIns="0" tIns="0" rIns="0" bIns="0" anchor="ctr">
              <a:noAutofit/>
            </a:bodyPr>
            <a:p>
              <a:endParaRPr lang="en-US" sz="1400" b="0" u="none" strike="noStrike">
                <a:solidFill>
                  <a:srgbClr val="000000"/>
                </a:solidFill>
                <a:effectLst/>
                <a:uFillTx/>
                <a:latin typeface="Arial"/>
              </a:endParaRPr>
            </a:p>
          </p:txBody>
        </p:sp>
        <p:sp>
          <p:nvSpPr>
            <p:cNvPr id="343" name="Google Shape;419;p10"/>
            <p:cNvSpPr/>
            <p:nvPr/>
          </p:nvSpPr>
          <p:spPr>
            <a:xfrm>
              <a:off x="6286680" y="1190520"/>
              <a:ext cx="5142600" cy="475200"/>
            </a:xfrm>
            <a:prstGeom prst="roundRect">
              <a:avLst>
                <a:gd name="adj" fmla="val 30000"/>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344" name="Google Shape;420;p10"/>
            <p:cNvSpPr/>
            <p:nvPr/>
          </p:nvSpPr>
          <p:spPr>
            <a:xfrm>
              <a:off x="6286680" y="1428840"/>
              <a:ext cx="5142600" cy="237240"/>
            </a:xfrm>
            <a:prstGeom prst="rect">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345" name="Google Shape;421;p10"/>
            <p:cNvSpPr/>
            <p:nvPr/>
          </p:nvSpPr>
          <p:spPr>
            <a:xfrm>
              <a:off x="6286680" y="1190520"/>
              <a:ext cx="5142600" cy="47520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1800" b="1" u="none" strike="noStrike">
                  <a:solidFill>
                    <a:srgbClr val="FFFFFF"/>
                  </a:solidFill>
                  <a:effectLst/>
                  <a:uFillTx/>
                  <a:latin typeface="Calibri"/>
                  <a:ea typeface="Calibri"/>
                </a:rPr>
                <a:t>GRID TOPOLOGY DIAGRAM</a:t>
              </a:r>
              <a:endParaRPr lang="en-US" sz="1800" b="0" u="none" strike="noStrike">
                <a:solidFill>
                  <a:srgbClr val="FFFFFF"/>
                </a:solidFill>
                <a:effectLst/>
                <a:uFillTx/>
                <a:latin typeface="Arial"/>
              </a:endParaRPr>
            </a:p>
          </p:txBody>
        </p:sp>
      </p:grpSp>
      <p:pic>
        <p:nvPicPr>
          <p:cNvPr id="346" name="Google Shape;422;p10"/>
          <p:cNvPicPr/>
          <p:nvPr/>
        </p:nvPicPr>
        <p:blipFill>
          <a:blip r:embed="rId3"/>
          <a:srcRect l="11619" t="0" r="11629" b="0"/>
          <a:stretch/>
        </p:blipFill>
        <p:spPr>
          <a:xfrm>
            <a:off x="6429240" y="1905120"/>
            <a:ext cx="4856760" cy="3808800"/>
          </a:xfrm>
          <a:prstGeom prst="rect">
            <a:avLst/>
          </a:prstGeom>
          <a:noFill/>
          <a:ln w="0">
            <a:noFill/>
          </a:ln>
        </p:spPr>
      </p:pic>
      <p:sp>
        <p:nvSpPr>
          <p:cNvPr id="347" name="Google Shape;423;p10"/>
          <p:cNvSpPr/>
          <p:nvPr/>
        </p:nvSpPr>
        <p:spPr>
          <a:xfrm>
            <a:off x="571680" y="6176880"/>
            <a:ext cx="951480" cy="6775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FFFFFF"/>
                </a:solidFill>
                <a:effectLst/>
                <a:uFillTx/>
                <a:latin typeface="Calibri"/>
                <a:ea typeface="Calibri"/>
              </a:rPr>
              <a:t>Page 12</a:t>
            </a:r>
            <a:endParaRPr lang="en-US" sz="1400" b="0" u="none" strike="noStrike">
              <a:solidFill>
                <a:srgbClr val="FFFFFF"/>
              </a:solidFill>
              <a:effectLst/>
              <a:uFillTx/>
              <a:latin typeface="Arial"/>
            </a:endParaRPr>
          </a:p>
        </p:txBody>
      </p:sp>
      <p:sp>
        <p:nvSpPr>
          <p:cNvPr id="348" name=""/>
          <p:cNvSpPr txBox="1"/>
          <p:nvPr/>
        </p:nvSpPr>
        <p:spPr>
          <a:xfrm>
            <a:off x="6286680" y="5951880"/>
            <a:ext cx="571320" cy="221400"/>
          </a:xfrm>
          <a:prstGeom prst="rect">
            <a:avLst/>
          </a:prstGeom>
          <a:noFill/>
          <a:ln w="0">
            <a:noFill/>
          </a:ln>
        </p:spPr>
        <p:txBody>
          <a:bodyPr lIns="90000" tIns="45000" rIns="90000" bIns="45000" anchor="t">
            <a:spAutoFit/>
          </a:bodyPr>
          <a:p>
            <a:r>
              <a:rPr lang="en-US" sz="900" b="0" u="none" strike="noStrike">
                <a:solidFill>
                  <a:srgbClr val="000000"/>
                </a:solidFill>
                <a:effectLst/>
                <a:uFillTx/>
                <a:latin typeface="Calibri"/>
              </a:rPr>
              <a:t>Figure 1</a:t>
            </a:r>
            <a:endParaRPr lang="en-US" sz="900" b="0" u="none" strike="noStrik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Google Shape;428;p11"/>
          <p:cNvSpPr/>
          <p:nvPr/>
        </p:nvSpPr>
        <p:spPr>
          <a:xfrm>
            <a:off x="4038480" y="2334600"/>
            <a:ext cx="3305520" cy="3183480"/>
          </a:xfrm>
          <a:prstGeom prst="ellipse">
            <a:avLst/>
          </a:prstGeom>
          <a:blipFill rotWithShape="0">
            <a:blip r:embed="rId1"/>
            <a:srcRect/>
            <a:stretch/>
          </a:blipFill>
          <a:ln w="0">
            <a:noFill/>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350" name="Google Shape;429;p11"/>
          <p:cNvSpPr/>
          <p:nvPr/>
        </p:nvSpPr>
        <p:spPr>
          <a:xfrm>
            <a:off x="0" y="0"/>
            <a:ext cx="12188520" cy="6173280"/>
          </a:xfrm>
          <a:prstGeom prst="rect">
            <a:avLst/>
          </a:prstGeom>
          <a:solidFill>
            <a:srgbClr val="FFFFCC">
              <a:alpha val="86000"/>
            </a:srgbClr>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351" name="Google Shape;430;p11"/>
          <p:cNvSpPr/>
          <p:nvPr/>
        </p:nvSpPr>
        <p:spPr>
          <a:xfrm>
            <a:off x="0" y="0"/>
            <a:ext cx="9140400" cy="18216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sp>
        <p:nvSpPr>
          <p:cNvPr id="352" name="Google Shape;431;p11"/>
          <p:cNvSpPr/>
          <p:nvPr/>
        </p:nvSpPr>
        <p:spPr>
          <a:xfrm>
            <a:off x="9144000" y="0"/>
            <a:ext cx="3044520" cy="182160"/>
          </a:xfrm>
          <a:prstGeom prst="rect">
            <a:avLst/>
          </a:prstGeom>
          <a:solidFill>
            <a:schemeClr val="accent4"/>
          </a:solidFill>
          <a:ln w="12700">
            <a:solidFill>
              <a:srgbClr val="FFC000"/>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353" name="Google Shape;432;p11"/>
          <p:cNvSpPr/>
          <p:nvPr/>
        </p:nvSpPr>
        <p:spPr>
          <a:xfrm>
            <a:off x="0" y="6176880"/>
            <a:ext cx="12188520" cy="67752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pic>
        <p:nvPicPr>
          <p:cNvPr id="354" name="Google Shape;433;p11"/>
          <p:cNvPicPr/>
          <p:nvPr/>
        </p:nvPicPr>
        <p:blipFill>
          <a:blip r:embed="rId2"/>
          <a:stretch/>
        </p:blipFill>
        <p:spPr>
          <a:xfrm>
            <a:off x="8210520" y="6176880"/>
            <a:ext cx="3978000" cy="681480"/>
          </a:xfrm>
          <a:prstGeom prst="rect">
            <a:avLst/>
          </a:prstGeom>
          <a:noFill/>
          <a:ln w="0">
            <a:noFill/>
          </a:ln>
        </p:spPr>
      </p:pic>
      <p:grpSp>
        <p:nvGrpSpPr>
          <p:cNvPr id="355" name="Google Shape;434;p11"/>
          <p:cNvGrpSpPr/>
          <p:nvPr/>
        </p:nvGrpSpPr>
        <p:grpSpPr>
          <a:xfrm>
            <a:off x="76320" y="228600"/>
            <a:ext cx="12038400" cy="579960"/>
            <a:chOff x="76320" y="228600"/>
            <a:chExt cx="12038400" cy="579960"/>
          </a:xfrm>
        </p:grpSpPr>
        <p:sp>
          <p:nvSpPr>
            <p:cNvPr id="356" name="Google Shape;435;p11"/>
            <p:cNvSpPr/>
            <p:nvPr/>
          </p:nvSpPr>
          <p:spPr>
            <a:xfrm>
              <a:off x="76320" y="228600"/>
              <a:ext cx="12038400" cy="579960"/>
            </a:xfrm>
            <a:prstGeom prst="rect">
              <a:avLst/>
            </a:prstGeom>
            <a:no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357" name="Google Shape;436;p11"/>
            <p:cNvSpPr/>
            <p:nvPr/>
          </p:nvSpPr>
          <p:spPr>
            <a:xfrm>
              <a:off x="76320" y="228600"/>
              <a:ext cx="12038400" cy="57996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3600" b="1" u="none" strike="noStrike">
                  <a:solidFill>
                    <a:srgbClr val="002060"/>
                  </a:solidFill>
                  <a:effectLst/>
                  <a:uFillTx/>
                  <a:latin typeface="Calibri"/>
                  <a:ea typeface="Calibri"/>
                </a:rPr>
                <a:t>NETWORK MODELING &amp; SIMULATION CONT...</a:t>
              </a:r>
              <a:endParaRPr lang="en-US" sz="3600" b="0" u="none" strike="noStrike">
                <a:solidFill>
                  <a:srgbClr val="FFFFFF"/>
                </a:solidFill>
                <a:effectLst/>
                <a:uFillTx/>
                <a:latin typeface="Arial"/>
              </a:endParaRPr>
            </a:p>
          </p:txBody>
        </p:sp>
      </p:grpSp>
      <p:grpSp>
        <p:nvGrpSpPr>
          <p:cNvPr id="358" name="Google Shape;437;p11"/>
          <p:cNvGrpSpPr/>
          <p:nvPr/>
        </p:nvGrpSpPr>
        <p:grpSpPr>
          <a:xfrm>
            <a:off x="762120" y="1190520"/>
            <a:ext cx="10666800" cy="666000"/>
            <a:chOff x="762120" y="1190520"/>
            <a:chExt cx="10666800" cy="666000"/>
          </a:xfrm>
        </p:grpSpPr>
        <p:sp>
          <p:nvSpPr>
            <p:cNvPr id="359" name="Google Shape;438;p11"/>
            <p:cNvSpPr/>
            <p:nvPr/>
          </p:nvSpPr>
          <p:spPr>
            <a:xfrm>
              <a:off x="762120" y="1190520"/>
              <a:ext cx="10666800" cy="666000"/>
            </a:xfrm>
            <a:prstGeom prst="rect">
              <a:avLst/>
            </a:prstGeom>
            <a:no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360" name="Google Shape;439;p11"/>
            <p:cNvSpPr/>
            <p:nvPr/>
          </p:nvSpPr>
          <p:spPr>
            <a:xfrm>
              <a:off x="762120" y="1190520"/>
              <a:ext cx="10666800" cy="66600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2000" b="1" u="none" strike="noStrike">
                  <a:solidFill>
                    <a:srgbClr val="1F2937"/>
                  </a:solidFill>
                  <a:effectLst/>
                  <a:uFillTx/>
                  <a:latin typeface="Calibri"/>
                  <a:ea typeface="Calibri"/>
                </a:rPr>
                <a:t>Three network traffic flows were configured for simulation and evaluation:</a:t>
              </a:r>
              <a:endParaRPr lang="en-US" sz="2000" b="0" u="none" strike="noStrike">
                <a:solidFill>
                  <a:srgbClr val="FFFFFF"/>
                </a:solidFill>
                <a:effectLst/>
                <a:uFillTx/>
                <a:latin typeface="Arial"/>
              </a:endParaRPr>
            </a:p>
          </p:txBody>
        </p:sp>
      </p:grpSp>
      <p:grpSp>
        <p:nvGrpSpPr>
          <p:cNvPr id="361" name="Google Shape;440;p11"/>
          <p:cNvGrpSpPr/>
          <p:nvPr/>
        </p:nvGrpSpPr>
        <p:grpSpPr>
          <a:xfrm>
            <a:off x="762120" y="2048040"/>
            <a:ext cx="3237480" cy="3332880"/>
            <a:chOff x="762120" y="2048040"/>
            <a:chExt cx="3237480" cy="3332880"/>
          </a:xfrm>
        </p:grpSpPr>
        <p:sp>
          <p:nvSpPr>
            <p:cNvPr id="362" name="Google Shape;441;p11"/>
            <p:cNvSpPr/>
            <p:nvPr/>
          </p:nvSpPr>
          <p:spPr>
            <a:xfrm>
              <a:off x="762120" y="2048040"/>
              <a:ext cx="3237480" cy="3332880"/>
            </a:xfrm>
            <a:prstGeom prst="roundRect">
              <a:avLst>
                <a:gd name="adj" fmla="val 4705"/>
              </a:avLst>
            </a:prstGeom>
            <a:solidFill>
              <a:srgbClr val="FFFFFF"/>
            </a:solidFill>
            <a:ln w="19050">
              <a:solidFill>
                <a:srgbClr val="002060"/>
              </a:solidFill>
              <a:round/>
            </a:ln>
          </p:spPr>
          <p:style>
            <a:lnRef idx="0"/>
            <a:fillRef idx="0"/>
            <a:effectRef idx="0"/>
            <a:fontRef idx="minor"/>
          </p:style>
          <p:txBody>
            <a:bodyPr lIns="0" tIns="0" rIns="0" bIns="0" anchor="ctr">
              <a:noAutofit/>
            </a:bodyPr>
            <a:p>
              <a:endParaRPr lang="en-US" sz="1400" b="0" u="none" strike="noStrike">
                <a:solidFill>
                  <a:srgbClr val="000000"/>
                </a:solidFill>
                <a:effectLst/>
                <a:uFillTx/>
                <a:latin typeface="Arial"/>
              </a:endParaRPr>
            </a:p>
          </p:txBody>
        </p:sp>
        <p:sp>
          <p:nvSpPr>
            <p:cNvPr id="363" name="Google Shape;442;p11"/>
            <p:cNvSpPr/>
            <p:nvPr/>
          </p:nvSpPr>
          <p:spPr>
            <a:xfrm>
              <a:off x="762120" y="2048040"/>
              <a:ext cx="3237480" cy="570600"/>
            </a:xfrm>
            <a:prstGeom prst="roundRect">
              <a:avLst>
                <a:gd name="adj" fmla="val 26666"/>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364" name="Google Shape;443;p11"/>
            <p:cNvSpPr/>
            <p:nvPr/>
          </p:nvSpPr>
          <p:spPr>
            <a:xfrm>
              <a:off x="762120" y="2333520"/>
              <a:ext cx="3237480" cy="284760"/>
            </a:xfrm>
            <a:prstGeom prst="rect">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365" name="Google Shape;444;p11"/>
            <p:cNvSpPr/>
            <p:nvPr/>
          </p:nvSpPr>
          <p:spPr>
            <a:xfrm>
              <a:off x="762120" y="2048040"/>
              <a:ext cx="3237480" cy="3332880"/>
            </a:xfrm>
            <a:prstGeom prst="rect">
              <a:avLst/>
            </a:prstGeom>
            <a:noFill/>
            <a:ln w="0">
              <a:noFill/>
            </a:ln>
          </p:spPr>
          <p:style>
            <a:lnRef idx="0"/>
            <a:fillRef idx="0"/>
            <a:effectRef idx="0"/>
            <a:fontRef idx="minor"/>
          </p:style>
          <p:txBody>
            <a:bodyPr lIns="190440" tIns="190440" rIns="190440" bIns="190440" anchor="t">
              <a:noAutofit/>
            </a:bodyPr>
            <a:p>
              <a:pPr algn="ctr">
                <a:lnSpc>
                  <a:spcPct val="100000"/>
                </a:lnSpc>
                <a:tabLst>
                  <a:tab pos="0" algn="l"/>
                </a:tabLst>
              </a:pPr>
              <a:r>
                <a:rPr lang="en-US" sz="2000" b="1" u="none" strike="noStrike">
                  <a:solidFill>
                    <a:srgbClr val="FFFFFF"/>
                  </a:solidFill>
                  <a:effectLst/>
                  <a:uFillTx/>
                  <a:latin typeface="Calibri"/>
                  <a:ea typeface="Calibri"/>
                </a:rPr>
                <a:t>FLOW 01</a:t>
              </a:r>
              <a:endParaRPr lang="en-US" sz="2000" b="0" u="none" strike="noStrike">
                <a:solidFill>
                  <a:srgbClr val="FFFFFF"/>
                </a:solidFill>
                <a:effectLst/>
                <a:uFillTx/>
                <a:latin typeface="Arial"/>
              </a:endParaRPr>
            </a:p>
            <a:p>
              <a:pPr algn="ctr">
                <a:lnSpc>
                  <a:spcPct val="100000"/>
                </a:lnSpc>
                <a:spcBef>
                  <a:spcPts val="1874"/>
                </a:spcBef>
                <a:tabLst>
                  <a:tab pos="0" algn="l"/>
                </a:tabLst>
              </a:pPr>
              <a:r>
                <a:rPr lang="en-US" sz="1800" b="1" u="none" strike="noStrike">
                  <a:solidFill>
                    <a:srgbClr val="002060"/>
                  </a:solidFill>
                  <a:effectLst/>
                  <a:uFillTx/>
                  <a:latin typeface="Calibri"/>
                  <a:ea typeface="Calibri"/>
                </a:rPr>
                <a:t>Baseline</a:t>
              </a:r>
              <a:endParaRPr lang="en-US" sz="1800" b="0" u="none" strike="noStrike">
                <a:solidFill>
                  <a:srgbClr val="FFFFFF"/>
                </a:solidFill>
                <a:effectLst/>
                <a:uFillTx/>
                <a:latin typeface="Arial"/>
              </a:endParaRPr>
            </a:p>
            <a:p>
              <a:pPr>
                <a:lnSpc>
                  <a:spcPct val="100000"/>
                </a:lnSpc>
                <a:spcBef>
                  <a:spcPts val="1125"/>
                </a:spcBef>
                <a:tabLst>
                  <a:tab pos="0" algn="l"/>
                </a:tabLst>
              </a:pPr>
              <a:r>
                <a:rPr lang="en-US" sz="1800" b="0" u="none" strike="noStrike">
                  <a:solidFill>
                    <a:srgbClr val="374151"/>
                  </a:solidFill>
                  <a:effectLst/>
                  <a:uFillTx/>
                  <a:latin typeface="Calibri"/>
                  <a:ea typeface="Calibri"/>
                </a:rPr>
                <a:t>Structured intervals were used with periodic traffic rate changes. For every twenty time windows, the network traffic was set to a given amount.</a:t>
              </a:r>
              <a:endParaRPr lang="en-US" sz="1800" b="0" u="none" strike="noStrike">
                <a:solidFill>
                  <a:srgbClr val="FFFFFF"/>
                </a:solidFill>
                <a:effectLst/>
                <a:uFillTx/>
                <a:latin typeface="Arial"/>
              </a:endParaRPr>
            </a:p>
          </p:txBody>
        </p:sp>
      </p:grpSp>
      <p:grpSp>
        <p:nvGrpSpPr>
          <p:cNvPr id="366" name="Google Shape;445;p11"/>
          <p:cNvGrpSpPr/>
          <p:nvPr/>
        </p:nvGrpSpPr>
        <p:grpSpPr>
          <a:xfrm>
            <a:off x="4476600" y="2048040"/>
            <a:ext cx="3237480" cy="3332880"/>
            <a:chOff x="4476600" y="2048040"/>
            <a:chExt cx="3237480" cy="3332880"/>
          </a:xfrm>
        </p:grpSpPr>
        <p:sp>
          <p:nvSpPr>
            <p:cNvPr id="367" name="Google Shape;446;p11"/>
            <p:cNvSpPr/>
            <p:nvPr/>
          </p:nvSpPr>
          <p:spPr>
            <a:xfrm>
              <a:off x="4476600" y="2048040"/>
              <a:ext cx="3237480" cy="3332880"/>
            </a:xfrm>
            <a:prstGeom prst="roundRect">
              <a:avLst>
                <a:gd name="adj" fmla="val 4705"/>
              </a:avLst>
            </a:prstGeom>
            <a:solidFill>
              <a:srgbClr val="FFFFFF"/>
            </a:solidFill>
            <a:ln w="19050">
              <a:solidFill>
                <a:srgbClr val="002060"/>
              </a:solidFill>
              <a:round/>
            </a:ln>
          </p:spPr>
          <p:style>
            <a:lnRef idx="0"/>
            <a:fillRef idx="0"/>
            <a:effectRef idx="0"/>
            <a:fontRef idx="minor"/>
          </p:style>
          <p:txBody>
            <a:bodyPr lIns="0" tIns="0" rIns="0" bIns="0" anchor="ctr">
              <a:noAutofit/>
            </a:bodyPr>
            <a:p>
              <a:endParaRPr lang="en-US" sz="1400" b="0" u="none" strike="noStrike">
                <a:solidFill>
                  <a:srgbClr val="000000"/>
                </a:solidFill>
                <a:effectLst/>
                <a:uFillTx/>
                <a:latin typeface="Arial"/>
              </a:endParaRPr>
            </a:p>
          </p:txBody>
        </p:sp>
        <p:sp>
          <p:nvSpPr>
            <p:cNvPr id="368" name="Google Shape;447;p11"/>
            <p:cNvSpPr/>
            <p:nvPr/>
          </p:nvSpPr>
          <p:spPr>
            <a:xfrm>
              <a:off x="4476600" y="2048040"/>
              <a:ext cx="3237480" cy="570600"/>
            </a:xfrm>
            <a:prstGeom prst="roundRect">
              <a:avLst>
                <a:gd name="adj" fmla="val 26666"/>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369" name="Google Shape;448;p11"/>
            <p:cNvSpPr/>
            <p:nvPr/>
          </p:nvSpPr>
          <p:spPr>
            <a:xfrm>
              <a:off x="4476600" y="2333520"/>
              <a:ext cx="3237480" cy="284760"/>
            </a:xfrm>
            <a:prstGeom prst="rect">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370" name="Google Shape;449;p11"/>
            <p:cNvSpPr/>
            <p:nvPr/>
          </p:nvSpPr>
          <p:spPr>
            <a:xfrm>
              <a:off x="4476600" y="2048040"/>
              <a:ext cx="3237480" cy="3332880"/>
            </a:xfrm>
            <a:prstGeom prst="rect">
              <a:avLst/>
            </a:prstGeom>
            <a:noFill/>
            <a:ln w="0">
              <a:noFill/>
            </a:ln>
          </p:spPr>
          <p:style>
            <a:lnRef idx="0"/>
            <a:fillRef idx="0"/>
            <a:effectRef idx="0"/>
            <a:fontRef idx="minor"/>
          </p:style>
          <p:txBody>
            <a:bodyPr lIns="190440" tIns="190440" rIns="190440" bIns="190440" anchor="t">
              <a:noAutofit/>
            </a:bodyPr>
            <a:p>
              <a:pPr algn="ctr">
                <a:lnSpc>
                  <a:spcPct val="100000"/>
                </a:lnSpc>
                <a:tabLst>
                  <a:tab pos="0" algn="l"/>
                </a:tabLst>
              </a:pPr>
              <a:r>
                <a:rPr lang="en-US" sz="2000" b="1" u="none" strike="noStrike">
                  <a:solidFill>
                    <a:srgbClr val="FFFFFF"/>
                  </a:solidFill>
                  <a:effectLst/>
                  <a:uFillTx/>
                  <a:latin typeface="Calibri"/>
                  <a:ea typeface="Calibri"/>
                </a:rPr>
                <a:t>FLOW 02</a:t>
              </a:r>
              <a:endParaRPr lang="en-US" sz="2000" b="0" u="none" strike="noStrike">
                <a:solidFill>
                  <a:srgbClr val="FFFFFF"/>
                </a:solidFill>
                <a:effectLst/>
                <a:uFillTx/>
                <a:latin typeface="Arial"/>
              </a:endParaRPr>
            </a:p>
            <a:p>
              <a:pPr algn="ctr">
                <a:lnSpc>
                  <a:spcPct val="100000"/>
                </a:lnSpc>
                <a:spcBef>
                  <a:spcPts val="1874"/>
                </a:spcBef>
                <a:tabLst>
                  <a:tab pos="0" algn="l"/>
                </a:tabLst>
              </a:pPr>
              <a:r>
                <a:rPr lang="en-US" sz="1800" b="1" u="none" strike="noStrike">
                  <a:solidFill>
                    <a:srgbClr val="002060"/>
                  </a:solidFill>
                  <a:effectLst/>
                  <a:uFillTx/>
                  <a:latin typeface="Calibri"/>
                  <a:ea typeface="Calibri"/>
                </a:rPr>
                <a:t>Regime Switching</a:t>
              </a:r>
              <a:endParaRPr lang="en-US" sz="1800" b="0" u="none" strike="noStrike">
                <a:solidFill>
                  <a:srgbClr val="FFFFFF"/>
                </a:solidFill>
                <a:effectLst/>
                <a:uFillTx/>
                <a:latin typeface="Arial"/>
              </a:endParaRPr>
            </a:p>
            <a:p>
              <a:pPr>
                <a:lnSpc>
                  <a:spcPct val="100000"/>
                </a:lnSpc>
                <a:spcBef>
                  <a:spcPts val="1125"/>
                </a:spcBef>
                <a:tabLst>
                  <a:tab pos="0" algn="l"/>
                </a:tabLst>
              </a:pPr>
              <a:r>
                <a:rPr lang="en-US" sz="1800" b="0" u="none" strike="noStrike">
                  <a:solidFill>
                    <a:srgbClr val="374151"/>
                  </a:solidFill>
                  <a:effectLst/>
                  <a:uFillTx/>
                  <a:latin typeface="Calibri"/>
                  <a:ea typeface="Calibri"/>
                </a:rPr>
                <a:t>Traffic was alternated at random intervals with highs and lows.</a:t>
              </a:r>
              <a:endParaRPr lang="en-US" sz="1800" b="0" u="none" strike="noStrike">
                <a:solidFill>
                  <a:srgbClr val="FFFFFF"/>
                </a:solidFill>
                <a:effectLst/>
                <a:uFillTx/>
                <a:latin typeface="Arial"/>
              </a:endParaRPr>
            </a:p>
          </p:txBody>
        </p:sp>
      </p:grpSp>
      <p:grpSp>
        <p:nvGrpSpPr>
          <p:cNvPr id="371" name="Google Shape;450;p11"/>
          <p:cNvGrpSpPr/>
          <p:nvPr/>
        </p:nvGrpSpPr>
        <p:grpSpPr>
          <a:xfrm>
            <a:off x="8191440" y="2048040"/>
            <a:ext cx="3237480" cy="3332880"/>
            <a:chOff x="8191440" y="2048040"/>
            <a:chExt cx="3237480" cy="3332880"/>
          </a:xfrm>
        </p:grpSpPr>
        <p:sp>
          <p:nvSpPr>
            <p:cNvPr id="372" name="Google Shape;451;p11"/>
            <p:cNvSpPr/>
            <p:nvPr/>
          </p:nvSpPr>
          <p:spPr>
            <a:xfrm>
              <a:off x="8191440" y="2048040"/>
              <a:ext cx="3237480" cy="3332880"/>
            </a:xfrm>
            <a:prstGeom prst="roundRect">
              <a:avLst>
                <a:gd name="adj" fmla="val 4705"/>
              </a:avLst>
            </a:prstGeom>
            <a:solidFill>
              <a:srgbClr val="FFFFFF"/>
            </a:solidFill>
            <a:ln w="19050">
              <a:solidFill>
                <a:srgbClr val="002060"/>
              </a:solidFill>
              <a:round/>
            </a:ln>
          </p:spPr>
          <p:style>
            <a:lnRef idx="0"/>
            <a:fillRef idx="0"/>
            <a:effectRef idx="0"/>
            <a:fontRef idx="minor"/>
          </p:style>
          <p:txBody>
            <a:bodyPr lIns="0" tIns="0" rIns="0" bIns="0" anchor="ctr">
              <a:noAutofit/>
            </a:bodyPr>
            <a:p>
              <a:endParaRPr lang="en-US" sz="1400" b="0" u="none" strike="noStrike">
                <a:solidFill>
                  <a:srgbClr val="000000"/>
                </a:solidFill>
                <a:effectLst/>
                <a:uFillTx/>
                <a:latin typeface="Arial"/>
              </a:endParaRPr>
            </a:p>
          </p:txBody>
        </p:sp>
        <p:sp>
          <p:nvSpPr>
            <p:cNvPr id="373" name="Google Shape;452;p11"/>
            <p:cNvSpPr/>
            <p:nvPr/>
          </p:nvSpPr>
          <p:spPr>
            <a:xfrm>
              <a:off x="8191440" y="2048040"/>
              <a:ext cx="3237480" cy="570600"/>
            </a:xfrm>
            <a:prstGeom prst="roundRect">
              <a:avLst>
                <a:gd name="adj" fmla="val 26666"/>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374" name="Google Shape;453;p11"/>
            <p:cNvSpPr/>
            <p:nvPr/>
          </p:nvSpPr>
          <p:spPr>
            <a:xfrm>
              <a:off x="8191440" y="2333520"/>
              <a:ext cx="3237480" cy="284760"/>
            </a:xfrm>
            <a:prstGeom prst="rect">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375" name="Google Shape;454;p11"/>
            <p:cNvSpPr/>
            <p:nvPr/>
          </p:nvSpPr>
          <p:spPr>
            <a:xfrm>
              <a:off x="8191440" y="2048040"/>
              <a:ext cx="3237480" cy="3332880"/>
            </a:xfrm>
            <a:prstGeom prst="rect">
              <a:avLst/>
            </a:prstGeom>
            <a:noFill/>
            <a:ln w="0">
              <a:noFill/>
            </a:ln>
          </p:spPr>
          <p:style>
            <a:lnRef idx="0"/>
            <a:fillRef idx="0"/>
            <a:effectRef idx="0"/>
            <a:fontRef idx="minor"/>
          </p:style>
          <p:txBody>
            <a:bodyPr lIns="190440" tIns="190440" rIns="190440" bIns="190440" anchor="t">
              <a:noAutofit/>
            </a:bodyPr>
            <a:p>
              <a:pPr algn="ctr">
                <a:lnSpc>
                  <a:spcPct val="100000"/>
                </a:lnSpc>
                <a:tabLst>
                  <a:tab pos="0" algn="l"/>
                </a:tabLst>
              </a:pPr>
              <a:r>
                <a:rPr lang="en-US" sz="2000" b="1" u="none" strike="noStrike">
                  <a:solidFill>
                    <a:srgbClr val="FFFFFF"/>
                  </a:solidFill>
                  <a:effectLst/>
                  <a:uFillTx/>
                  <a:latin typeface="Calibri"/>
                  <a:ea typeface="Calibri"/>
                </a:rPr>
                <a:t>FLOW 03</a:t>
              </a:r>
              <a:endParaRPr lang="en-US" sz="2000" b="0" u="none" strike="noStrike">
                <a:solidFill>
                  <a:srgbClr val="FFFFFF"/>
                </a:solidFill>
                <a:effectLst/>
                <a:uFillTx/>
                <a:latin typeface="Arial"/>
              </a:endParaRPr>
            </a:p>
            <a:p>
              <a:pPr algn="ctr">
                <a:lnSpc>
                  <a:spcPct val="100000"/>
                </a:lnSpc>
                <a:spcBef>
                  <a:spcPts val="1874"/>
                </a:spcBef>
                <a:tabLst>
                  <a:tab pos="0" algn="l"/>
                </a:tabLst>
              </a:pPr>
              <a:r>
                <a:rPr lang="en-US" sz="1800" b="1" u="none" strike="noStrike">
                  <a:solidFill>
                    <a:srgbClr val="002060"/>
                  </a:solidFill>
                  <a:effectLst/>
                  <a:uFillTx/>
                  <a:latin typeface="Calibri"/>
                  <a:ea typeface="Calibri"/>
                </a:rPr>
                <a:t>Random Walk</a:t>
              </a:r>
              <a:endParaRPr lang="en-US" sz="1800" b="0" u="none" strike="noStrike">
                <a:solidFill>
                  <a:srgbClr val="FFFFFF"/>
                </a:solidFill>
                <a:effectLst/>
                <a:uFillTx/>
                <a:latin typeface="Arial"/>
              </a:endParaRPr>
            </a:p>
            <a:p>
              <a:pPr>
                <a:lnSpc>
                  <a:spcPct val="100000"/>
                </a:lnSpc>
                <a:spcBef>
                  <a:spcPts val="1125"/>
                </a:spcBef>
                <a:tabLst>
                  <a:tab pos="0" algn="l"/>
                </a:tabLst>
              </a:pPr>
              <a:r>
                <a:rPr lang="en-US" sz="1800" b="0" u="none" strike="noStrike">
                  <a:solidFill>
                    <a:srgbClr val="374151"/>
                  </a:solidFill>
                  <a:effectLst/>
                  <a:uFillTx/>
                  <a:latin typeface="Calibri"/>
                  <a:ea typeface="Calibri"/>
                </a:rPr>
                <a:t>A continuous drift was used via a random step algorithm. With a step size of plus or minus 150 kbps for each window.</a:t>
              </a:r>
              <a:endParaRPr lang="en-US" sz="1800" b="0" u="none" strike="noStrike">
                <a:solidFill>
                  <a:srgbClr val="FFFFFF"/>
                </a:solidFill>
                <a:effectLst/>
                <a:uFillTx/>
                <a:latin typeface="Arial"/>
              </a:endParaRPr>
            </a:p>
          </p:txBody>
        </p:sp>
      </p:grpSp>
      <p:sp>
        <p:nvSpPr>
          <p:cNvPr id="376" name="Google Shape;455;p11"/>
          <p:cNvSpPr/>
          <p:nvPr/>
        </p:nvSpPr>
        <p:spPr>
          <a:xfrm>
            <a:off x="571680" y="6176880"/>
            <a:ext cx="951480" cy="6775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FFFFFF"/>
                </a:solidFill>
                <a:effectLst/>
                <a:uFillTx/>
                <a:latin typeface="Calibri"/>
                <a:ea typeface="Calibri"/>
              </a:rPr>
              <a:t>Page 13</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Google Shape;460;p12"/>
          <p:cNvSpPr/>
          <p:nvPr/>
        </p:nvSpPr>
        <p:spPr>
          <a:xfrm>
            <a:off x="4038480" y="2334600"/>
            <a:ext cx="3305520" cy="3183480"/>
          </a:xfrm>
          <a:prstGeom prst="ellipse">
            <a:avLst/>
          </a:prstGeom>
          <a:blipFill rotWithShape="0">
            <a:blip r:embed="rId1"/>
            <a:srcRect/>
            <a:stretch/>
          </a:blipFill>
          <a:ln w="0">
            <a:noFill/>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378" name="Google Shape;461;p12"/>
          <p:cNvSpPr/>
          <p:nvPr/>
        </p:nvSpPr>
        <p:spPr>
          <a:xfrm>
            <a:off x="0" y="0"/>
            <a:ext cx="12188520" cy="6173280"/>
          </a:xfrm>
          <a:prstGeom prst="rect">
            <a:avLst/>
          </a:prstGeom>
          <a:solidFill>
            <a:srgbClr val="FFFFCC">
              <a:alpha val="86000"/>
            </a:srgbClr>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379" name="Google Shape;462;p12"/>
          <p:cNvSpPr/>
          <p:nvPr/>
        </p:nvSpPr>
        <p:spPr>
          <a:xfrm>
            <a:off x="0" y="0"/>
            <a:ext cx="9140400" cy="18216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sp>
        <p:nvSpPr>
          <p:cNvPr id="380" name="Google Shape;463;p12"/>
          <p:cNvSpPr/>
          <p:nvPr/>
        </p:nvSpPr>
        <p:spPr>
          <a:xfrm>
            <a:off x="9144000" y="0"/>
            <a:ext cx="3044520" cy="182160"/>
          </a:xfrm>
          <a:prstGeom prst="rect">
            <a:avLst/>
          </a:prstGeom>
          <a:solidFill>
            <a:schemeClr val="accent4"/>
          </a:solidFill>
          <a:ln w="12700">
            <a:solidFill>
              <a:srgbClr val="FFC000"/>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381" name="Google Shape;464;p12"/>
          <p:cNvSpPr/>
          <p:nvPr/>
        </p:nvSpPr>
        <p:spPr>
          <a:xfrm>
            <a:off x="0" y="6176880"/>
            <a:ext cx="12188520" cy="67752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pic>
        <p:nvPicPr>
          <p:cNvPr id="382" name="Google Shape;465;p12"/>
          <p:cNvPicPr/>
          <p:nvPr/>
        </p:nvPicPr>
        <p:blipFill>
          <a:blip r:embed="rId2"/>
          <a:stretch/>
        </p:blipFill>
        <p:spPr>
          <a:xfrm>
            <a:off x="8210520" y="6176880"/>
            <a:ext cx="3978000" cy="681480"/>
          </a:xfrm>
          <a:prstGeom prst="rect">
            <a:avLst/>
          </a:prstGeom>
          <a:noFill/>
          <a:ln w="0">
            <a:noFill/>
          </a:ln>
        </p:spPr>
      </p:pic>
      <p:sp>
        <p:nvSpPr>
          <p:cNvPr id="383" name="PlaceHolder 1"/>
          <p:cNvSpPr>
            <a:spLocks noGrp="1"/>
          </p:cNvSpPr>
          <p:nvPr>
            <p:ph type="title"/>
          </p:nvPr>
        </p:nvSpPr>
        <p:spPr>
          <a:xfrm>
            <a:off x="76320" y="227520"/>
            <a:ext cx="12038400" cy="555120"/>
          </a:xfrm>
          <a:prstGeom prst="rect">
            <a:avLst/>
          </a:prstGeom>
          <a:noFill/>
          <a:ln w="0">
            <a:noFill/>
          </a:ln>
        </p:spPr>
        <p:txBody>
          <a:bodyPr lIns="0" tIns="0" rIns="0" bIns="0" anchor="ctr">
            <a:spAutoFit/>
          </a:bodyPr>
          <a:p>
            <a:pPr indent="0" algn="ctr">
              <a:lnSpc>
                <a:spcPct val="100000"/>
              </a:lnSpc>
              <a:buNone/>
              <a:tabLst>
                <a:tab pos="0" algn="l"/>
              </a:tabLst>
            </a:pPr>
            <a:r>
              <a:rPr lang="en-US" sz="3600" b="1" u="none" strike="noStrike">
                <a:solidFill>
                  <a:srgbClr val="002060"/>
                </a:solidFill>
                <a:effectLst/>
                <a:uFillTx/>
                <a:latin typeface="Calibri"/>
                <a:ea typeface="Calibri"/>
              </a:rPr>
              <a:t>DATA COLLECTION</a:t>
            </a:r>
            <a:endParaRPr lang="en-US" sz="3600" b="0" u="none" strike="noStrike">
              <a:solidFill>
                <a:srgbClr val="000000"/>
              </a:solidFill>
              <a:effectLst/>
              <a:uFillTx/>
              <a:latin typeface="Arial"/>
            </a:endParaRPr>
          </a:p>
        </p:txBody>
      </p:sp>
      <p:grpSp>
        <p:nvGrpSpPr>
          <p:cNvPr id="384" name="Google Shape;467;p12"/>
          <p:cNvGrpSpPr/>
          <p:nvPr/>
        </p:nvGrpSpPr>
        <p:grpSpPr>
          <a:xfrm>
            <a:off x="762120" y="1714680"/>
            <a:ext cx="2475360" cy="3618360"/>
            <a:chOff x="762120" y="1714680"/>
            <a:chExt cx="2475360" cy="3618360"/>
          </a:xfrm>
        </p:grpSpPr>
        <p:sp>
          <p:nvSpPr>
            <p:cNvPr id="385" name="Google Shape;468;p12"/>
            <p:cNvSpPr/>
            <p:nvPr/>
          </p:nvSpPr>
          <p:spPr>
            <a:xfrm>
              <a:off x="762120" y="1714680"/>
              <a:ext cx="2475360" cy="3618360"/>
            </a:xfrm>
            <a:prstGeom prst="roundRect">
              <a:avLst>
                <a:gd name="adj" fmla="val 5769"/>
              </a:avLst>
            </a:prstGeom>
            <a:solidFill>
              <a:srgbClr val="FFFFFF"/>
            </a:solidFill>
            <a:ln w="19050">
              <a:solidFill>
                <a:srgbClr val="002060"/>
              </a:solidFill>
              <a:round/>
            </a:ln>
          </p:spPr>
          <p:style>
            <a:lnRef idx="0"/>
            <a:fillRef idx="0"/>
            <a:effectRef idx="0"/>
            <a:fontRef idx="minor"/>
          </p:style>
          <p:txBody>
            <a:bodyPr lIns="0" tIns="0" rIns="0" bIns="0" anchor="ctr">
              <a:noAutofit/>
            </a:bodyPr>
            <a:p>
              <a:endParaRPr lang="en-US" sz="1400" b="0" u="none" strike="noStrike">
                <a:solidFill>
                  <a:srgbClr val="000000"/>
                </a:solidFill>
                <a:effectLst/>
                <a:uFillTx/>
                <a:latin typeface="Arial"/>
              </a:endParaRPr>
            </a:p>
          </p:txBody>
        </p:sp>
        <p:sp>
          <p:nvSpPr>
            <p:cNvPr id="386" name="Google Shape;469;p12"/>
            <p:cNvSpPr/>
            <p:nvPr/>
          </p:nvSpPr>
          <p:spPr>
            <a:xfrm>
              <a:off x="762120" y="1714680"/>
              <a:ext cx="2475360" cy="570600"/>
            </a:xfrm>
            <a:prstGeom prst="roundRect">
              <a:avLst>
                <a:gd name="adj" fmla="val 25000"/>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387" name="Google Shape;470;p12"/>
            <p:cNvSpPr/>
            <p:nvPr/>
          </p:nvSpPr>
          <p:spPr>
            <a:xfrm>
              <a:off x="762120" y="2000160"/>
              <a:ext cx="2475360" cy="284760"/>
            </a:xfrm>
            <a:prstGeom prst="rect">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388" name="Google Shape;471;p12"/>
            <p:cNvSpPr/>
            <p:nvPr/>
          </p:nvSpPr>
          <p:spPr>
            <a:xfrm>
              <a:off x="762120" y="1714680"/>
              <a:ext cx="2475360" cy="3618360"/>
            </a:xfrm>
            <a:prstGeom prst="rect">
              <a:avLst/>
            </a:prstGeom>
            <a:noFill/>
            <a:ln w="0">
              <a:noFill/>
            </a:ln>
          </p:spPr>
          <p:style>
            <a:lnRef idx="0"/>
            <a:fillRef idx="0"/>
            <a:effectRef idx="0"/>
            <a:fontRef idx="minor"/>
          </p:style>
          <p:txBody>
            <a:bodyPr lIns="142920" tIns="171360" rIns="142920" bIns="171360" anchor="t">
              <a:noAutofit/>
            </a:bodyPr>
            <a:p>
              <a:pPr algn="ctr">
                <a:lnSpc>
                  <a:spcPct val="100000"/>
                </a:lnSpc>
                <a:tabLst>
                  <a:tab pos="0" algn="l"/>
                </a:tabLst>
              </a:pPr>
              <a:r>
                <a:rPr lang="en-US" sz="2000" b="1" u="none" strike="noStrike">
                  <a:solidFill>
                    <a:srgbClr val="FFFFFF"/>
                  </a:solidFill>
                  <a:effectLst/>
                  <a:uFillTx/>
                  <a:latin typeface="Calibri"/>
                  <a:ea typeface="Calibri"/>
                </a:rPr>
                <a:t>MEASUREMENT</a:t>
              </a:r>
              <a:endParaRPr lang="en-US" sz="2000" b="0" u="none" strike="noStrike">
                <a:solidFill>
                  <a:srgbClr val="FFFFFF"/>
                </a:solidFill>
                <a:effectLst/>
                <a:uFillTx/>
                <a:latin typeface="Arial"/>
              </a:endParaRPr>
            </a:p>
            <a:p>
              <a:pPr>
                <a:lnSpc>
                  <a:spcPct val="100000"/>
                </a:lnSpc>
                <a:spcBef>
                  <a:spcPts val="2625"/>
                </a:spcBef>
                <a:tabLst>
                  <a:tab pos="0" algn="l"/>
                </a:tabLst>
              </a:pPr>
              <a:r>
                <a:rPr lang="en-US" sz="1800" b="1" u="none" strike="noStrike">
                  <a:solidFill>
                    <a:srgbClr val="002060"/>
                  </a:solidFill>
                  <a:effectLst/>
                  <a:uFillTx/>
                  <a:latin typeface="Calibri"/>
                  <a:ea typeface="Calibri"/>
                </a:rPr>
                <a:t>5-Second Windows</a:t>
              </a:r>
              <a:endParaRPr lang="en-US" sz="1800" b="0" u="none" strike="noStrike">
                <a:solidFill>
                  <a:srgbClr val="FFFFFF"/>
                </a:solidFill>
                <a:effectLst/>
                <a:uFillTx/>
                <a:latin typeface="Arial"/>
              </a:endParaRPr>
            </a:p>
            <a:p>
              <a:pPr>
                <a:lnSpc>
                  <a:spcPct val="100000"/>
                </a:lnSpc>
                <a:spcBef>
                  <a:spcPts val="1125"/>
                </a:spcBef>
                <a:tabLst>
                  <a:tab pos="0" algn="l"/>
                </a:tabLst>
              </a:pPr>
              <a:r>
                <a:rPr lang="en-US" sz="1800" b="0" u="none" strike="noStrike">
                  <a:solidFill>
                    <a:srgbClr val="374151"/>
                  </a:solidFill>
                  <a:effectLst/>
                  <a:uFillTx/>
                  <a:latin typeface="Calibri"/>
                  <a:ea typeface="Calibri"/>
                </a:rPr>
                <a:t>Data was collected using 5-second measurement windows via the </a:t>
              </a:r>
              <a:r>
                <a:rPr lang="en-US" sz="1800" b="1" u="none" strike="noStrike">
                  <a:solidFill>
                    <a:srgbClr val="002060"/>
                  </a:solidFill>
                  <a:effectLst/>
                  <a:uFillTx/>
                  <a:latin typeface="Calibri"/>
                  <a:ea typeface="Calibri"/>
                </a:rPr>
                <a:t>NS-3 FlowMonitor</a:t>
              </a:r>
              <a:r>
                <a:rPr lang="en-US" sz="1800" b="0" u="none" strike="noStrike">
                  <a:solidFill>
                    <a:srgbClr val="374151"/>
                  </a:solidFill>
                  <a:effectLst/>
                  <a:uFillTx/>
                  <a:latin typeface="Calibri"/>
                  <a:ea typeface="Calibri"/>
                </a:rPr>
                <a:t> module.</a:t>
              </a:r>
              <a:endParaRPr lang="en-US" sz="1800" b="0" u="none" strike="noStrike">
                <a:solidFill>
                  <a:srgbClr val="FFFFFF"/>
                </a:solidFill>
                <a:effectLst/>
                <a:uFillTx/>
                <a:latin typeface="Arial"/>
              </a:endParaRPr>
            </a:p>
          </p:txBody>
        </p:sp>
      </p:grpSp>
      <p:grpSp>
        <p:nvGrpSpPr>
          <p:cNvPr id="389" name="Google Shape;472;p12"/>
          <p:cNvGrpSpPr/>
          <p:nvPr/>
        </p:nvGrpSpPr>
        <p:grpSpPr>
          <a:xfrm>
            <a:off x="3476520" y="1714680"/>
            <a:ext cx="2475360" cy="3618360"/>
            <a:chOff x="3476520" y="1714680"/>
            <a:chExt cx="2475360" cy="3618360"/>
          </a:xfrm>
        </p:grpSpPr>
        <p:sp>
          <p:nvSpPr>
            <p:cNvPr id="390" name="Google Shape;473;p12"/>
            <p:cNvSpPr/>
            <p:nvPr/>
          </p:nvSpPr>
          <p:spPr>
            <a:xfrm>
              <a:off x="3476520" y="1714680"/>
              <a:ext cx="2475360" cy="3618360"/>
            </a:xfrm>
            <a:prstGeom prst="roundRect">
              <a:avLst>
                <a:gd name="adj" fmla="val 5769"/>
              </a:avLst>
            </a:prstGeom>
            <a:solidFill>
              <a:srgbClr val="FFFFFF"/>
            </a:solidFill>
            <a:ln w="19050">
              <a:solidFill>
                <a:srgbClr val="002060"/>
              </a:solidFill>
              <a:round/>
            </a:ln>
          </p:spPr>
          <p:style>
            <a:lnRef idx="0"/>
            <a:fillRef idx="0"/>
            <a:effectRef idx="0"/>
            <a:fontRef idx="minor"/>
          </p:style>
          <p:txBody>
            <a:bodyPr lIns="0" tIns="0" rIns="0" bIns="0" anchor="ctr">
              <a:noAutofit/>
            </a:bodyPr>
            <a:p>
              <a:endParaRPr lang="en-US" sz="1400" b="0" u="none" strike="noStrike">
                <a:solidFill>
                  <a:srgbClr val="000000"/>
                </a:solidFill>
                <a:effectLst/>
                <a:uFillTx/>
                <a:latin typeface="Arial"/>
              </a:endParaRPr>
            </a:p>
          </p:txBody>
        </p:sp>
        <p:sp>
          <p:nvSpPr>
            <p:cNvPr id="391" name="Google Shape;474;p12"/>
            <p:cNvSpPr/>
            <p:nvPr/>
          </p:nvSpPr>
          <p:spPr>
            <a:xfrm>
              <a:off x="3476520" y="1714680"/>
              <a:ext cx="2475360" cy="570600"/>
            </a:xfrm>
            <a:prstGeom prst="roundRect">
              <a:avLst>
                <a:gd name="adj" fmla="val 25000"/>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392" name="Google Shape;475;p12"/>
            <p:cNvSpPr/>
            <p:nvPr/>
          </p:nvSpPr>
          <p:spPr>
            <a:xfrm>
              <a:off x="3476520" y="2000160"/>
              <a:ext cx="2475360" cy="284760"/>
            </a:xfrm>
            <a:prstGeom prst="rect">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393" name="Google Shape;476;p12"/>
            <p:cNvSpPr/>
            <p:nvPr/>
          </p:nvSpPr>
          <p:spPr>
            <a:xfrm>
              <a:off x="3476520" y="1714680"/>
              <a:ext cx="2475360" cy="3618360"/>
            </a:xfrm>
            <a:prstGeom prst="rect">
              <a:avLst/>
            </a:prstGeom>
            <a:noFill/>
            <a:ln w="0">
              <a:noFill/>
            </a:ln>
          </p:spPr>
          <p:style>
            <a:lnRef idx="0"/>
            <a:fillRef idx="0"/>
            <a:effectRef idx="0"/>
            <a:fontRef idx="minor"/>
          </p:style>
          <p:txBody>
            <a:bodyPr lIns="142920" tIns="171360" rIns="142920" bIns="171360" anchor="t">
              <a:noAutofit/>
            </a:bodyPr>
            <a:p>
              <a:pPr algn="ctr">
                <a:lnSpc>
                  <a:spcPct val="100000"/>
                </a:lnSpc>
                <a:tabLst>
                  <a:tab pos="0" algn="l"/>
                </a:tabLst>
              </a:pPr>
              <a:r>
                <a:rPr lang="en-US" sz="2000" b="1" u="none" strike="noStrike">
                  <a:solidFill>
                    <a:srgbClr val="FFFFFF"/>
                  </a:solidFill>
                  <a:effectLst/>
                  <a:uFillTx/>
                  <a:latin typeface="Calibri"/>
                  <a:ea typeface="Calibri"/>
                </a:rPr>
                <a:t>DATA POINTS</a:t>
              </a:r>
              <a:endParaRPr lang="en-US" sz="2000" b="0" u="none" strike="noStrike">
                <a:solidFill>
                  <a:srgbClr val="FFFFFF"/>
                </a:solidFill>
                <a:effectLst/>
                <a:uFillTx/>
                <a:latin typeface="Arial"/>
              </a:endParaRPr>
            </a:p>
            <a:p>
              <a:pPr>
                <a:lnSpc>
                  <a:spcPct val="100000"/>
                </a:lnSpc>
                <a:spcBef>
                  <a:spcPts val="2625"/>
                </a:spcBef>
                <a:tabLst>
                  <a:tab pos="0" algn="l"/>
                </a:tabLst>
              </a:pPr>
              <a:r>
                <a:rPr lang="en-US" sz="1800" b="1" u="none" strike="noStrike">
                  <a:solidFill>
                    <a:srgbClr val="002060"/>
                  </a:solidFill>
                  <a:effectLst/>
                  <a:uFillTx/>
                  <a:latin typeface="Calibri"/>
                  <a:ea typeface="Calibri"/>
                </a:rPr>
                <a:t>3,240 Samples</a:t>
              </a:r>
              <a:endParaRPr lang="en-US" sz="1800" b="0" u="none" strike="noStrike">
                <a:solidFill>
                  <a:srgbClr val="FFFFFF"/>
                </a:solidFill>
                <a:effectLst/>
                <a:uFillTx/>
                <a:latin typeface="Arial"/>
              </a:endParaRPr>
            </a:p>
            <a:p>
              <a:pPr>
                <a:lnSpc>
                  <a:spcPct val="100000"/>
                </a:lnSpc>
                <a:spcBef>
                  <a:spcPts val="1125"/>
                </a:spcBef>
                <a:tabLst>
                  <a:tab pos="0" algn="l"/>
                </a:tabLst>
              </a:pPr>
              <a:r>
                <a:rPr lang="en-US" sz="1800" b="0" u="none" strike="noStrike">
                  <a:solidFill>
                    <a:srgbClr val="374151"/>
                  </a:solidFill>
                  <a:effectLst/>
                  <a:uFillTx/>
                  <a:latin typeface="Calibri"/>
                  <a:ea typeface="Calibri"/>
                </a:rPr>
                <a:t>Interval set at 360 windows (30 mins) across </a:t>
              </a:r>
              <a:r>
                <a:rPr lang="en-US" sz="1800" b="1" u="none" strike="noStrike">
                  <a:solidFill>
                    <a:srgbClr val="002060"/>
                  </a:solidFill>
                  <a:effectLst/>
                  <a:uFillTx/>
                  <a:latin typeface="Calibri"/>
                  <a:ea typeface="Calibri"/>
                </a:rPr>
                <a:t>9 routes</a:t>
              </a:r>
              <a:r>
                <a:rPr lang="en-US" sz="1800" b="0" u="none" strike="noStrike">
                  <a:solidFill>
                    <a:srgbClr val="374151"/>
                  </a:solidFill>
                  <a:effectLst/>
                  <a:uFillTx/>
                  <a:latin typeface="Calibri"/>
                  <a:ea typeface="Calibri"/>
                </a:rPr>
                <a:t>, producing 3,240 observations.</a:t>
              </a:r>
              <a:endParaRPr lang="en-US" sz="1800" b="0" u="none" strike="noStrike">
                <a:solidFill>
                  <a:srgbClr val="FFFFFF"/>
                </a:solidFill>
                <a:effectLst/>
                <a:uFillTx/>
                <a:latin typeface="Arial"/>
              </a:endParaRPr>
            </a:p>
          </p:txBody>
        </p:sp>
      </p:grpSp>
      <p:grpSp>
        <p:nvGrpSpPr>
          <p:cNvPr id="394" name="Google Shape;477;p12"/>
          <p:cNvGrpSpPr/>
          <p:nvPr/>
        </p:nvGrpSpPr>
        <p:grpSpPr>
          <a:xfrm>
            <a:off x="6191280" y="1714680"/>
            <a:ext cx="2475360" cy="3618360"/>
            <a:chOff x="6191280" y="1714680"/>
            <a:chExt cx="2475360" cy="3618360"/>
          </a:xfrm>
        </p:grpSpPr>
        <p:sp>
          <p:nvSpPr>
            <p:cNvPr id="395" name="Google Shape;478;p12"/>
            <p:cNvSpPr/>
            <p:nvPr/>
          </p:nvSpPr>
          <p:spPr>
            <a:xfrm>
              <a:off x="6191280" y="1714680"/>
              <a:ext cx="2475360" cy="3618360"/>
            </a:xfrm>
            <a:prstGeom prst="roundRect">
              <a:avLst>
                <a:gd name="adj" fmla="val 5769"/>
              </a:avLst>
            </a:prstGeom>
            <a:solidFill>
              <a:srgbClr val="FFFFFF"/>
            </a:solidFill>
            <a:ln w="19050">
              <a:solidFill>
                <a:srgbClr val="002060"/>
              </a:solidFill>
              <a:round/>
            </a:ln>
          </p:spPr>
          <p:style>
            <a:lnRef idx="0"/>
            <a:fillRef idx="0"/>
            <a:effectRef idx="0"/>
            <a:fontRef idx="minor"/>
          </p:style>
          <p:txBody>
            <a:bodyPr lIns="0" tIns="0" rIns="0" bIns="0" anchor="ctr">
              <a:noAutofit/>
            </a:bodyPr>
            <a:p>
              <a:endParaRPr lang="en-US" sz="1400" b="0" u="none" strike="noStrike">
                <a:solidFill>
                  <a:srgbClr val="000000"/>
                </a:solidFill>
                <a:effectLst/>
                <a:uFillTx/>
                <a:latin typeface="Arial"/>
              </a:endParaRPr>
            </a:p>
          </p:txBody>
        </p:sp>
        <p:sp>
          <p:nvSpPr>
            <p:cNvPr id="396" name="Google Shape;479;p12"/>
            <p:cNvSpPr/>
            <p:nvPr/>
          </p:nvSpPr>
          <p:spPr>
            <a:xfrm>
              <a:off x="6191280" y="1714680"/>
              <a:ext cx="2475360" cy="570600"/>
            </a:xfrm>
            <a:prstGeom prst="roundRect">
              <a:avLst>
                <a:gd name="adj" fmla="val 25000"/>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397" name="Google Shape;480;p12"/>
            <p:cNvSpPr/>
            <p:nvPr/>
          </p:nvSpPr>
          <p:spPr>
            <a:xfrm>
              <a:off x="6191280" y="2000160"/>
              <a:ext cx="2475360" cy="284760"/>
            </a:xfrm>
            <a:prstGeom prst="rect">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398" name="Google Shape;481;p12"/>
            <p:cNvSpPr/>
            <p:nvPr/>
          </p:nvSpPr>
          <p:spPr>
            <a:xfrm>
              <a:off x="6191280" y="1714680"/>
              <a:ext cx="2475360" cy="3618360"/>
            </a:xfrm>
            <a:prstGeom prst="rect">
              <a:avLst/>
            </a:prstGeom>
            <a:noFill/>
            <a:ln w="0">
              <a:noFill/>
            </a:ln>
          </p:spPr>
          <p:style>
            <a:lnRef idx="0"/>
            <a:fillRef idx="0"/>
            <a:effectRef idx="0"/>
            <a:fontRef idx="minor"/>
          </p:style>
          <p:txBody>
            <a:bodyPr lIns="142920" tIns="171360" rIns="142920" bIns="171360" anchor="t">
              <a:noAutofit/>
            </a:bodyPr>
            <a:p>
              <a:pPr algn="ctr">
                <a:lnSpc>
                  <a:spcPct val="100000"/>
                </a:lnSpc>
                <a:tabLst>
                  <a:tab pos="0" algn="l"/>
                </a:tabLst>
              </a:pPr>
              <a:r>
                <a:rPr lang="en-US" sz="2000" b="1" u="none" strike="noStrike">
                  <a:solidFill>
                    <a:srgbClr val="FFFFFF"/>
                  </a:solidFill>
                  <a:effectLst/>
                  <a:uFillTx/>
                  <a:latin typeface="Calibri"/>
                  <a:ea typeface="Calibri"/>
                </a:rPr>
                <a:t>TRAFFIC &amp; SIZE</a:t>
              </a:r>
              <a:endParaRPr lang="en-US" sz="2000" b="0" u="none" strike="noStrike">
                <a:solidFill>
                  <a:srgbClr val="FFFFFF"/>
                </a:solidFill>
                <a:effectLst/>
                <a:uFillTx/>
                <a:latin typeface="Arial"/>
              </a:endParaRPr>
            </a:p>
            <a:p>
              <a:pPr>
                <a:lnSpc>
                  <a:spcPct val="100000"/>
                </a:lnSpc>
                <a:spcBef>
                  <a:spcPts val="2625"/>
                </a:spcBef>
                <a:tabLst>
                  <a:tab pos="0" algn="l"/>
                </a:tabLst>
              </a:pPr>
              <a:r>
                <a:rPr lang="en-US" sz="1800" b="1" u="none" strike="noStrike">
                  <a:solidFill>
                    <a:srgbClr val="002060"/>
                  </a:solidFill>
                  <a:effectLst/>
                  <a:uFillTx/>
                  <a:latin typeface="Calibri"/>
                  <a:ea typeface="Calibri"/>
                </a:rPr>
                <a:t>UDP</a:t>
              </a:r>
              <a:endParaRPr lang="en-US" sz="1800" b="0" u="none" strike="noStrike">
                <a:solidFill>
                  <a:srgbClr val="FFFFFF"/>
                </a:solidFill>
                <a:effectLst/>
                <a:uFillTx/>
                <a:latin typeface="Arial"/>
              </a:endParaRPr>
            </a:p>
            <a:p>
              <a:pPr>
                <a:lnSpc>
                  <a:spcPct val="100000"/>
                </a:lnSpc>
                <a:spcBef>
                  <a:spcPts val="1125"/>
                </a:spcBef>
                <a:tabLst>
                  <a:tab pos="0" algn="l"/>
                </a:tabLst>
              </a:pPr>
              <a:r>
                <a:rPr lang="en-US" sz="1800" b="1" u="none" strike="noStrike">
                  <a:solidFill>
                    <a:srgbClr val="002060"/>
                  </a:solidFill>
                  <a:effectLst/>
                  <a:uFillTx/>
                  <a:latin typeface="Calibri"/>
                  <a:ea typeface="Calibri"/>
                </a:rPr>
                <a:t>UDP traffic</a:t>
              </a:r>
              <a:r>
                <a:rPr lang="en-US" sz="1800" b="0" u="none" strike="noStrike">
                  <a:solidFill>
                    <a:srgbClr val="374151"/>
                  </a:solidFill>
                  <a:effectLst/>
                  <a:uFillTx/>
                  <a:latin typeface="Calibri"/>
                  <a:ea typeface="Calibri"/>
                </a:rPr>
                <a:t> with exponential on/off times. Packet size configured to 1024 bytes.</a:t>
              </a:r>
              <a:endParaRPr lang="en-US" sz="1800" b="0" u="none" strike="noStrike">
                <a:solidFill>
                  <a:srgbClr val="FFFFFF"/>
                </a:solidFill>
                <a:effectLst/>
                <a:uFillTx/>
                <a:latin typeface="Arial"/>
              </a:endParaRPr>
            </a:p>
          </p:txBody>
        </p:sp>
      </p:grpSp>
      <p:grpSp>
        <p:nvGrpSpPr>
          <p:cNvPr id="399" name="Google Shape;482;p12"/>
          <p:cNvGrpSpPr/>
          <p:nvPr/>
        </p:nvGrpSpPr>
        <p:grpSpPr>
          <a:xfrm>
            <a:off x="8906040" y="1714680"/>
            <a:ext cx="2475360" cy="3618360"/>
            <a:chOff x="8906040" y="1714680"/>
            <a:chExt cx="2475360" cy="3618360"/>
          </a:xfrm>
        </p:grpSpPr>
        <p:sp>
          <p:nvSpPr>
            <p:cNvPr id="400" name="Google Shape;483;p12"/>
            <p:cNvSpPr/>
            <p:nvPr/>
          </p:nvSpPr>
          <p:spPr>
            <a:xfrm>
              <a:off x="8906040" y="1714680"/>
              <a:ext cx="2475360" cy="3618360"/>
            </a:xfrm>
            <a:prstGeom prst="roundRect">
              <a:avLst>
                <a:gd name="adj" fmla="val 5769"/>
              </a:avLst>
            </a:prstGeom>
            <a:solidFill>
              <a:srgbClr val="FFFFFF"/>
            </a:solidFill>
            <a:ln w="19050">
              <a:solidFill>
                <a:srgbClr val="002060"/>
              </a:solidFill>
              <a:round/>
            </a:ln>
          </p:spPr>
          <p:style>
            <a:lnRef idx="0"/>
            <a:fillRef idx="0"/>
            <a:effectRef idx="0"/>
            <a:fontRef idx="minor"/>
          </p:style>
          <p:txBody>
            <a:bodyPr lIns="0" tIns="0" rIns="0" bIns="0" anchor="ctr">
              <a:noAutofit/>
            </a:bodyPr>
            <a:p>
              <a:endParaRPr lang="en-US" sz="1400" b="0" u="none" strike="noStrike">
                <a:solidFill>
                  <a:srgbClr val="000000"/>
                </a:solidFill>
                <a:effectLst/>
                <a:uFillTx/>
                <a:latin typeface="Arial"/>
              </a:endParaRPr>
            </a:p>
          </p:txBody>
        </p:sp>
        <p:sp>
          <p:nvSpPr>
            <p:cNvPr id="401" name="Google Shape;484;p12"/>
            <p:cNvSpPr/>
            <p:nvPr/>
          </p:nvSpPr>
          <p:spPr>
            <a:xfrm>
              <a:off x="8906040" y="1714680"/>
              <a:ext cx="2475360" cy="570600"/>
            </a:xfrm>
            <a:prstGeom prst="roundRect">
              <a:avLst>
                <a:gd name="adj" fmla="val 25000"/>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402" name="Google Shape;485;p12"/>
            <p:cNvSpPr/>
            <p:nvPr/>
          </p:nvSpPr>
          <p:spPr>
            <a:xfrm>
              <a:off x="8906040" y="2000160"/>
              <a:ext cx="2475360" cy="284760"/>
            </a:xfrm>
            <a:prstGeom prst="rect">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403" name="Google Shape;486;p12"/>
            <p:cNvSpPr/>
            <p:nvPr/>
          </p:nvSpPr>
          <p:spPr>
            <a:xfrm>
              <a:off x="8906040" y="1714680"/>
              <a:ext cx="2475360" cy="3618360"/>
            </a:xfrm>
            <a:prstGeom prst="rect">
              <a:avLst/>
            </a:prstGeom>
            <a:noFill/>
            <a:ln w="0">
              <a:noFill/>
            </a:ln>
          </p:spPr>
          <p:style>
            <a:lnRef idx="0"/>
            <a:fillRef idx="0"/>
            <a:effectRef idx="0"/>
            <a:fontRef idx="minor"/>
          </p:style>
          <p:txBody>
            <a:bodyPr lIns="142920" tIns="171360" rIns="142920" bIns="171360" anchor="t">
              <a:noAutofit/>
            </a:bodyPr>
            <a:p>
              <a:pPr algn="ctr">
                <a:lnSpc>
                  <a:spcPct val="100000"/>
                </a:lnSpc>
                <a:tabLst>
                  <a:tab pos="0" algn="l"/>
                </a:tabLst>
              </a:pPr>
              <a:r>
                <a:rPr lang="en-US" sz="2000" b="1" u="none" strike="noStrike">
                  <a:solidFill>
                    <a:srgbClr val="FFFFFF"/>
                  </a:solidFill>
                  <a:effectLst/>
                  <a:uFillTx/>
                  <a:latin typeface="Calibri"/>
                  <a:ea typeface="Calibri"/>
                </a:rPr>
                <a:t>PREPARATION</a:t>
              </a:r>
              <a:endParaRPr lang="en-US" sz="2000" b="0" u="none" strike="noStrike">
                <a:solidFill>
                  <a:srgbClr val="FFFFFF"/>
                </a:solidFill>
                <a:effectLst/>
                <a:uFillTx/>
                <a:latin typeface="Arial"/>
              </a:endParaRPr>
            </a:p>
            <a:p>
              <a:pPr>
                <a:lnSpc>
                  <a:spcPct val="100000"/>
                </a:lnSpc>
                <a:spcBef>
                  <a:spcPts val="2625"/>
                </a:spcBef>
                <a:tabLst>
                  <a:tab pos="0" algn="l"/>
                </a:tabLst>
              </a:pPr>
              <a:r>
                <a:rPr lang="en-US" sz="1800" b="1" u="none" strike="noStrike">
                  <a:solidFill>
                    <a:srgbClr val="002060"/>
                  </a:solidFill>
                  <a:effectLst/>
                  <a:uFillTx/>
                  <a:latin typeface="Calibri"/>
                  <a:ea typeface="Calibri"/>
                </a:rPr>
                <a:t>150s Warm-Up</a:t>
              </a:r>
              <a:endParaRPr lang="en-US" sz="1800" b="0" u="none" strike="noStrike">
                <a:solidFill>
                  <a:srgbClr val="FFFFFF"/>
                </a:solidFill>
                <a:effectLst/>
                <a:uFillTx/>
                <a:latin typeface="Arial"/>
              </a:endParaRPr>
            </a:p>
            <a:p>
              <a:pPr>
                <a:lnSpc>
                  <a:spcPct val="100000"/>
                </a:lnSpc>
                <a:spcBef>
                  <a:spcPts val="1125"/>
                </a:spcBef>
                <a:tabLst>
                  <a:tab pos="0" algn="l"/>
                </a:tabLst>
              </a:pPr>
              <a:r>
                <a:rPr lang="en-US" sz="1800" b="0" u="none" strike="noStrike">
                  <a:solidFill>
                    <a:srgbClr val="374151"/>
                  </a:solidFill>
                  <a:effectLst/>
                  <a:uFillTx/>
                  <a:latin typeface="Calibri"/>
                  <a:ea typeface="Calibri"/>
                </a:rPr>
                <a:t>A </a:t>
              </a:r>
              <a:r>
                <a:rPr lang="en-US" sz="1800" b="1" u="none" strike="noStrike">
                  <a:solidFill>
                    <a:srgbClr val="002060"/>
                  </a:solidFill>
                  <a:effectLst/>
                  <a:uFillTx/>
                  <a:latin typeface="Calibri"/>
                  <a:ea typeface="Calibri"/>
                </a:rPr>
                <a:t>150-second</a:t>
              </a:r>
              <a:r>
                <a:rPr lang="en-US" sz="1800" b="0" u="none" strike="noStrike">
                  <a:solidFill>
                    <a:srgbClr val="374151"/>
                  </a:solidFill>
                  <a:effectLst/>
                  <a:uFillTx/>
                  <a:latin typeface="Calibri"/>
                  <a:ea typeface="Calibri"/>
                </a:rPr>
                <a:t> warm-up period allowed complete route discovery prior to data collection.</a:t>
              </a:r>
              <a:endParaRPr lang="en-US" sz="1800" b="0" u="none" strike="noStrike">
                <a:solidFill>
                  <a:srgbClr val="FFFFFF"/>
                </a:solidFill>
                <a:effectLst/>
                <a:uFillTx/>
                <a:latin typeface="Arial"/>
              </a:endParaRPr>
            </a:p>
          </p:txBody>
        </p:sp>
      </p:grpSp>
      <p:sp>
        <p:nvSpPr>
          <p:cNvPr id="404" name="Google Shape;487;p12"/>
          <p:cNvSpPr/>
          <p:nvPr/>
        </p:nvSpPr>
        <p:spPr>
          <a:xfrm>
            <a:off x="571680" y="6176880"/>
            <a:ext cx="951480" cy="6775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FFFFFF"/>
                </a:solidFill>
                <a:effectLst/>
                <a:uFillTx/>
                <a:latin typeface="Calibri"/>
                <a:ea typeface="Calibri"/>
              </a:rPr>
              <a:t>Page 14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Google Shape;492;p13"/>
          <p:cNvSpPr/>
          <p:nvPr/>
        </p:nvSpPr>
        <p:spPr>
          <a:xfrm>
            <a:off x="4038480" y="2334600"/>
            <a:ext cx="3305520" cy="3183480"/>
          </a:xfrm>
          <a:prstGeom prst="ellipse">
            <a:avLst/>
          </a:prstGeom>
          <a:blipFill rotWithShape="0">
            <a:blip r:embed="rId1"/>
            <a:srcRect/>
            <a:stretch/>
          </a:blipFill>
          <a:ln w="0">
            <a:noFill/>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406" name="Google Shape;493;p13"/>
          <p:cNvSpPr/>
          <p:nvPr/>
        </p:nvSpPr>
        <p:spPr>
          <a:xfrm>
            <a:off x="0" y="0"/>
            <a:ext cx="12188520" cy="6173280"/>
          </a:xfrm>
          <a:prstGeom prst="rect">
            <a:avLst/>
          </a:prstGeom>
          <a:solidFill>
            <a:srgbClr val="FFFFCC">
              <a:alpha val="86000"/>
            </a:srgbClr>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407" name="Google Shape;494;p13"/>
          <p:cNvSpPr/>
          <p:nvPr/>
        </p:nvSpPr>
        <p:spPr>
          <a:xfrm>
            <a:off x="0" y="0"/>
            <a:ext cx="9140400" cy="18216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sp>
        <p:nvSpPr>
          <p:cNvPr id="408" name="Google Shape;495;p13"/>
          <p:cNvSpPr/>
          <p:nvPr/>
        </p:nvSpPr>
        <p:spPr>
          <a:xfrm>
            <a:off x="9144000" y="0"/>
            <a:ext cx="3044520" cy="182160"/>
          </a:xfrm>
          <a:prstGeom prst="rect">
            <a:avLst/>
          </a:prstGeom>
          <a:solidFill>
            <a:schemeClr val="accent4"/>
          </a:solidFill>
          <a:ln w="12700">
            <a:solidFill>
              <a:srgbClr val="FFC000"/>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409" name="Google Shape;496;p13"/>
          <p:cNvSpPr/>
          <p:nvPr/>
        </p:nvSpPr>
        <p:spPr>
          <a:xfrm>
            <a:off x="0" y="6176880"/>
            <a:ext cx="12188520" cy="67752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pic>
        <p:nvPicPr>
          <p:cNvPr id="410" name="Google Shape;497;p13"/>
          <p:cNvPicPr/>
          <p:nvPr/>
        </p:nvPicPr>
        <p:blipFill>
          <a:blip r:embed="rId2"/>
          <a:stretch/>
        </p:blipFill>
        <p:spPr>
          <a:xfrm>
            <a:off x="8210520" y="6176880"/>
            <a:ext cx="3978000" cy="681480"/>
          </a:xfrm>
          <a:prstGeom prst="rect">
            <a:avLst/>
          </a:prstGeom>
          <a:noFill/>
          <a:ln w="0">
            <a:noFill/>
          </a:ln>
        </p:spPr>
      </p:pic>
      <p:sp>
        <p:nvSpPr>
          <p:cNvPr id="411" name="PlaceHolder 1"/>
          <p:cNvSpPr>
            <a:spLocks noGrp="1"/>
          </p:cNvSpPr>
          <p:nvPr>
            <p:ph type="title"/>
          </p:nvPr>
        </p:nvSpPr>
        <p:spPr>
          <a:xfrm>
            <a:off x="0" y="225360"/>
            <a:ext cx="12188880" cy="555120"/>
          </a:xfrm>
          <a:prstGeom prst="rect">
            <a:avLst/>
          </a:prstGeom>
          <a:noFill/>
          <a:ln w="0">
            <a:noFill/>
          </a:ln>
        </p:spPr>
        <p:txBody>
          <a:bodyPr lIns="0" tIns="0" rIns="0" bIns="0" anchor="ctr" anchorCtr="1">
            <a:spAutoFit/>
          </a:bodyPr>
          <a:p>
            <a:pPr marL="216000" indent="0" algn="ctr">
              <a:lnSpc>
                <a:spcPct val="100000"/>
              </a:lnSpc>
              <a:buNone/>
              <a:tabLst>
                <a:tab pos="0" algn="l"/>
              </a:tabLst>
            </a:pPr>
            <a:r>
              <a:rPr lang="en-US" sz="3600" b="1" u="none" strike="noStrike">
                <a:solidFill>
                  <a:srgbClr val="002060"/>
                </a:solidFill>
                <a:effectLst/>
                <a:uFillTx/>
                <a:latin typeface="Calibri"/>
                <a:ea typeface="Calibri"/>
              </a:rPr>
              <a:t>DATA COLLECTION CONT...</a:t>
            </a:r>
            <a:endParaRPr lang="en-US" sz="3600" b="0" u="none" strike="noStrike">
              <a:solidFill>
                <a:srgbClr val="000000"/>
              </a:solidFill>
              <a:effectLst/>
              <a:uFillTx/>
              <a:latin typeface="Arial"/>
            </a:endParaRPr>
          </a:p>
        </p:txBody>
      </p:sp>
      <p:pic>
        <p:nvPicPr>
          <p:cNvPr id="412" name="Google Shape;499;p13"/>
          <p:cNvPicPr/>
          <p:nvPr/>
        </p:nvPicPr>
        <p:blipFill>
          <a:blip r:embed="rId3"/>
          <a:stretch/>
        </p:blipFill>
        <p:spPr>
          <a:xfrm>
            <a:off x="5943600" y="1145160"/>
            <a:ext cx="4114080" cy="4797720"/>
          </a:xfrm>
          <a:prstGeom prst="rect">
            <a:avLst/>
          </a:prstGeom>
          <a:noFill/>
          <a:ln w="0">
            <a:noFill/>
          </a:ln>
        </p:spPr>
      </p:pic>
      <p:grpSp>
        <p:nvGrpSpPr>
          <p:cNvPr id="413" name="Google Shape;500;p13"/>
          <p:cNvGrpSpPr/>
          <p:nvPr/>
        </p:nvGrpSpPr>
        <p:grpSpPr>
          <a:xfrm>
            <a:off x="571680" y="1238400"/>
            <a:ext cx="3808800" cy="2094480"/>
            <a:chOff x="571680" y="1238400"/>
            <a:chExt cx="3808800" cy="2094480"/>
          </a:xfrm>
        </p:grpSpPr>
        <p:sp>
          <p:nvSpPr>
            <p:cNvPr id="414" name="Google Shape;501;p13"/>
            <p:cNvSpPr/>
            <p:nvPr/>
          </p:nvSpPr>
          <p:spPr>
            <a:xfrm>
              <a:off x="571680" y="1238400"/>
              <a:ext cx="3808800" cy="2094480"/>
            </a:xfrm>
            <a:prstGeom prst="roundRect">
              <a:avLst>
                <a:gd name="adj" fmla="val 5454"/>
              </a:avLst>
            </a:prstGeom>
            <a:solidFill>
              <a:srgbClr val="FFFFFF"/>
            </a:solidFill>
            <a:ln w="19050">
              <a:solidFill>
                <a:srgbClr val="002060"/>
              </a:solidFill>
              <a:round/>
            </a:ln>
          </p:spPr>
          <p:style>
            <a:lnRef idx="0"/>
            <a:fillRef idx="0"/>
            <a:effectRef idx="0"/>
            <a:fontRef idx="minor"/>
          </p:style>
          <p:txBody>
            <a:bodyPr lIns="0" tIns="0" rIns="0" bIns="0" anchor="ctr">
              <a:noAutofit/>
            </a:bodyPr>
            <a:p>
              <a:endParaRPr lang="en-US" sz="1400" b="0" u="none" strike="noStrike">
                <a:solidFill>
                  <a:srgbClr val="000000"/>
                </a:solidFill>
                <a:effectLst/>
                <a:uFillTx/>
                <a:latin typeface="Arial"/>
              </a:endParaRPr>
            </a:p>
          </p:txBody>
        </p:sp>
        <p:sp>
          <p:nvSpPr>
            <p:cNvPr id="415" name="Google Shape;502;p13"/>
            <p:cNvSpPr/>
            <p:nvPr/>
          </p:nvSpPr>
          <p:spPr>
            <a:xfrm>
              <a:off x="571680" y="1238400"/>
              <a:ext cx="3808800" cy="427680"/>
            </a:xfrm>
            <a:prstGeom prst="roundRect">
              <a:avLst>
                <a:gd name="adj" fmla="val 26666"/>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416" name="Google Shape;503;p13"/>
            <p:cNvSpPr/>
            <p:nvPr/>
          </p:nvSpPr>
          <p:spPr>
            <a:xfrm>
              <a:off x="571680" y="1428840"/>
              <a:ext cx="3808800" cy="237240"/>
            </a:xfrm>
            <a:prstGeom prst="rect">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417" name="Google Shape;504;p13"/>
            <p:cNvSpPr/>
            <p:nvPr/>
          </p:nvSpPr>
          <p:spPr>
            <a:xfrm>
              <a:off x="571680" y="1238400"/>
              <a:ext cx="3808800" cy="2094480"/>
            </a:xfrm>
            <a:prstGeom prst="rect">
              <a:avLst/>
            </a:prstGeom>
            <a:noFill/>
            <a:ln w="0">
              <a:noFill/>
            </a:ln>
          </p:spPr>
          <p:style>
            <a:lnRef idx="0"/>
            <a:fillRef idx="0"/>
            <a:effectRef idx="0"/>
            <a:fontRef idx="minor"/>
          </p:style>
          <p:txBody>
            <a:bodyPr lIns="142920" tIns="95400" rIns="142920" bIns="95400" anchor="t">
              <a:noAutofit/>
            </a:bodyPr>
            <a:p>
              <a:pPr algn="ctr">
                <a:lnSpc>
                  <a:spcPct val="100000"/>
                </a:lnSpc>
                <a:tabLst>
                  <a:tab pos="0" algn="l"/>
                </a:tabLst>
              </a:pPr>
              <a:r>
                <a:rPr lang="en-US" sz="2000" b="1" u="none" strike="noStrike">
                  <a:solidFill>
                    <a:srgbClr val="FFFFFF"/>
                  </a:solidFill>
                  <a:effectLst/>
                  <a:uFillTx/>
                  <a:latin typeface="Calibri"/>
                  <a:ea typeface="Calibri"/>
                </a:rPr>
                <a:t>Dataset Structure</a:t>
              </a:r>
              <a:endParaRPr lang="en-US" sz="2000" b="0" u="none" strike="noStrike">
                <a:solidFill>
                  <a:srgbClr val="FFFFFF"/>
                </a:solidFill>
                <a:effectLst/>
                <a:uFillTx/>
                <a:latin typeface="Arial"/>
              </a:endParaRPr>
            </a:p>
            <a:p>
              <a:pPr>
                <a:lnSpc>
                  <a:spcPct val="100000"/>
                </a:lnSpc>
                <a:spcBef>
                  <a:spcPts val="1500"/>
                </a:spcBef>
                <a:tabLst>
                  <a:tab pos="0" algn="l"/>
                </a:tabLst>
              </a:pPr>
              <a:r>
                <a:rPr lang="en-US" sz="1800" b="1" u="none" strike="noStrike">
                  <a:solidFill>
                    <a:srgbClr val="002060"/>
                  </a:solidFill>
                  <a:effectLst/>
                  <a:uFillTx/>
                  <a:latin typeface="Calibri"/>
                  <a:ea typeface="Calibri"/>
                </a:rPr>
                <a:t>3,240 Samples &amp; 8 Columns</a:t>
              </a:r>
              <a:endParaRPr lang="en-US" sz="1800" b="0" u="none" strike="noStrike">
                <a:solidFill>
                  <a:srgbClr val="FFFFFF"/>
                </a:solidFill>
                <a:effectLst/>
                <a:uFillTx/>
                <a:latin typeface="Arial"/>
              </a:endParaRPr>
            </a:p>
            <a:p>
              <a:pPr>
                <a:lnSpc>
                  <a:spcPct val="100000"/>
                </a:lnSpc>
                <a:spcBef>
                  <a:spcPts val="601"/>
                </a:spcBef>
                <a:tabLst>
                  <a:tab pos="0" algn="l"/>
                </a:tabLst>
              </a:pPr>
              <a:r>
                <a:rPr lang="en-US" sz="1800" b="0" u="none" strike="noStrike">
                  <a:solidFill>
                    <a:srgbClr val="374151"/>
                  </a:solidFill>
                  <a:effectLst/>
                  <a:uFillTx/>
                  <a:latin typeface="Calibri"/>
                  <a:ea typeface="Calibri"/>
                </a:rPr>
                <a:t>The CSV generated from the simulation had 3,240 rows of data samples and 8 columns.</a:t>
              </a:r>
              <a:endParaRPr lang="en-US" sz="1800" b="0" u="none" strike="noStrike">
                <a:solidFill>
                  <a:srgbClr val="FFFFFF"/>
                </a:solidFill>
                <a:effectLst/>
                <a:uFillTx/>
                <a:latin typeface="Arial"/>
              </a:endParaRPr>
            </a:p>
          </p:txBody>
        </p:sp>
      </p:grpSp>
      <p:grpSp>
        <p:nvGrpSpPr>
          <p:cNvPr id="418" name="Google Shape;505;p13"/>
          <p:cNvGrpSpPr/>
          <p:nvPr/>
        </p:nvGrpSpPr>
        <p:grpSpPr>
          <a:xfrm>
            <a:off x="533880" y="3886200"/>
            <a:ext cx="3808800" cy="2094480"/>
            <a:chOff x="533880" y="3886200"/>
            <a:chExt cx="3808800" cy="2094480"/>
          </a:xfrm>
        </p:grpSpPr>
        <p:sp>
          <p:nvSpPr>
            <p:cNvPr id="419" name="Google Shape;506;p13"/>
            <p:cNvSpPr/>
            <p:nvPr/>
          </p:nvSpPr>
          <p:spPr>
            <a:xfrm>
              <a:off x="533880" y="3886200"/>
              <a:ext cx="3808800" cy="2094480"/>
            </a:xfrm>
            <a:prstGeom prst="roundRect">
              <a:avLst>
                <a:gd name="adj" fmla="val 5454"/>
              </a:avLst>
            </a:prstGeom>
            <a:solidFill>
              <a:srgbClr val="FFFFFF"/>
            </a:solidFill>
            <a:ln w="19050">
              <a:solidFill>
                <a:srgbClr val="002060"/>
              </a:solidFill>
              <a:round/>
            </a:ln>
          </p:spPr>
          <p:style>
            <a:lnRef idx="0"/>
            <a:fillRef idx="0"/>
            <a:effectRef idx="0"/>
            <a:fontRef idx="minor"/>
          </p:style>
          <p:txBody>
            <a:bodyPr lIns="0" tIns="0" rIns="0" bIns="0" anchor="ctr">
              <a:noAutofit/>
            </a:bodyPr>
            <a:p>
              <a:endParaRPr lang="en-US" sz="1400" b="0" u="none" strike="noStrike">
                <a:solidFill>
                  <a:srgbClr val="000000"/>
                </a:solidFill>
                <a:effectLst/>
                <a:uFillTx/>
                <a:latin typeface="Arial"/>
              </a:endParaRPr>
            </a:p>
          </p:txBody>
        </p:sp>
        <p:sp>
          <p:nvSpPr>
            <p:cNvPr id="420" name="Google Shape;507;p13"/>
            <p:cNvSpPr/>
            <p:nvPr/>
          </p:nvSpPr>
          <p:spPr>
            <a:xfrm>
              <a:off x="533880" y="3886200"/>
              <a:ext cx="3808800" cy="427680"/>
            </a:xfrm>
            <a:prstGeom prst="roundRect">
              <a:avLst>
                <a:gd name="adj" fmla="val 26666"/>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421" name="Google Shape;508;p13"/>
            <p:cNvSpPr/>
            <p:nvPr/>
          </p:nvSpPr>
          <p:spPr>
            <a:xfrm>
              <a:off x="533880" y="4076640"/>
              <a:ext cx="3808800" cy="237240"/>
            </a:xfrm>
            <a:prstGeom prst="rect">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422" name="Google Shape;509;p13"/>
            <p:cNvSpPr/>
            <p:nvPr/>
          </p:nvSpPr>
          <p:spPr>
            <a:xfrm>
              <a:off x="533880" y="3886200"/>
              <a:ext cx="3808800" cy="2094480"/>
            </a:xfrm>
            <a:prstGeom prst="rect">
              <a:avLst/>
            </a:prstGeom>
            <a:noFill/>
            <a:ln w="0">
              <a:noFill/>
            </a:ln>
          </p:spPr>
          <p:style>
            <a:lnRef idx="0"/>
            <a:fillRef idx="0"/>
            <a:effectRef idx="0"/>
            <a:fontRef idx="minor"/>
          </p:style>
          <p:txBody>
            <a:bodyPr lIns="142920" tIns="95400" rIns="142920" bIns="95400" anchor="t">
              <a:noAutofit/>
            </a:bodyPr>
            <a:p>
              <a:pPr algn="ctr">
                <a:lnSpc>
                  <a:spcPct val="100000"/>
                </a:lnSpc>
                <a:tabLst>
                  <a:tab pos="0" algn="l"/>
                </a:tabLst>
              </a:pPr>
              <a:r>
                <a:rPr lang="en-US" sz="2000" b="1" u="none" strike="noStrike">
                  <a:solidFill>
                    <a:srgbClr val="FFFFFF"/>
                  </a:solidFill>
                  <a:effectLst/>
                  <a:uFillTx/>
                  <a:latin typeface="Calibri"/>
                  <a:ea typeface="Calibri"/>
                </a:rPr>
                <a:t>Quality Checks</a:t>
              </a:r>
              <a:endParaRPr lang="en-US" sz="2000" b="0" u="none" strike="noStrike">
                <a:solidFill>
                  <a:srgbClr val="FFFFFF"/>
                </a:solidFill>
                <a:effectLst/>
                <a:uFillTx/>
                <a:latin typeface="Arial"/>
              </a:endParaRPr>
            </a:p>
            <a:p>
              <a:pPr>
                <a:lnSpc>
                  <a:spcPct val="100000"/>
                </a:lnSpc>
                <a:spcBef>
                  <a:spcPts val="1500"/>
                </a:spcBef>
                <a:tabLst>
                  <a:tab pos="0" algn="l"/>
                </a:tabLst>
              </a:pPr>
              <a:r>
                <a:rPr lang="en-US" sz="1800" b="1" u="none" strike="noStrike">
                  <a:solidFill>
                    <a:srgbClr val="002060"/>
                  </a:solidFill>
                  <a:effectLst/>
                  <a:uFillTx/>
                  <a:latin typeface="Calibri"/>
                  <a:ea typeface="Calibri"/>
                </a:rPr>
                <a:t>Data Validation</a:t>
              </a:r>
              <a:endParaRPr lang="en-US" sz="1800" b="0" u="none" strike="noStrike">
                <a:solidFill>
                  <a:srgbClr val="FFFFFF"/>
                </a:solidFill>
                <a:effectLst/>
                <a:uFillTx/>
                <a:latin typeface="Arial"/>
              </a:endParaRPr>
            </a:p>
            <a:p>
              <a:pPr marL="457200" indent="-311040">
                <a:lnSpc>
                  <a:spcPct val="100000"/>
                </a:lnSpc>
                <a:spcBef>
                  <a:spcPts val="601"/>
                </a:spcBef>
                <a:buClr>
                  <a:srgbClr val="374151"/>
                </a:buClr>
                <a:buFont typeface="Calibri"/>
                <a:buChar char="●"/>
                <a:tabLst>
                  <a:tab pos="0" algn="l"/>
                </a:tabLst>
              </a:pPr>
              <a:r>
                <a:rPr lang="en-US" sz="1800" b="0" u="none" strike="noStrike">
                  <a:solidFill>
                    <a:srgbClr val="374151"/>
                  </a:solidFill>
                  <a:effectLst/>
                  <a:uFillTx/>
                  <a:latin typeface="Calibri"/>
                  <a:ea typeface="Calibri"/>
                </a:rPr>
                <a:t>Checks were made on loss rates.</a:t>
              </a:r>
              <a:endParaRPr lang="en-US" sz="1800" b="0" u="none" strike="noStrike">
                <a:solidFill>
                  <a:srgbClr val="FFFFFF"/>
                </a:solidFill>
                <a:effectLst/>
                <a:uFillTx/>
                <a:latin typeface="Arial"/>
              </a:endParaRPr>
            </a:p>
            <a:p>
              <a:pPr marL="457200" indent="-311040">
                <a:lnSpc>
                  <a:spcPct val="100000"/>
                </a:lnSpc>
                <a:buClr>
                  <a:srgbClr val="374151"/>
                </a:buClr>
                <a:buFont typeface="Calibri"/>
                <a:buChar char="●"/>
                <a:tabLst>
                  <a:tab pos="0" algn="l"/>
                </a:tabLst>
              </a:pPr>
              <a:r>
                <a:rPr lang="en-US" sz="1800" b="0" u="none" strike="noStrike">
                  <a:solidFill>
                    <a:srgbClr val="374151"/>
                  </a:solidFill>
                  <a:effectLst/>
                  <a:uFillTx/>
                  <a:latin typeface="Calibri"/>
                  <a:ea typeface="Calibri"/>
                </a:rPr>
                <a:t>Checks were made to ensure no columns contained null or undefined values.</a:t>
              </a:r>
              <a:endParaRPr lang="en-US" sz="1800" b="0" u="none" strike="noStrike">
                <a:solidFill>
                  <a:srgbClr val="FFFFFF"/>
                </a:solidFill>
                <a:effectLst/>
                <a:uFillTx/>
                <a:latin typeface="Arial"/>
              </a:endParaRPr>
            </a:p>
          </p:txBody>
        </p:sp>
      </p:grpSp>
      <p:sp>
        <p:nvSpPr>
          <p:cNvPr id="423" name="Google Shape;520;p13"/>
          <p:cNvSpPr/>
          <p:nvPr/>
        </p:nvSpPr>
        <p:spPr>
          <a:xfrm>
            <a:off x="571680" y="6176880"/>
            <a:ext cx="951480" cy="6775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FFFFFF"/>
                </a:solidFill>
                <a:effectLst/>
                <a:uFillTx/>
                <a:latin typeface="Calibri"/>
                <a:ea typeface="Calibri"/>
              </a:rPr>
              <a:t>Page 15</a:t>
            </a:r>
            <a:endParaRPr lang="en-US" sz="1400" b="0" u="none" strike="noStrike">
              <a:solidFill>
                <a:srgbClr val="FFFFFF"/>
              </a:solidFill>
              <a:effectLst/>
              <a:uFillTx/>
              <a:latin typeface="Arial"/>
            </a:endParaRPr>
          </a:p>
        </p:txBody>
      </p:sp>
      <p:sp>
        <p:nvSpPr>
          <p:cNvPr id="424" name=""/>
          <p:cNvSpPr txBox="1"/>
          <p:nvPr/>
        </p:nvSpPr>
        <p:spPr>
          <a:xfrm>
            <a:off x="5943600" y="5943600"/>
            <a:ext cx="685800" cy="230400"/>
          </a:xfrm>
          <a:prstGeom prst="rect">
            <a:avLst/>
          </a:prstGeom>
          <a:noFill/>
          <a:ln w="0">
            <a:noFill/>
          </a:ln>
        </p:spPr>
        <p:txBody>
          <a:bodyPr lIns="90000" tIns="45000" rIns="90000" bIns="45000" anchor="t">
            <a:spAutoFit/>
          </a:bodyPr>
          <a:p>
            <a:r>
              <a:rPr lang="en-US" sz="1100" b="0" u="none" strike="noStrike">
                <a:solidFill>
                  <a:srgbClr val="000000"/>
                </a:solidFill>
                <a:effectLst/>
                <a:uFillTx/>
                <a:latin typeface="Calibri"/>
              </a:rPr>
              <a:t>Figure 2</a:t>
            </a:r>
            <a:endParaRPr lang="en-US" sz="1100" b="0" u="none" strike="noStrik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5" name="Google Shape;525;p14"/>
          <p:cNvSpPr/>
          <p:nvPr/>
        </p:nvSpPr>
        <p:spPr>
          <a:xfrm>
            <a:off x="4038480" y="2334600"/>
            <a:ext cx="3305520" cy="3183480"/>
          </a:xfrm>
          <a:prstGeom prst="ellipse">
            <a:avLst/>
          </a:prstGeom>
          <a:blipFill rotWithShape="0">
            <a:blip r:embed="rId1"/>
            <a:srcRect/>
            <a:stretch/>
          </a:blipFill>
          <a:ln w="0">
            <a:noFill/>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426" name="Google Shape;526;p14"/>
          <p:cNvSpPr/>
          <p:nvPr/>
        </p:nvSpPr>
        <p:spPr>
          <a:xfrm>
            <a:off x="0" y="0"/>
            <a:ext cx="12188520" cy="6173280"/>
          </a:xfrm>
          <a:prstGeom prst="rect">
            <a:avLst/>
          </a:prstGeom>
          <a:solidFill>
            <a:srgbClr val="FFFFCC">
              <a:alpha val="86000"/>
            </a:srgbClr>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427" name="Google Shape;527;p14"/>
          <p:cNvSpPr/>
          <p:nvPr/>
        </p:nvSpPr>
        <p:spPr>
          <a:xfrm>
            <a:off x="0" y="0"/>
            <a:ext cx="9140400" cy="18216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sp>
        <p:nvSpPr>
          <p:cNvPr id="428" name="Google Shape;528;p14"/>
          <p:cNvSpPr/>
          <p:nvPr/>
        </p:nvSpPr>
        <p:spPr>
          <a:xfrm>
            <a:off x="9144000" y="0"/>
            <a:ext cx="3044520" cy="182160"/>
          </a:xfrm>
          <a:prstGeom prst="rect">
            <a:avLst/>
          </a:prstGeom>
          <a:solidFill>
            <a:schemeClr val="accent4"/>
          </a:solidFill>
          <a:ln w="12700">
            <a:solidFill>
              <a:srgbClr val="FFC000"/>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429" name="Google Shape;529;p14"/>
          <p:cNvSpPr/>
          <p:nvPr/>
        </p:nvSpPr>
        <p:spPr>
          <a:xfrm>
            <a:off x="0" y="6176880"/>
            <a:ext cx="12188520" cy="67752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pic>
        <p:nvPicPr>
          <p:cNvPr id="430" name="Google Shape;530;p14"/>
          <p:cNvPicPr/>
          <p:nvPr/>
        </p:nvPicPr>
        <p:blipFill>
          <a:blip r:embed="rId2"/>
          <a:stretch/>
        </p:blipFill>
        <p:spPr>
          <a:xfrm>
            <a:off x="8210520" y="6176880"/>
            <a:ext cx="3978000" cy="681480"/>
          </a:xfrm>
          <a:prstGeom prst="rect">
            <a:avLst/>
          </a:prstGeom>
          <a:noFill/>
          <a:ln w="0">
            <a:noFill/>
          </a:ln>
        </p:spPr>
      </p:pic>
      <p:sp>
        <p:nvSpPr>
          <p:cNvPr id="431" name="PlaceHolder 1"/>
          <p:cNvSpPr>
            <a:spLocks noGrp="1"/>
          </p:cNvSpPr>
          <p:nvPr>
            <p:ph type="title"/>
          </p:nvPr>
        </p:nvSpPr>
        <p:spPr>
          <a:xfrm>
            <a:off x="0" y="225720"/>
            <a:ext cx="12112920" cy="555120"/>
          </a:xfrm>
          <a:prstGeom prst="rect">
            <a:avLst/>
          </a:prstGeom>
          <a:noFill/>
          <a:ln w="0">
            <a:noFill/>
          </a:ln>
        </p:spPr>
        <p:txBody>
          <a:bodyPr lIns="0" tIns="0" rIns="0" bIns="0" anchor="ctr" anchorCtr="1">
            <a:spAutoFit/>
          </a:bodyPr>
          <a:p>
            <a:pPr marL="216000" indent="0" algn="ctr">
              <a:lnSpc>
                <a:spcPct val="100000"/>
              </a:lnSpc>
              <a:buNone/>
              <a:tabLst>
                <a:tab pos="0" algn="l"/>
              </a:tabLst>
            </a:pPr>
            <a:r>
              <a:rPr lang="en-US" sz="3600" b="1" u="none" strike="noStrike">
                <a:solidFill>
                  <a:srgbClr val="002060"/>
                </a:solidFill>
                <a:effectLst/>
                <a:uFillTx/>
                <a:latin typeface="Calibri"/>
                <a:ea typeface="Calibri"/>
              </a:rPr>
              <a:t>TVAR MODEL ARCHITECTURE</a:t>
            </a:r>
            <a:endParaRPr lang="en-US" sz="3600" b="0" u="none" strike="noStrike">
              <a:solidFill>
                <a:srgbClr val="000000"/>
              </a:solidFill>
              <a:effectLst/>
              <a:uFillTx/>
              <a:latin typeface="Arial"/>
            </a:endParaRPr>
          </a:p>
        </p:txBody>
      </p:sp>
      <p:grpSp>
        <p:nvGrpSpPr>
          <p:cNvPr id="432" name="Google Shape;532;p14"/>
          <p:cNvGrpSpPr/>
          <p:nvPr/>
        </p:nvGrpSpPr>
        <p:grpSpPr>
          <a:xfrm>
            <a:off x="571680" y="1095480"/>
            <a:ext cx="11048040" cy="1141920"/>
            <a:chOff x="571680" y="1095480"/>
            <a:chExt cx="11048040" cy="1141920"/>
          </a:xfrm>
        </p:grpSpPr>
        <p:sp>
          <p:nvSpPr>
            <p:cNvPr id="433" name="Google Shape;533;p14"/>
            <p:cNvSpPr/>
            <p:nvPr/>
          </p:nvSpPr>
          <p:spPr>
            <a:xfrm>
              <a:off x="571680" y="1095480"/>
              <a:ext cx="11048040" cy="1141920"/>
            </a:xfrm>
            <a:prstGeom prst="roundRect">
              <a:avLst>
                <a:gd name="adj" fmla="val 10000"/>
              </a:avLst>
            </a:prstGeom>
            <a:solidFill>
              <a:srgbClr val="FFFFFF"/>
            </a:solidFill>
            <a:ln w="19050">
              <a:solidFill>
                <a:srgbClr val="002060"/>
              </a:solidFill>
              <a:round/>
            </a:ln>
          </p:spPr>
          <p:style>
            <a:lnRef idx="0"/>
            <a:fillRef idx="0"/>
            <a:effectRef idx="0"/>
            <a:fontRef idx="minor"/>
          </p:style>
          <p:txBody>
            <a:bodyPr lIns="0" tIns="0" rIns="0" bIns="0" anchor="ctr">
              <a:noAutofit/>
            </a:bodyPr>
            <a:p>
              <a:endParaRPr lang="en-US" sz="1400" b="0" u="none" strike="noStrike">
                <a:solidFill>
                  <a:srgbClr val="000000"/>
                </a:solidFill>
                <a:effectLst/>
                <a:uFillTx/>
                <a:latin typeface="Arial"/>
              </a:endParaRPr>
            </a:p>
          </p:txBody>
        </p:sp>
        <p:sp>
          <p:nvSpPr>
            <p:cNvPr id="434" name="Google Shape;534;p14"/>
            <p:cNvSpPr/>
            <p:nvPr/>
          </p:nvSpPr>
          <p:spPr>
            <a:xfrm>
              <a:off x="762120" y="1238400"/>
              <a:ext cx="5047200" cy="85644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1800" b="1" u="none" strike="noStrike">
                  <a:solidFill>
                    <a:srgbClr val="002060"/>
                  </a:solidFill>
                  <a:effectLst/>
                  <a:uFillTx/>
                  <a:latin typeface="Calibri"/>
                  <a:ea typeface="Calibri"/>
                </a:rPr>
                <a:t>Optimal Order Selection</a:t>
              </a:r>
              <a:endParaRPr lang="en-US" sz="1800" b="0" u="none" strike="noStrike">
                <a:solidFill>
                  <a:srgbClr val="FFFFFF"/>
                </a:solidFill>
                <a:effectLst/>
                <a:uFillTx/>
                <a:latin typeface="Arial"/>
              </a:endParaRPr>
            </a:p>
            <a:p>
              <a:pPr>
                <a:lnSpc>
                  <a:spcPct val="100000"/>
                </a:lnSpc>
                <a:spcBef>
                  <a:spcPts val="300"/>
                </a:spcBef>
                <a:tabLst>
                  <a:tab pos="0" algn="l"/>
                </a:tabLst>
              </a:pPr>
              <a:r>
                <a:rPr lang="en-US" sz="1600" b="0" u="none" strike="noStrike">
                  <a:solidFill>
                    <a:srgbClr val="374151"/>
                  </a:solidFill>
                  <a:effectLst/>
                  <a:uFillTx/>
                  <a:latin typeface="Calibri"/>
                  <a:ea typeface="Calibri"/>
                </a:rPr>
                <a:t>Akaike Information Criterion (AIC) was used to select the optimal order p, testing from the lowest 1 through to 15 on each route.</a:t>
              </a:r>
              <a:endParaRPr lang="en-US" sz="1600" b="0" u="none" strike="noStrike">
                <a:solidFill>
                  <a:srgbClr val="FFFFFF"/>
                </a:solidFill>
                <a:effectLst/>
                <a:uFillTx/>
                <a:latin typeface="Arial"/>
              </a:endParaRPr>
            </a:p>
          </p:txBody>
        </p:sp>
        <p:sp>
          <p:nvSpPr>
            <p:cNvPr id="435" name="Google Shape;535;p14"/>
            <p:cNvSpPr/>
            <p:nvPr/>
          </p:nvSpPr>
          <p:spPr>
            <a:xfrm>
              <a:off x="6191280" y="1238400"/>
              <a:ext cx="5238000" cy="85644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1800" b="1" u="none" strike="noStrike">
                  <a:solidFill>
                    <a:srgbClr val="002060"/>
                  </a:solidFill>
                  <a:effectLst/>
                  <a:uFillTx/>
                  <a:latin typeface="Calibri"/>
                  <a:ea typeface="Calibri"/>
                </a:rPr>
                <a:t>Selected Model Orders</a:t>
              </a:r>
              <a:endParaRPr lang="en-US" sz="1800" b="0" u="none" strike="noStrike">
                <a:solidFill>
                  <a:srgbClr val="FFFFFF"/>
                </a:solidFill>
                <a:effectLst/>
                <a:uFillTx/>
                <a:latin typeface="Arial"/>
              </a:endParaRPr>
            </a:p>
            <a:p>
              <a:pPr>
                <a:lnSpc>
                  <a:spcPct val="100000"/>
                </a:lnSpc>
                <a:spcBef>
                  <a:spcPts val="300"/>
                </a:spcBef>
                <a:tabLst>
                  <a:tab pos="0" algn="l"/>
                </a:tabLst>
              </a:pPr>
              <a:r>
                <a:rPr lang="en-US" sz="1600" b="0" u="none" strike="noStrike">
                  <a:solidFill>
                    <a:srgbClr val="374151"/>
                  </a:solidFill>
                  <a:effectLst/>
                  <a:uFillTx/>
                  <a:latin typeface="Calibri"/>
                  <a:ea typeface="Calibri"/>
                </a:rPr>
                <a:t>• </a:t>
              </a:r>
              <a:r>
                <a:rPr lang="en-US" sz="1600" b="1" u="none" strike="noStrike">
                  <a:solidFill>
                    <a:srgbClr val="374151"/>
                  </a:solidFill>
                  <a:effectLst/>
                  <a:uFillTx/>
                  <a:latin typeface="Calibri"/>
                  <a:ea typeface="Calibri"/>
                </a:rPr>
                <a:t>Baseline &amp; Regime Switching:</a:t>
              </a:r>
              <a:r>
                <a:rPr lang="en-US" sz="1600" b="0" u="none" strike="noStrike">
                  <a:solidFill>
                    <a:srgbClr val="374151"/>
                  </a:solidFill>
                  <a:effectLst/>
                  <a:uFillTx/>
                  <a:latin typeface="Calibri"/>
                  <a:ea typeface="Calibri"/>
                </a:rPr>
                <a:t> Order of 2 was used</a:t>
              </a:r>
              <a:br>
                <a:rPr sz="1600"/>
              </a:br>
              <a:r>
                <a:rPr lang="en-US" sz="1600" b="0" u="none" strike="noStrike">
                  <a:solidFill>
                    <a:srgbClr val="374151"/>
                  </a:solidFill>
                  <a:effectLst/>
                  <a:uFillTx/>
                  <a:latin typeface="Calibri"/>
                  <a:ea typeface="Calibri"/>
                </a:rPr>
                <a:t>• </a:t>
              </a:r>
              <a:r>
                <a:rPr lang="en-US" sz="1600" b="1" u="none" strike="noStrike">
                  <a:solidFill>
                    <a:srgbClr val="374151"/>
                  </a:solidFill>
                  <a:effectLst/>
                  <a:uFillTx/>
                  <a:latin typeface="Calibri"/>
                  <a:ea typeface="Calibri"/>
                </a:rPr>
                <a:t>Random Walk:</a:t>
              </a:r>
              <a:r>
                <a:rPr lang="en-US" sz="1600" b="0" u="none" strike="noStrike">
                  <a:solidFill>
                    <a:srgbClr val="374151"/>
                  </a:solidFill>
                  <a:effectLst/>
                  <a:uFillTx/>
                  <a:latin typeface="Calibri"/>
                  <a:ea typeface="Calibri"/>
                </a:rPr>
                <a:t> Order of 4 was used</a:t>
              </a:r>
              <a:endParaRPr lang="en-US" sz="1600" b="0" u="none" strike="noStrike">
                <a:solidFill>
                  <a:srgbClr val="FFFFFF"/>
                </a:solidFill>
                <a:effectLst/>
                <a:uFillTx/>
                <a:latin typeface="Arial"/>
              </a:endParaRPr>
            </a:p>
          </p:txBody>
        </p:sp>
      </p:grpSp>
      <p:grpSp>
        <p:nvGrpSpPr>
          <p:cNvPr id="436" name="Google Shape;536;p14"/>
          <p:cNvGrpSpPr/>
          <p:nvPr/>
        </p:nvGrpSpPr>
        <p:grpSpPr>
          <a:xfrm>
            <a:off x="332280" y="2428920"/>
            <a:ext cx="3978000" cy="3475800"/>
            <a:chOff x="332280" y="2428920"/>
            <a:chExt cx="3978000" cy="3475800"/>
          </a:xfrm>
        </p:grpSpPr>
        <p:sp>
          <p:nvSpPr>
            <p:cNvPr id="437" name="Google Shape;537;p14"/>
            <p:cNvSpPr/>
            <p:nvPr/>
          </p:nvSpPr>
          <p:spPr>
            <a:xfrm>
              <a:off x="332280" y="2428920"/>
              <a:ext cx="3978000" cy="3475800"/>
            </a:xfrm>
            <a:prstGeom prst="roundRect">
              <a:avLst>
                <a:gd name="adj" fmla="val 3287"/>
              </a:avLst>
            </a:prstGeom>
            <a:solidFill>
              <a:srgbClr val="FFFFFF"/>
            </a:solidFill>
            <a:ln w="19050">
              <a:solidFill>
                <a:srgbClr val="002060"/>
              </a:solidFill>
              <a:round/>
            </a:ln>
          </p:spPr>
          <p:style>
            <a:lnRef idx="0"/>
            <a:fillRef idx="0"/>
            <a:effectRef idx="0"/>
            <a:fontRef idx="minor"/>
          </p:style>
          <p:txBody>
            <a:bodyPr lIns="0" tIns="0" rIns="0" bIns="0" anchor="ctr">
              <a:noAutofit/>
            </a:bodyPr>
            <a:p>
              <a:endParaRPr lang="en-US" sz="1400" b="0" u="none" strike="noStrike">
                <a:solidFill>
                  <a:srgbClr val="000000"/>
                </a:solidFill>
                <a:effectLst/>
                <a:uFillTx/>
                <a:latin typeface="Arial"/>
              </a:endParaRPr>
            </a:p>
          </p:txBody>
        </p:sp>
        <p:sp>
          <p:nvSpPr>
            <p:cNvPr id="438" name="Google Shape;538;p14"/>
            <p:cNvSpPr/>
            <p:nvPr/>
          </p:nvSpPr>
          <p:spPr>
            <a:xfrm>
              <a:off x="332280" y="2428920"/>
              <a:ext cx="3978000" cy="475200"/>
            </a:xfrm>
            <a:prstGeom prst="roundRect">
              <a:avLst>
                <a:gd name="adj" fmla="val 24000"/>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439" name="Google Shape;539;p14"/>
            <p:cNvSpPr/>
            <p:nvPr/>
          </p:nvSpPr>
          <p:spPr>
            <a:xfrm>
              <a:off x="332280" y="2666880"/>
              <a:ext cx="3978000" cy="237240"/>
            </a:xfrm>
            <a:prstGeom prst="rect">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440" name="Google Shape;540;p14"/>
            <p:cNvSpPr/>
            <p:nvPr/>
          </p:nvSpPr>
          <p:spPr>
            <a:xfrm>
              <a:off x="332280" y="2428920"/>
              <a:ext cx="3978000" cy="47520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2000" b="1" u="none" strike="noStrike">
                  <a:solidFill>
                    <a:srgbClr val="FFFFFF"/>
                  </a:solidFill>
                  <a:effectLst/>
                  <a:uFillTx/>
                  <a:latin typeface="Calibri"/>
                  <a:ea typeface="Calibri"/>
                </a:rPr>
                <a:t>1) YULE WALKER (BASELINE)</a:t>
              </a:r>
              <a:endParaRPr lang="en-US" sz="2000" b="0" u="none" strike="noStrike">
                <a:solidFill>
                  <a:srgbClr val="FFFFFF"/>
                </a:solidFill>
                <a:effectLst/>
                <a:uFillTx/>
                <a:latin typeface="Arial"/>
              </a:endParaRPr>
            </a:p>
          </p:txBody>
        </p:sp>
        <p:sp>
          <p:nvSpPr>
            <p:cNvPr id="441" name="Google Shape;541;p14"/>
            <p:cNvSpPr/>
            <p:nvPr/>
          </p:nvSpPr>
          <p:spPr>
            <a:xfrm>
              <a:off x="509760" y="3095640"/>
              <a:ext cx="3623040" cy="261828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endParaRPr lang="en-US" sz="1800" b="0" u="none" strike="noStrike">
                <a:solidFill>
                  <a:srgbClr val="FFFFFF"/>
                </a:solidFill>
                <a:effectLst/>
                <a:uFillTx/>
                <a:latin typeface="Arial"/>
              </a:endParaRPr>
            </a:p>
            <a:p>
              <a:pPr>
                <a:lnSpc>
                  <a:spcPct val="100000"/>
                </a:lnSpc>
                <a:tabLst>
                  <a:tab pos="0" algn="l"/>
                </a:tabLst>
              </a:pPr>
              <a:r>
                <a:rPr lang="en-US" sz="1800" b="0" u="none" strike="noStrike">
                  <a:solidFill>
                    <a:srgbClr val="374151"/>
                  </a:solidFill>
                  <a:effectLst/>
                  <a:uFillTx/>
                  <a:latin typeface="Calibri"/>
                  <a:ea typeface="Calibri"/>
                </a:rPr>
                <a:t>This method was used because it requires some sort of stationarity in the data.</a:t>
              </a:r>
              <a:endParaRPr lang="en-US" sz="1800" b="0" u="none" strike="noStrike">
                <a:solidFill>
                  <a:srgbClr val="FFFFFF"/>
                </a:solidFill>
                <a:effectLst/>
                <a:uFillTx/>
                <a:latin typeface="Arial"/>
              </a:endParaRPr>
            </a:p>
            <a:p>
              <a:pPr>
                <a:lnSpc>
                  <a:spcPct val="100000"/>
                </a:lnSpc>
                <a:spcBef>
                  <a:spcPts val="751"/>
                </a:spcBef>
                <a:tabLst>
                  <a:tab pos="0" algn="l"/>
                </a:tabLst>
              </a:pPr>
              <a:r>
                <a:rPr lang="en-US" sz="1800" b="1" u="none" strike="noStrike">
                  <a:solidFill>
                    <a:srgbClr val="374151"/>
                  </a:solidFill>
                  <a:effectLst/>
                  <a:uFillTx/>
                  <a:latin typeface="Calibri"/>
                  <a:ea typeface="Calibri"/>
                </a:rPr>
                <a:t>Window Size:</a:t>
              </a:r>
              <a:r>
                <a:rPr lang="en-US" sz="1800" b="0" u="none" strike="noStrike">
                  <a:solidFill>
                    <a:srgbClr val="374151"/>
                  </a:solidFill>
                  <a:effectLst/>
                  <a:uFillTx/>
                  <a:latin typeface="Calibri"/>
                  <a:ea typeface="Calibri"/>
                </a:rPr>
                <a:t> It used a window size of 30 observations.</a:t>
              </a:r>
              <a:endParaRPr lang="en-US" sz="1800" b="0" u="none" strike="noStrike">
                <a:solidFill>
                  <a:srgbClr val="FFFFFF"/>
                </a:solidFill>
                <a:effectLst/>
                <a:uFillTx/>
                <a:latin typeface="Arial"/>
              </a:endParaRPr>
            </a:p>
          </p:txBody>
        </p:sp>
      </p:grpSp>
      <p:grpSp>
        <p:nvGrpSpPr>
          <p:cNvPr id="442" name="Google Shape;542;p14"/>
          <p:cNvGrpSpPr/>
          <p:nvPr/>
        </p:nvGrpSpPr>
        <p:grpSpPr>
          <a:xfrm>
            <a:off x="4519800" y="2428920"/>
            <a:ext cx="3845160" cy="3475800"/>
            <a:chOff x="4519800" y="2428920"/>
            <a:chExt cx="3845160" cy="3475800"/>
          </a:xfrm>
        </p:grpSpPr>
        <p:sp>
          <p:nvSpPr>
            <p:cNvPr id="443" name="Google Shape;543;p14"/>
            <p:cNvSpPr/>
            <p:nvPr/>
          </p:nvSpPr>
          <p:spPr>
            <a:xfrm>
              <a:off x="4519800" y="2428920"/>
              <a:ext cx="3845160" cy="3475800"/>
            </a:xfrm>
            <a:prstGeom prst="roundRect">
              <a:avLst>
                <a:gd name="adj" fmla="val 3287"/>
              </a:avLst>
            </a:prstGeom>
            <a:solidFill>
              <a:srgbClr val="FFFFFF"/>
            </a:solidFill>
            <a:ln w="19050">
              <a:solidFill>
                <a:srgbClr val="002060"/>
              </a:solidFill>
              <a:round/>
            </a:ln>
          </p:spPr>
          <p:style>
            <a:lnRef idx="0"/>
            <a:fillRef idx="0"/>
            <a:effectRef idx="0"/>
            <a:fontRef idx="minor"/>
          </p:style>
          <p:txBody>
            <a:bodyPr lIns="0" tIns="0" rIns="0" bIns="0" anchor="ctr">
              <a:noAutofit/>
            </a:bodyPr>
            <a:p>
              <a:endParaRPr lang="en-US" sz="1400" b="0" u="none" strike="noStrike">
                <a:solidFill>
                  <a:srgbClr val="000000"/>
                </a:solidFill>
                <a:effectLst/>
                <a:uFillTx/>
                <a:latin typeface="Arial"/>
              </a:endParaRPr>
            </a:p>
          </p:txBody>
        </p:sp>
        <p:sp>
          <p:nvSpPr>
            <p:cNvPr id="444" name="Google Shape;544;p14"/>
            <p:cNvSpPr/>
            <p:nvPr/>
          </p:nvSpPr>
          <p:spPr>
            <a:xfrm>
              <a:off x="4519800" y="2428920"/>
              <a:ext cx="3845160" cy="475200"/>
            </a:xfrm>
            <a:prstGeom prst="roundRect">
              <a:avLst>
                <a:gd name="adj" fmla="val 24000"/>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445" name="Google Shape;545;p14"/>
            <p:cNvSpPr/>
            <p:nvPr/>
          </p:nvSpPr>
          <p:spPr>
            <a:xfrm>
              <a:off x="4519800" y="2666880"/>
              <a:ext cx="3845160" cy="237240"/>
            </a:xfrm>
            <a:prstGeom prst="rect">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446" name="Google Shape;546;p14"/>
            <p:cNvSpPr/>
            <p:nvPr/>
          </p:nvSpPr>
          <p:spPr>
            <a:xfrm>
              <a:off x="4519800" y="2428920"/>
              <a:ext cx="3845160" cy="47520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2000" b="1" u="none" strike="noStrike">
                  <a:solidFill>
                    <a:srgbClr val="FFFFFF"/>
                  </a:solidFill>
                  <a:effectLst/>
                  <a:uFillTx/>
                  <a:latin typeface="Calibri"/>
                  <a:ea typeface="Calibri"/>
                </a:rPr>
                <a:t>2) REGIME SWITCHING</a:t>
              </a:r>
              <a:endParaRPr lang="en-US" sz="2000" b="0" u="none" strike="noStrike">
                <a:solidFill>
                  <a:srgbClr val="FFFFFF"/>
                </a:solidFill>
                <a:effectLst/>
                <a:uFillTx/>
                <a:latin typeface="Arial"/>
              </a:endParaRPr>
            </a:p>
          </p:txBody>
        </p:sp>
        <p:sp>
          <p:nvSpPr>
            <p:cNvPr id="447" name="Google Shape;547;p14"/>
            <p:cNvSpPr/>
            <p:nvPr/>
          </p:nvSpPr>
          <p:spPr>
            <a:xfrm>
              <a:off x="4691520" y="3095640"/>
              <a:ext cx="3502080" cy="261828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endParaRPr lang="en-US" sz="1800" b="0" u="none" strike="noStrike">
                <a:solidFill>
                  <a:srgbClr val="FFFFFF"/>
                </a:solidFill>
                <a:effectLst/>
                <a:uFillTx/>
                <a:latin typeface="Arial"/>
              </a:endParaRPr>
            </a:p>
            <a:p>
              <a:pPr>
                <a:lnSpc>
                  <a:spcPct val="100000"/>
                </a:lnSpc>
                <a:spcBef>
                  <a:spcPts val="751"/>
                </a:spcBef>
                <a:tabLst>
                  <a:tab pos="0" algn="l"/>
                </a:tabLst>
              </a:pPr>
              <a:r>
                <a:rPr lang="en-US" sz="1800" b="0" u="none" strike="noStrike">
                  <a:solidFill>
                    <a:srgbClr val="374151"/>
                  </a:solidFill>
                  <a:effectLst/>
                  <a:uFillTx/>
                  <a:latin typeface="Calibri"/>
                  <a:ea typeface="Calibri"/>
                </a:rPr>
                <a:t>Two separate linear regression models were trained on low and high regime changes respectively.</a:t>
              </a:r>
              <a:endParaRPr lang="en-US" sz="1800" b="0" u="none" strike="noStrike">
                <a:solidFill>
                  <a:srgbClr val="FFFFFF"/>
                </a:solidFill>
                <a:effectLst/>
                <a:uFillTx/>
                <a:latin typeface="Arial"/>
              </a:endParaRPr>
            </a:p>
            <a:p>
              <a:pPr>
                <a:lnSpc>
                  <a:spcPct val="100000"/>
                </a:lnSpc>
                <a:spcBef>
                  <a:spcPts val="751"/>
                </a:spcBef>
                <a:tabLst>
                  <a:tab pos="0" algn="l"/>
                </a:tabLst>
              </a:pPr>
              <a:r>
                <a:rPr lang="en-US" sz="1800" b="1" u="none" strike="noStrike">
                  <a:solidFill>
                    <a:srgbClr val="374151"/>
                  </a:solidFill>
                  <a:effectLst/>
                  <a:uFillTx/>
                  <a:latin typeface="Calibri"/>
                  <a:ea typeface="Calibri"/>
                </a:rPr>
                <a:t>Prediction Time:</a:t>
              </a:r>
              <a:r>
                <a:rPr lang="en-US" sz="1800" b="0" u="none" strike="noStrike">
                  <a:solidFill>
                    <a:srgbClr val="374151"/>
                  </a:solidFill>
                  <a:effectLst/>
                  <a:uFillTx/>
                  <a:latin typeface="Calibri"/>
                  <a:ea typeface="Calibri"/>
                </a:rPr>
                <a:t> The model selects regimes dynamically based on the traffic rate.</a:t>
              </a:r>
              <a:endParaRPr lang="en-US" sz="1800" b="0" u="none" strike="noStrike">
                <a:solidFill>
                  <a:srgbClr val="FFFFFF"/>
                </a:solidFill>
                <a:effectLst/>
                <a:uFillTx/>
                <a:latin typeface="Arial"/>
              </a:endParaRPr>
            </a:p>
          </p:txBody>
        </p:sp>
      </p:grpSp>
      <p:grpSp>
        <p:nvGrpSpPr>
          <p:cNvPr id="448" name="Google Shape;548;p14"/>
          <p:cNvGrpSpPr/>
          <p:nvPr/>
        </p:nvGrpSpPr>
        <p:grpSpPr>
          <a:xfrm>
            <a:off x="8574840" y="2428920"/>
            <a:ext cx="3407760" cy="3475800"/>
            <a:chOff x="8574840" y="2428920"/>
            <a:chExt cx="3407760" cy="3475800"/>
          </a:xfrm>
        </p:grpSpPr>
        <p:sp>
          <p:nvSpPr>
            <p:cNvPr id="449" name="Google Shape;549;p14"/>
            <p:cNvSpPr/>
            <p:nvPr/>
          </p:nvSpPr>
          <p:spPr>
            <a:xfrm>
              <a:off x="8574840" y="2428920"/>
              <a:ext cx="3407760" cy="3475800"/>
            </a:xfrm>
            <a:prstGeom prst="roundRect">
              <a:avLst>
                <a:gd name="adj" fmla="val 3287"/>
              </a:avLst>
            </a:prstGeom>
            <a:solidFill>
              <a:srgbClr val="FFFFFF"/>
            </a:solidFill>
            <a:ln w="19050">
              <a:solidFill>
                <a:srgbClr val="002060"/>
              </a:solidFill>
              <a:round/>
            </a:ln>
          </p:spPr>
          <p:style>
            <a:lnRef idx="0"/>
            <a:fillRef idx="0"/>
            <a:effectRef idx="0"/>
            <a:fontRef idx="minor"/>
          </p:style>
          <p:txBody>
            <a:bodyPr lIns="0" tIns="0" rIns="0" bIns="0" anchor="ctr">
              <a:noAutofit/>
            </a:bodyPr>
            <a:p>
              <a:endParaRPr lang="en-US" sz="1400" b="0" u="none" strike="noStrike">
                <a:solidFill>
                  <a:srgbClr val="000000"/>
                </a:solidFill>
                <a:effectLst/>
                <a:uFillTx/>
                <a:latin typeface="Arial"/>
              </a:endParaRPr>
            </a:p>
          </p:txBody>
        </p:sp>
        <p:sp>
          <p:nvSpPr>
            <p:cNvPr id="450" name="Google Shape;550;p14"/>
            <p:cNvSpPr/>
            <p:nvPr/>
          </p:nvSpPr>
          <p:spPr>
            <a:xfrm>
              <a:off x="8574840" y="2428920"/>
              <a:ext cx="3407760" cy="475200"/>
            </a:xfrm>
            <a:prstGeom prst="roundRect">
              <a:avLst>
                <a:gd name="adj" fmla="val 24000"/>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451" name="Google Shape;551;p14"/>
            <p:cNvSpPr/>
            <p:nvPr/>
          </p:nvSpPr>
          <p:spPr>
            <a:xfrm>
              <a:off x="8574840" y="2666880"/>
              <a:ext cx="3407760" cy="237240"/>
            </a:xfrm>
            <a:prstGeom prst="rect">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452" name="Google Shape;552;p14"/>
            <p:cNvSpPr/>
            <p:nvPr/>
          </p:nvSpPr>
          <p:spPr>
            <a:xfrm>
              <a:off x="8574840" y="2428920"/>
              <a:ext cx="3407760" cy="47520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2000" b="1" u="none" strike="noStrike">
                  <a:solidFill>
                    <a:srgbClr val="FFFFFF"/>
                  </a:solidFill>
                  <a:effectLst/>
                  <a:uFillTx/>
                  <a:latin typeface="Calibri"/>
                  <a:ea typeface="Calibri"/>
                </a:rPr>
                <a:t>3) RANDOM WALK</a:t>
              </a:r>
              <a:endParaRPr lang="en-US" sz="2000" b="0" u="none" strike="noStrike">
                <a:solidFill>
                  <a:srgbClr val="FFFFFF"/>
                </a:solidFill>
                <a:effectLst/>
                <a:uFillTx/>
                <a:latin typeface="Arial"/>
              </a:endParaRPr>
            </a:p>
          </p:txBody>
        </p:sp>
        <p:sp>
          <p:nvSpPr>
            <p:cNvPr id="453" name="Google Shape;553;p14"/>
            <p:cNvSpPr/>
            <p:nvPr/>
          </p:nvSpPr>
          <p:spPr>
            <a:xfrm>
              <a:off x="8727120" y="3095640"/>
              <a:ext cx="3103560" cy="261828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endParaRPr lang="en-US" sz="1800" b="0" u="none" strike="noStrike">
                <a:solidFill>
                  <a:srgbClr val="FFFFFF"/>
                </a:solidFill>
                <a:effectLst/>
                <a:uFillTx/>
                <a:latin typeface="Arial"/>
              </a:endParaRPr>
            </a:p>
            <a:p>
              <a:pPr>
                <a:lnSpc>
                  <a:spcPct val="100000"/>
                </a:lnSpc>
                <a:tabLst>
                  <a:tab pos="0" algn="l"/>
                </a:tabLst>
              </a:pPr>
              <a:r>
                <a:rPr lang="en-US" sz="1800" b="0" u="none" strike="noStrike">
                  <a:solidFill>
                    <a:srgbClr val="374151"/>
                  </a:solidFill>
                  <a:effectLst/>
                  <a:uFillTx/>
                  <a:latin typeface="Calibri"/>
                  <a:ea typeface="Calibri"/>
                </a:rPr>
                <a:t> It works by estimating the AR coefficients continuously updating at every single time step.</a:t>
              </a:r>
              <a:endParaRPr lang="en-US" sz="1800" b="0" u="none" strike="noStrike">
                <a:solidFill>
                  <a:srgbClr val="FFFFFF"/>
                </a:solidFill>
                <a:effectLst/>
                <a:uFillTx/>
                <a:latin typeface="Arial"/>
              </a:endParaRPr>
            </a:p>
          </p:txBody>
        </p:sp>
      </p:grpSp>
      <p:sp>
        <p:nvSpPr>
          <p:cNvPr id="454" name="Google Shape;554;p14"/>
          <p:cNvSpPr/>
          <p:nvPr/>
        </p:nvSpPr>
        <p:spPr>
          <a:xfrm>
            <a:off x="571680" y="6176880"/>
            <a:ext cx="951480" cy="6775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FFFFFF"/>
                </a:solidFill>
                <a:effectLst/>
                <a:uFillTx/>
                <a:latin typeface="Calibri"/>
                <a:ea typeface="Calibri"/>
              </a:rPr>
              <a:t>Page 16</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Google Shape;559;p15"/>
          <p:cNvSpPr/>
          <p:nvPr/>
        </p:nvSpPr>
        <p:spPr>
          <a:xfrm>
            <a:off x="4038480" y="2334600"/>
            <a:ext cx="3305520" cy="3183480"/>
          </a:xfrm>
          <a:prstGeom prst="ellipse">
            <a:avLst/>
          </a:prstGeom>
          <a:blipFill rotWithShape="0">
            <a:blip r:embed="rId1"/>
            <a:srcRect/>
            <a:stretch/>
          </a:blipFill>
          <a:ln w="0">
            <a:noFill/>
          </a:ln>
        </p:spPr>
        <p:style>
          <a:lnRef idx="0"/>
          <a:fillRef idx="0"/>
          <a:effectRef idx="0"/>
          <a:fontRef idx="minor"/>
        </p:style>
        <p:txBody>
          <a:bodyPr lIns="90000" tIns="45000" rIns="90000" bIns="45000" anchor="t">
            <a:noAutofit/>
          </a:bodyPr>
          <a:p>
            <a:endParaRPr lang="en-US" sz="1400" b="0" u="none" strike="noStrike">
              <a:solidFill>
                <a:srgbClr val="000000"/>
              </a:solidFill>
              <a:effectLst/>
              <a:uFillTx/>
              <a:latin typeface="Arial"/>
            </a:endParaRPr>
          </a:p>
        </p:txBody>
      </p:sp>
      <p:sp>
        <p:nvSpPr>
          <p:cNvPr id="456" name="Google Shape;560;p15"/>
          <p:cNvSpPr/>
          <p:nvPr/>
        </p:nvSpPr>
        <p:spPr>
          <a:xfrm>
            <a:off x="0" y="72000"/>
            <a:ext cx="12188520" cy="6173280"/>
          </a:xfrm>
          <a:prstGeom prst="rect">
            <a:avLst/>
          </a:prstGeom>
          <a:solidFill>
            <a:srgbClr val="FFFFCC">
              <a:alpha val="86000"/>
            </a:srgbClr>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457" name="Google Shape;561;p15"/>
          <p:cNvSpPr/>
          <p:nvPr/>
        </p:nvSpPr>
        <p:spPr>
          <a:xfrm>
            <a:off x="0" y="0"/>
            <a:ext cx="9140400" cy="18216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sp>
        <p:nvSpPr>
          <p:cNvPr id="458" name="Google Shape;562;p15"/>
          <p:cNvSpPr/>
          <p:nvPr/>
        </p:nvSpPr>
        <p:spPr>
          <a:xfrm>
            <a:off x="9144000" y="0"/>
            <a:ext cx="3044520" cy="182160"/>
          </a:xfrm>
          <a:prstGeom prst="rect">
            <a:avLst/>
          </a:prstGeom>
          <a:solidFill>
            <a:schemeClr val="accent4"/>
          </a:solidFill>
          <a:ln w="12700">
            <a:solidFill>
              <a:srgbClr val="FFC000"/>
            </a:solidFill>
            <a:miter/>
          </a:ln>
        </p:spPr>
        <p:style>
          <a:lnRef idx="0"/>
          <a:fillRef idx="0"/>
          <a:effectRef idx="0"/>
          <a:fontRef idx="minor"/>
        </p:style>
        <p:txBody>
          <a:bodyPr lIns="90000" tIns="45000" rIns="90000" bIns="45000" anchor="ctr">
            <a:noAutofit/>
          </a:bodyPr>
          <a:p>
            <a:endParaRPr lang="en-US" sz="1400" b="0" u="none" strike="noStrike">
              <a:solidFill>
                <a:srgbClr val="000000"/>
              </a:solidFill>
              <a:effectLst/>
              <a:uFillTx/>
              <a:latin typeface="Arial"/>
            </a:endParaRPr>
          </a:p>
        </p:txBody>
      </p:sp>
      <p:sp>
        <p:nvSpPr>
          <p:cNvPr id="459" name="Google Shape;563;p15"/>
          <p:cNvSpPr/>
          <p:nvPr/>
        </p:nvSpPr>
        <p:spPr>
          <a:xfrm>
            <a:off x="0" y="6176880"/>
            <a:ext cx="12188520" cy="677520"/>
          </a:xfrm>
          <a:prstGeom prst="rect">
            <a:avLst/>
          </a:prstGeom>
          <a:solidFill>
            <a:srgbClr val="002060"/>
          </a:solidFill>
          <a:ln w="12700">
            <a:solidFill>
              <a:srgbClr val="43729D"/>
            </a:solidFill>
            <a:miter/>
          </a:ln>
        </p:spPr>
        <p:style>
          <a:lnRef idx="0"/>
          <a:fillRef idx="0"/>
          <a:effectRef idx="0"/>
          <a:fontRef idx="minor"/>
        </p:style>
        <p:txBody>
          <a:bodyPr lIns="90000" tIns="45000" rIns="90000" bIns="45000" anchor="ctr">
            <a:noAutofit/>
          </a:bodyPr>
          <a:p>
            <a:endParaRPr lang="en-US" sz="1400" b="0" u="none" strike="noStrike">
              <a:solidFill>
                <a:srgbClr val="FFFFFF"/>
              </a:solidFill>
              <a:effectLst/>
              <a:uFillTx/>
              <a:latin typeface="Arial"/>
            </a:endParaRPr>
          </a:p>
        </p:txBody>
      </p:sp>
      <p:pic>
        <p:nvPicPr>
          <p:cNvPr id="460" name="Google Shape;564;p15"/>
          <p:cNvPicPr/>
          <p:nvPr/>
        </p:nvPicPr>
        <p:blipFill>
          <a:blip r:embed="rId2"/>
          <a:stretch/>
        </p:blipFill>
        <p:spPr>
          <a:xfrm>
            <a:off x="8210520" y="6176880"/>
            <a:ext cx="3978000" cy="681480"/>
          </a:xfrm>
          <a:prstGeom prst="rect">
            <a:avLst/>
          </a:prstGeom>
          <a:noFill/>
          <a:ln w="0">
            <a:noFill/>
          </a:ln>
        </p:spPr>
      </p:pic>
      <p:sp>
        <p:nvSpPr>
          <p:cNvPr id="461" name="PlaceHolder 1"/>
          <p:cNvSpPr>
            <a:spLocks noGrp="1"/>
          </p:cNvSpPr>
          <p:nvPr>
            <p:ph type="title"/>
          </p:nvPr>
        </p:nvSpPr>
        <p:spPr>
          <a:xfrm>
            <a:off x="0" y="284760"/>
            <a:ext cx="12191040" cy="555120"/>
          </a:xfrm>
          <a:prstGeom prst="rect">
            <a:avLst/>
          </a:prstGeom>
          <a:noFill/>
          <a:ln w="0">
            <a:noFill/>
          </a:ln>
        </p:spPr>
        <p:txBody>
          <a:bodyPr lIns="0" tIns="0" rIns="0" bIns="0" anchor="ctr">
            <a:spAutoFit/>
          </a:bodyPr>
          <a:p>
            <a:pPr indent="0" algn="ctr">
              <a:lnSpc>
                <a:spcPct val="100000"/>
              </a:lnSpc>
              <a:buNone/>
              <a:tabLst>
                <a:tab pos="0" algn="l"/>
              </a:tabLst>
            </a:pPr>
            <a:r>
              <a:rPr lang="en-US" sz="3600" b="1" u="none" strike="noStrike">
                <a:solidFill>
                  <a:srgbClr val="002060"/>
                </a:solidFill>
                <a:effectLst/>
                <a:uFillTx/>
                <a:latin typeface="Calibri"/>
                <a:ea typeface="Calibri"/>
              </a:rPr>
              <a:t>PERFORMANCE OF TVAR MODEL IN TRAFFIC FLOWS</a:t>
            </a:r>
            <a:endParaRPr lang="en-US" sz="3600" b="0" u="none" strike="noStrike">
              <a:solidFill>
                <a:srgbClr val="000000"/>
              </a:solidFill>
              <a:effectLst/>
              <a:uFillTx/>
              <a:latin typeface="Arial"/>
            </a:endParaRPr>
          </a:p>
        </p:txBody>
      </p:sp>
      <p:sp>
        <p:nvSpPr>
          <p:cNvPr id="462" name="Google Shape;566;p15"/>
          <p:cNvSpPr/>
          <p:nvPr/>
        </p:nvSpPr>
        <p:spPr>
          <a:xfrm>
            <a:off x="228600" y="1143000"/>
            <a:ext cx="11655720" cy="4784400"/>
          </a:xfrm>
          <a:prstGeom prst="rect">
            <a:avLst/>
          </a:prstGeom>
          <a:noFill/>
          <a:ln w="0">
            <a:noFill/>
          </a:ln>
        </p:spPr>
        <p:style>
          <a:lnRef idx="0"/>
          <a:fillRef idx="0"/>
          <a:effectRef idx="0"/>
          <a:fontRef idx="minor"/>
        </p:style>
        <p:txBody>
          <a:bodyPr lIns="90000" tIns="45000" rIns="90000" bIns="45000" anchor="t">
            <a:noAutofit/>
          </a:bodyPr>
          <a:p>
            <a:endParaRPr lang="en-US" sz="1400" b="0" u="none" strike="noStrike">
              <a:solidFill>
                <a:srgbClr val="FFFFFF"/>
              </a:solidFill>
              <a:effectLst/>
              <a:uFillTx/>
              <a:latin typeface="Arial"/>
            </a:endParaRPr>
          </a:p>
        </p:txBody>
      </p:sp>
      <p:grpSp>
        <p:nvGrpSpPr>
          <p:cNvPr id="463" name="Google Shape;567;p15"/>
          <p:cNvGrpSpPr/>
          <p:nvPr/>
        </p:nvGrpSpPr>
        <p:grpSpPr>
          <a:xfrm>
            <a:off x="571680" y="1333440"/>
            <a:ext cx="3427920" cy="4380480"/>
            <a:chOff x="571680" y="1333440"/>
            <a:chExt cx="3427920" cy="4380480"/>
          </a:xfrm>
        </p:grpSpPr>
        <p:sp>
          <p:nvSpPr>
            <p:cNvPr id="464" name="Google Shape;568;p15"/>
            <p:cNvSpPr/>
            <p:nvPr/>
          </p:nvSpPr>
          <p:spPr>
            <a:xfrm>
              <a:off x="571680" y="1333440"/>
              <a:ext cx="3427920" cy="4380480"/>
            </a:xfrm>
            <a:prstGeom prst="roundRect">
              <a:avLst>
                <a:gd name="adj" fmla="val 3333"/>
              </a:avLst>
            </a:prstGeom>
            <a:solidFill>
              <a:srgbClr val="FFFFFF"/>
            </a:solidFill>
            <a:ln w="19050">
              <a:solidFill>
                <a:srgbClr val="002060"/>
              </a:solidFill>
              <a:round/>
            </a:ln>
          </p:spPr>
          <p:style>
            <a:lnRef idx="0"/>
            <a:fillRef idx="0"/>
            <a:effectRef idx="0"/>
            <a:fontRef idx="minor"/>
          </p:style>
          <p:txBody>
            <a:bodyPr lIns="0" tIns="0" rIns="0" bIns="0" anchor="ctr">
              <a:noAutofit/>
            </a:bodyPr>
            <a:p>
              <a:endParaRPr lang="en-US" sz="1400" b="0" u="none" strike="noStrike">
                <a:solidFill>
                  <a:srgbClr val="000000"/>
                </a:solidFill>
                <a:effectLst/>
                <a:uFillTx/>
                <a:latin typeface="Arial"/>
              </a:endParaRPr>
            </a:p>
          </p:txBody>
        </p:sp>
        <p:sp>
          <p:nvSpPr>
            <p:cNvPr id="465" name="Google Shape;569;p15"/>
            <p:cNvSpPr/>
            <p:nvPr/>
          </p:nvSpPr>
          <p:spPr>
            <a:xfrm>
              <a:off x="571680" y="1333440"/>
              <a:ext cx="3427920" cy="427680"/>
            </a:xfrm>
            <a:prstGeom prst="roundRect">
              <a:avLst>
                <a:gd name="adj" fmla="val 26666"/>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466" name="Google Shape;570;p15"/>
            <p:cNvSpPr/>
            <p:nvPr/>
          </p:nvSpPr>
          <p:spPr>
            <a:xfrm>
              <a:off x="571680" y="1523880"/>
              <a:ext cx="3427920" cy="237240"/>
            </a:xfrm>
            <a:prstGeom prst="rect">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467" name="Google Shape;571;p15"/>
            <p:cNvSpPr/>
            <p:nvPr/>
          </p:nvSpPr>
          <p:spPr>
            <a:xfrm>
              <a:off x="571680" y="1333440"/>
              <a:ext cx="3427920" cy="427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2000" b="1" u="none" strike="noStrike">
                  <a:solidFill>
                    <a:srgbClr val="FFFFFF"/>
                  </a:solidFill>
                  <a:effectLst/>
                  <a:uFillTx/>
                  <a:latin typeface="Calibri"/>
                  <a:ea typeface="Calibri"/>
                </a:rPr>
                <a:t>1) BASELINE FLOW</a:t>
              </a:r>
              <a:endParaRPr lang="en-US" sz="2000" b="0" u="none" strike="noStrike">
                <a:solidFill>
                  <a:srgbClr val="FFFFFF"/>
                </a:solidFill>
                <a:effectLst/>
                <a:uFillTx/>
                <a:latin typeface="Arial"/>
              </a:endParaRPr>
            </a:p>
          </p:txBody>
        </p:sp>
        <p:sp>
          <p:nvSpPr>
            <p:cNvPr id="468" name="Google Shape;572;p15"/>
            <p:cNvSpPr/>
            <p:nvPr/>
          </p:nvSpPr>
          <p:spPr>
            <a:xfrm>
              <a:off x="714240" y="1952640"/>
              <a:ext cx="3142440" cy="2094480"/>
            </a:xfrm>
            <a:prstGeom prst="roundRect">
              <a:avLst>
                <a:gd name="adj" fmla="val 2727"/>
              </a:avLst>
            </a:prstGeom>
            <a:blipFill rotWithShape="0">
              <a:blip r:embed="rId3"/>
              <a:srcRect/>
              <a:stretch/>
            </a:blip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9" name="Google Shape;573;p15"/>
            <p:cNvSpPr/>
            <p:nvPr/>
          </p:nvSpPr>
          <p:spPr>
            <a:xfrm>
              <a:off x="714240" y="4191120"/>
              <a:ext cx="3142440" cy="138024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1800" b="1" u="none" strike="noStrike">
                  <a:solidFill>
                    <a:srgbClr val="002060"/>
                  </a:solidFill>
                  <a:effectLst/>
                  <a:uFillTx/>
                  <a:latin typeface="Calibri"/>
                  <a:ea typeface="Calibri"/>
                </a:rPr>
                <a:t>Metric Performance</a:t>
              </a:r>
              <a:endParaRPr lang="en-US" sz="1800" b="0" u="none" strike="noStrike">
                <a:solidFill>
                  <a:srgbClr val="FFFFFF"/>
                </a:solidFill>
                <a:effectLst/>
                <a:uFillTx/>
                <a:latin typeface="Arial"/>
              </a:endParaRPr>
            </a:p>
            <a:p>
              <a:pPr>
                <a:lnSpc>
                  <a:spcPct val="100000"/>
                </a:lnSpc>
                <a:spcBef>
                  <a:spcPts val="374"/>
                </a:spcBef>
                <a:tabLst>
                  <a:tab pos="0" algn="l"/>
                </a:tabLst>
              </a:pPr>
              <a:r>
                <a:rPr lang="en-US" sz="1800" b="0" u="none" strike="noStrike">
                  <a:solidFill>
                    <a:srgbClr val="374151"/>
                  </a:solidFill>
                  <a:effectLst/>
                  <a:uFillTx/>
                  <a:latin typeface="Calibri"/>
                  <a:ea typeface="Calibri"/>
                </a:rPr>
                <a:t>Mean RMSE: </a:t>
              </a:r>
              <a:r>
                <a:rPr lang="en-US" sz="1800" b="1" u="none" strike="noStrike">
                  <a:solidFill>
                    <a:srgbClr val="E30000"/>
                  </a:solidFill>
                  <a:effectLst/>
                  <a:uFillTx/>
                  <a:latin typeface="Calibri"/>
                  <a:ea typeface="Calibri"/>
                </a:rPr>
                <a:t>0.1710</a:t>
              </a:r>
              <a:endParaRPr lang="en-US" sz="1800" b="0" u="none" strike="noStrike">
                <a:solidFill>
                  <a:srgbClr val="FFFFFF"/>
                </a:solidFill>
                <a:effectLst/>
                <a:uFillTx/>
                <a:latin typeface="Arial"/>
              </a:endParaRPr>
            </a:p>
            <a:p>
              <a:pPr>
                <a:lnSpc>
                  <a:spcPct val="100000"/>
                </a:lnSpc>
                <a:spcBef>
                  <a:spcPts val="751"/>
                </a:spcBef>
                <a:tabLst>
                  <a:tab pos="0" algn="l"/>
                </a:tabLst>
              </a:pPr>
              <a:r>
                <a:rPr lang="en-US" sz="1800" b="0" u="none" strike="noStrike">
                  <a:solidFill>
                    <a:srgbClr val="555555"/>
                  </a:solidFill>
                  <a:effectLst/>
                  <a:uFillTx/>
                  <a:latin typeface="Calibri"/>
                  <a:ea typeface="Calibri"/>
                </a:rPr>
                <a:t>Stable traffic flow model serving as the reference baseline for packet loss prediction.</a:t>
              </a:r>
              <a:endParaRPr lang="en-US" sz="1800" b="0" u="none" strike="noStrike">
                <a:solidFill>
                  <a:srgbClr val="FFFFFF"/>
                </a:solidFill>
                <a:effectLst/>
                <a:uFillTx/>
                <a:latin typeface="Arial"/>
              </a:endParaRPr>
            </a:p>
          </p:txBody>
        </p:sp>
      </p:grpSp>
      <p:grpSp>
        <p:nvGrpSpPr>
          <p:cNvPr id="470" name="Google Shape;574;p15"/>
          <p:cNvGrpSpPr/>
          <p:nvPr/>
        </p:nvGrpSpPr>
        <p:grpSpPr>
          <a:xfrm>
            <a:off x="4381560" y="1333440"/>
            <a:ext cx="3427920" cy="4380480"/>
            <a:chOff x="4381560" y="1333440"/>
            <a:chExt cx="3427920" cy="4380480"/>
          </a:xfrm>
        </p:grpSpPr>
        <p:sp>
          <p:nvSpPr>
            <p:cNvPr id="471" name="Google Shape;575;p15"/>
            <p:cNvSpPr/>
            <p:nvPr/>
          </p:nvSpPr>
          <p:spPr>
            <a:xfrm>
              <a:off x="4381560" y="1333440"/>
              <a:ext cx="3427920" cy="4380480"/>
            </a:xfrm>
            <a:prstGeom prst="roundRect">
              <a:avLst>
                <a:gd name="adj" fmla="val 3333"/>
              </a:avLst>
            </a:prstGeom>
            <a:solidFill>
              <a:srgbClr val="FFFFFF"/>
            </a:solidFill>
            <a:ln w="19050">
              <a:solidFill>
                <a:srgbClr val="002060"/>
              </a:solidFill>
              <a:round/>
            </a:ln>
          </p:spPr>
          <p:style>
            <a:lnRef idx="0"/>
            <a:fillRef idx="0"/>
            <a:effectRef idx="0"/>
            <a:fontRef idx="minor"/>
          </p:style>
          <p:txBody>
            <a:bodyPr lIns="0" tIns="0" rIns="0" bIns="0" anchor="ctr">
              <a:noAutofit/>
            </a:bodyPr>
            <a:p>
              <a:endParaRPr lang="en-US" sz="1400" b="0" u="none" strike="noStrike">
                <a:solidFill>
                  <a:srgbClr val="000000"/>
                </a:solidFill>
                <a:effectLst/>
                <a:uFillTx/>
                <a:latin typeface="Arial"/>
              </a:endParaRPr>
            </a:p>
          </p:txBody>
        </p:sp>
        <p:sp>
          <p:nvSpPr>
            <p:cNvPr id="472" name="Google Shape;576;p15"/>
            <p:cNvSpPr/>
            <p:nvPr/>
          </p:nvSpPr>
          <p:spPr>
            <a:xfrm>
              <a:off x="4381560" y="1333440"/>
              <a:ext cx="3427920" cy="427680"/>
            </a:xfrm>
            <a:prstGeom prst="roundRect">
              <a:avLst>
                <a:gd name="adj" fmla="val 26666"/>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473" name="Google Shape;577;p15"/>
            <p:cNvSpPr/>
            <p:nvPr/>
          </p:nvSpPr>
          <p:spPr>
            <a:xfrm>
              <a:off x="4381560" y="1523880"/>
              <a:ext cx="3427920" cy="237240"/>
            </a:xfrm>
            <a:prstGeom prst="rect">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474" name="Google Shape;578;p15"/>
            <p:cNvSpPr/>
            <p:nvPr/>
          </p:nvSpPr>
          <p:spPr>
            <a:xfrm>
              <a:off x="4381560" y="1333440"/>
              <a:ext cx="3427920" cy="427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2000" b="1" u="none" strike="noStrike">
                  <a:solidFill>
                    <a:srgbClr val="FFFFFF"/>
                  </a:solidFill>
                  <a:effectLst/>
                  <a:uFillTx/>
                  <a:latin typeface="Calibri"/>
                  <a:ea typeface="Calibri"/>
                </a:rPr>
                <a:t>2) REGIME SWITCHING</a:t>
              </a:r>
              <a:endParaRPr lang="en-US" sz="2000" b="0" u="none" strike="noStrike">
                <a:solidFill>
                  <a:srgbClr val="FFFFFF"/>
                </a:solidFill>
                <a:effectLst/>
                <a:uFillTx/>
                <a:latin typeface="Arial"/>
              </a:endParaRPr>
            </a:p>
          </p:txBody>
        </p:sp>
        <p:sp>
          <p:nvSpPr>
            <p:cNvPr id="475" name="Google Shape;579;p15"/>
            <p:cNvSpPr/>
            <p:nvPr/>
          </p:nvSpPr>
          <p:spPr>
            <a:xfrm>
              <a:off x="4524480" y="1952640"/>
              <a:ext cx="3142440" cy="2094480"/>
            </a:xfrm>
            <a:prstGeom prst="roundRect">
              <a:avLst>
                <a:gd name="adj" fmla="val 2727"/>
              </a:avLst>
            </a:prstGeom>
            <a:blipFill rotWithShape="0">
              <a:blip r:embed="rId4"/>
              <a:srcRect/>
              <a:stretch/>
            </a:blip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6" name="Google Shape;580;p15"/>
            <p:cNvSpPr/>
            <p:nvPr/>
          </p:nvSpPr>
          <p:spPr>
            <a:xfrm>
              <a:off x="4524480" y="4191120"/>
              <a:ext cx="3142440" cy="138024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1800" b="1" u="none" strike="noStrike">
                  <a:solidFill>
                    <a:srgbClr val="002060"/>
                  </a:solidFill>
                  <a:effectLst/>
                  <a:uFillTx/>
                  <a:latin typeface="Calibri"/>
                  <a:ea typeface="Calibri"/>
                </a:rPr>
                <a:t>Metric Performance</a:t>
              </a:r>
              <a:endParaRPr lang="en-US" sz="1800" b="0" u="none" strike="noStrike">
                <a:solidFill>
                  <a:srgbClr val="FFFFFF"/>
                </a:solidFill>
                <a:effectLst/>
                <a:uFillTx/>
                <a:latin typeface="Arial"/>
              </a:endParaRPr>
            </a:p>
            <a:p>
              <a:pPr>
                <a:lnSpc>
                  <a:spcPct val="100000"/>
                </a:lnSpc>
                <a:spcBef>
                  <a:spcPts val="374"/>
                </a:spcBef>
                <a:tabLst>
                  <a:tab pos="0" algn="l"/>
                </a:tabLst>
              </a:pPr>
              <a:r>
                <a:rPr lang="en-US" sz="1800" b="0" u="none" strike="noStrike">
                  <a:solidFill>
                    <a:srgbClr val="374151"/>
                  </a:solidFill>
                  <a:effectLst/>
                  <a:uFillTx/>
                  <a:latin typeface="Calibri"/>
                  <a:ea typeface="Calibri"/>
                </a:rPr>
                <a:t>Mean RMSE: </a:t>
              </a:r>
              <a:r>
                <a:rPr lang="en-US" sz="1800" b="1" u="none" strike="noStrike">
                  <a:solidFill>
                    <a:srgbClr val="E30000"/>
                  </a:solidFill>
                  <a:effectLst/>
                  <a:uFillTx/>
                  <a:latin typeface="Calibri"/>
                  <a:ea typeface="Calibri"/>
                </a:rPr>
                <a:t>0.1444</a:t>
              </a:r>
              <a:endParaRPr lang="en-US" sz="1800" b="0" u="none" strike="noStrike">
                <a:solidFill>
                  <a:srgbClr val="FFFFFF"/>
                </a:solidFill>
                <a:effectLst/>
                <a:uFillTx/>
                <a:latin typeface="Arial"/>
              </a:endParaRPr>
            </a:p>
            <a:p>
              <a:pPr>
                <a:lnSpc>
                  <a:spcPct val="100000"/>
                </a:lnSpc>
                <a:spcBef>
                  <a:spcPts val="751"/>
                </a:spcBef>
                <a:tabLst>
                  <a:tab pos="0" algn="l"/>
                </a:tabLst>
              </a:pPr>
              <a:r>
                <a:rPr lang="en-US" sz="1800" b="0" u="none" strike="noStrike">
                  <a:solidFill>
                    <a:srgbClr val="555555"/>
                  </a:solidFill>
                  <a:effectLst/>
                  <a:uFillTx/>
                  <a:latin typeface="Calibri"/>
                  <a:ea typeface="Calibri"/>
                </a:rPr>
                <a:t>Adapts dynamically to high and low traffic rates, successfully modeling sudden shifts.</a:t>
              </a:r>
              <a:endParaRPr lang="en-US" sz="1800" b="0" u="none" strike="noStrike">
                <a:solidFill>
                  <a:srgbClr val="FFFFFF"/>
                </a:solidFill>
                <a:effectLst/>
                <a:uFillTx/>
                <a:latin typeface="Arial"/>
              </a:endParaRPr>
            </a:p>
          </p:txBody>
        </p:sp>
      </p:grpSp>
      <p:grpSp>
        <p:nvGrpSpPr>
          <p:cNvPr id="477" name="Google Shape;581;p15"/>
          <p:cNvGrpSpPr/>
          <p:nvPr/>
        </p:nvGrpSpPr>
        <p:grpSpPr>
          <a:xfrm>
            <a:off x="8191440" y="1333440"/>
            <a:ext cx="3427920" cy="4380480"/>
            <a:chOff x="8191440" y="1333440"/>
            <a:chExt cx="3427920" cy="4380480"/>
          </a:xfrm>
        </p:grpSpPr>
        <p:sp>
          <p:nvSpPr>
            <p:cNvPr id="478" name="Google Shape;582;p15"/>
            <p:cNvSpPr/>
            <p:nvPr/>
          </p:nvSpPr>
          <p:spPr>
            <a:xfrm>
              <a:off x="8191440" y="1333440"/>
              <a:ext cx="3427920" cy="4380480"/>
            </a:xfrm>
            <a:prstGeom prst="roundRect">
              <a:avLst>
                <a:gd name="adj" fmla="val 3333"/>
              </a:avLst>
            </a:prstGeom>
            <a:solidFill>
              <a:srgbClr val="FFFFFF"/>
            </a:solidFill>
            <a:ln w="19050">
              <a:solidFill>
                <a:srgbClr val="002060"/>
              </a:solidFill>
              <a:round/>
            </a:ln>
          </p:spPr>
          <p:style>
            <a:lnRef idx="0"/>
            <a:fillRef idx="0"/>
            <a:effectRef idx="0"/>
            <a:fontRef idx="minor"/>
          </p:style>
          <p:txBody>
            <a:bodyPr lIns="0" tIns="0" rIns="0" bIns="0" anchor="ctr">
              <a:noAutofit/>
            </a:bodyPr>
            <a:p>
              <a:endParaRPr lang="en-US" sz="1400" b="0" u="none" strike="noStrike">
                <a:solidFill>
                  <a:srgbClr val="000000"/>
                </a:solidFill>
                <a:effectLst/>
                <a:uFillTx/>
                <a:latin typeface="Arial"/>
              </a:endParaRPr>
            </a:p>
          </p:txBody>
        </p:sp>
        <p:sp>
          <p:nvSpPr>
            <p:cNvPr id="479" name="Google Shape;583;p15"/>
            <p:cNvSpPr/>
            <p:nvPr/>
          </p:nvSpPr>
          <p:spPr>
            <a:xfrm>
              <a:off x="8191440" y="1333440"/>
              <a:ext cx="3427920" cy="427680"/>
            </a:xfrm>
            <a:prstGeom prst="roundRect">
              <a:avLst>
                <a:gd name="adj" fmla="val 26666"/>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480" name="Google Shape;584;p15"/>
            <p:cNvSpPr/>
            <p:nvPr/>
          </p:nvSpPr>
          <p:spPr>
            <a:xfrm>
              <a:off x="8191440" y="1523880"/>
              <a:ext cx="3427920" cy="237240"/>
            </a:xfrm>
            <a:prstGeom prst="rect">
              <a:avLst/>
            </a:prstGeom>
            <a:solidFill>
              <a:srgbClr val="002060"/>
            </a:solidFill>
            <a:ln w="0">
              <a:noFill/>
            </a:ln>
          </p:spPr>
          <p:style>
            <a:lnRef idx="0"/>
            <a:fillRef idx="0"/>
            <a:effectRef idx="0"/>
            <a:fontRef idx="minor"/>
          </p:style>
          <p:txBody>
            <a:bodyPr lIns="0" tIns="0" rIns="0" bIns="0" anchor="ctr">
              <a:noAutofit/>
            </a:bodyPr>
            <a:p>
              <a:endParaRPr lang="en-US" sz="1400" b="0" u="none" strike="noStrike">
                <a:solidFill>
                  <a:srgbClr val="FFFFFF"/>
                </a:solidFill>
                <a:effectLst/>
                <a:uFillTx/>
                <a:latin typeface="Arial"/>
              </a:endParaRPr>
            </a:p>
          </p:txBody>
        </p:sp>
        <p:sp>
          <p:nvSpPr>
            <p:cNvPr id="481" name="Google Shape;585;p15"/>
            <p:cNvSpPr/>
            <p:nvPr/>
          </p:nvSpPr>
          <p:spPr>
            <a:xfrm>
              <a:off x="8191440" y="1333440"/>
              <a:ext cx="3427920" cy="427680"/>
            </a:xfrm>
            <a:prstGeom prst="rect">
              <a:avLst/>
            </a:prstGeom>
            <a:noFill/>
            <a:ln w="0">
              <a:noFill/>
            </a:ln>
          </p:spPr>
          <p:style>
            <a:lnRef idx="0"/>
            <a:fillRef idx="0"/>
            <a:effectRef idx="0"/>
            <a:fontRef idx="minor"/>
          </p:style>
          <p:txBody>
            <a:bodyPr lIns="0" tIns="0" rIns="0" bIns="0" anchor="ctr">
              <a:noAutofit/>
            </a:bodyPr>
            <a:p>
              <a:pPr algn="ctr">
                <a:lnSpc>
                  <a:spcPct val="100000"/>
                </a:lnSpc>
                <a:tabLst>
                  <a:tab pos="0" algn="l"/>
                </a:tabLst>
              </a:pPr>
              <a:r>
                <a:rPr lang="en-US" sz="2000" b="1" u="none" strike="noStrike">
                  <a:solidFill>
                    <a:srgbClr val="FFFFFF"/>
                  </a:solidFill>
                  <a:effectLst/>
                  <a:uFillTx/>
                  <a:latin typeface="Calibri"/>
                  <a:ea typeface="Calibri"/>
                </a:rPr>
                <a:t>3) RANDOM WALK</a:t>
              </a:r>
              <a:endParaRPr lang="en-US" sz="2000" b="0" u="none" strike="noStrike">
                <a:solidFill>
                  <a:srgbClr val="FFFFFF"/>
                </a:solidFill>
                <a:effectLst/>
                <a:uFillTx/>
                <a:latin typeface="Arial"/>
              </a:endParaRPr>
            </a:p>
          </p:txBody>
        </p:sp>
        <p:sp>
          <p:nvSpPr>
            <p:cNvPr id="482" name="Google Shape;586;p15"/>
            <p:cNvSpPr/>
            <p:nvPr/>
          </p:nvSpPr>
          <p:spPr>
            <a:xfrm>
              <a:off x="8334360" y="1952640"/>
              <a:ext cx="3142440" cy="2094480"/>
            </a:xfrm>
            <a:prstGeom prst="roundRect">
              <a:avLst>
                <a:gd name="adj" fmla="val 2727"/>
              </a:avLst>
            </a:prstGeom>
            <a:blipFill rotWithShape="0">
              <a:blip r:embed="rId5"/>
              <a:srcRect/>
              <a:stretch/>
            </a:blip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83" name="Google Shape;587;p15"/>
            <p:cNvSpPr/>
            <p:nvPr/>
          </p:nvSpPr>
          <p:spPr>
            <a:xfrm>
              <a:off x="8334360" y="4191120"/>
              <a:ext cx="3142440" cy="138024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1800" b="1" u="none" strike="noStrike">
                  <a:solidFill>
                    <a:srgbClr val="002060"/>
                  </a:solidFill>
                  <a:effectLst/>
                  <a:uFillTx/>
                  <a:latin typeface="Calibri"/>
                  <a:ea typeface="Calibri"/>
                </a:rPr>
                <a:t>Metric Performance</a:t>
              </a:r>
              <a:endParaRPr lang="en-US" sz="1800" b="0" u="none" strike="noStrike">
                <a:solidFill>
                  <a:srgbClr val="FFFFFF"/>
                </a:solidFill>
                <a:effectLst/>
                <a:uFillTx/>
                <a:latin typeface="Arial"/>
              </a:endParaRPr>
            </a:p>
            <a:p>
              <a:pPr>
                <a:lnSpc>
                  <a:spcPct val="100000"/>
                </a:lnSpc>
                <a:spcBef>
                  <a:spcPts val="374"/>
                </a:spcBef>
                <a:tabLst>
                  <a:tab pos="0" algn="l"/>
                </a:tabLst>
              </a:pPr>
              <a:r>
                <a:rPr lang="en-US" sz="1800" b="0" u="none" strike="noStrike">
                  <a:solidFill>
                    <a:srgbClr val="374151"/>
                  </a:solidFill>
                  <a:effectLst/>
                  <a:uFillTx/>
                  <a:latin typeface="Calibri"/>
                  <a:ea typeface="Calibri"/>
                </a:rPr>
                <a:t>Mean RMSE: </a:t>
              </a:r>
              <a:r>
                <a:rPr lang="en-US" sz="1800" b="1" u="none" strike="noStrike">
                  <a:solidFill>
                    <a:srgbClr val="E30000"/>
                  </a:solidFill>
                  <a:effectLst/>
                  <a:uFillTx/>
                  <a:latin typeface="Calibri"/>
                  <a:ea typeface="Calibri"/>
                </a:rPr>
                <a:t>0.1388</a:t>
              </a:r>
              <a:endParaRPr lang="en-US" sz="1800" b="0" u="none" strike="noStrike">
                <a:solidFill>
                  <a:srgbClr val="FFFFFF"/>
                </a:solidFill>
                <a:effectLst/>
                <a:uFillTx/>
                <a:latin typeface="Arial"/>
              </a:endParaRPr>
            </a:p>
            <a:p>
              <a:pPr>
                <a:lnSpc>
                  <a:spcPct val="100000"/>
                </a:lnSpc>
                <a:spcBef>
                  <a:spcPts val="751"/>
                </a:spcBef>
                <a:tabLst>
                  <a:tab pos="0" algn="l"/>
                </a:tabLst>
              </a:pPr>
              <a:r>
                <a:rPr lang="en-US" sz="1800" b="0" u="none" strike="noStrike">
                  <a:solidFill>
                    <a:srgbClr val="555555"/>
                  </a:solidFill>
                  <a:effectLst/>
                  <a:uFillTx/>
                  <a:latin typeface="Calibri"/>
                  <a:ea typeface="Calibri"/>
                </a:rPr>
                <a:t>Estimates AR coefficients continuously to track drifts and highly volatile environments.</a:t>
              </a:r>
              <a:endParaRPr lang="en-US" sz="1800" b="0" u="none" strike="noStrike">
                <a:solidFill>
                  <a:srgbClr val="FFFFFF"/>
                </a:solidFill>
                <a:effectLst/>
                <a:uFillTx/>
                <a:latin typeface="Arial"/>
              </a:endParaRPr>
            </a:p>
          </p:txBody>
        </p:sp>
      </p:grpSp>
      <p:sp>
        <p:nvSpPr>
          <p:cNvPr id="484" name="Google Shape;588;p15"/>
          <p:cNvSpPr/>
          <p:nvPr/>
        </p:nvSpPr>
        <p:spPr>
          <a:xfrm>
            <a:off x="571680" y="6176880"/>
            <a:ext cx="951480" cy="6775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FFFFFF"/>
                </a:solidFill>
                <a:effectLst/>
                <a:uFillTx/>
                <a:latin typeface="Calibri"/>
                <a:ea typeface="Calibri"/>
              </a:rPr>
              <a:t>Page 17</a:t>
            </a:r>
            <a:endParaRPr lang="en-US" sz="1400" b="0" u="none" strike="noStrike">
              <a:solidFill>
                <a:srgbClr val="FFFFFF"/>
              </a:solidFill>
              <a:effectLst/>
              <a:uFillTx/>
              <a:latin typeface="Arial"/>
            </a:endParaRPr>
          </a:p>
        </p:txBody>
      </p:sp>
      <p:sp>
        <p:nvSpPr>
          <p:cNvPr id="485" name=""/>
          <p:cNvSpPr txBox="1"/>
          <p:nvPr/>
        </p:nvSpPr>
        <p:spPr>
          <a:xfrm>
            <a:off x="169560" y="4572000"/>
            <a:ext cx="436320" cy="90720"/>
          </a:xfrm>
          <a:prstGeom prst="rect">
            <a:avLst/>
          </a:prstGeom>
          <a:noFill/>
          <a:ln w="0">
            <a:noFill/>
          </a:ln>
        </p:spPr>
        <p:txBody>
          <a:bodyPr wrap="none" lIns="45000" tIns="90000" rIns="45000" bIns="90000" anchor="t" vert="eaVert">
            <a:spAutoFit/>
          </a:bodyPr>
          <a:p>
            <a:endParaRPr lang="en-US" sz="1800" b="0" u="none" strike="noStrike">
              <a:solidFill>
                <a:srgbClr val="FFFFFF"/>
              </a:solidFill>
              <a:effectLst/>
              <a:uFillTx/>
              <a:latin typeface="Arial"/>
            </a:endParaRPr>
          </a:p>
        </p:txBody>
      </p:sp>
      <p:sp>
        <p:nvSpPr>
          <p:cNvPr id="486" name=""/>
          <p:cNvSpPr txBox="1"/>
          <p:nvPr/>
        </p:nvSpPr>
        <p:spPr>
          <a:xfrm>
            <a:off x="571680" y="5751000"/>
            <a:ext cx="799920" cy="230400"/>
          </a:xfrm>
          <a:prstGeom prst="rect">
            <a:avLst/>
          </a:prstGeom>
          <a:noFill/>
          <a:ln w="0">
            <a:noFill/>
          </a:ln>
        </p:spPr>
        <p:txBody>
          <a:bodyPr lIns="90000" tIns="45000" rIns="90000" bIns="45000" anchor="t">
            <a:spAutoFit/>
          </a:bodyPr>
          <a:p>
            <a:r>
              <a:rPr lang="en-US" sz="1100" b="0" u="none" strike="noStrike">
                <a:solidFill>
                  <a:srgbClr val="000000"/>
                </a:solidFill>
                <a:effectLst/>
                <a:uFillTx/>
                <a:latin typeface="Calibri"/>
              </a:rPr>
              <a:t>Figure 3.1</a:t>
            </a:r>
            <a:endParaRPr lang="en-US" sz="1100" b="0" u="none" strike="noStrike">
              <a:solidFill>
                <a:srgbClr val="000000"/>
              </a:solidFill>
              <a:effectLst/>
              <a:uFillTx/>
              <a:latin typeface="Calibri"/>
            </a:endParaRPr>
          </a:p>
        </p:txBody>
      </p:sp>
      <p:sp>
        <p:nvSpPr>
          <p:cNvPr id="487" name=""/>
          <p:cNvSpPr txBox="1"/>
          <p:nvPr/>
        </p:nvSpPr>
        <p:spPr>
          <a:xfrm>
            <a:off x="8344080" y="5715000"/>
            <a:ext cx="799920" cy="230400"/>
          </a:xfrm>
          <a:prstGeom prst="rect">
            <a:avLst/>
          </a:prstGeom>
          <a:noFill/>
          <a:ln w="0">
            <a:noFill/>
          </a:ln>
        </p:spPr>
        <p:txBody>
          <a:bodyPr lIns="90000" tIns="45000" rIns="90000" bIns="45000" anchor="t">
            <a:spAutoFit/>
          </a:bodyPr>
          <a:p>
            <a:r>
              <a:rPr lang="en-US" sz="1100" b="0" u="none" strike="noStrike">
                <a:solidFill>
                  <a:srgbClr val="000000"/>
                </a:solidFill>
                <a:effectLst/>
                <a:uFillTx/>
                <a:latin typeface="Calibri"/>
              </a:rPr>
              <a:t>Figure 3.3</a:t>
            </a:r>
            <a:endParaRPr lang="en-US" sz="1100" b="0" u="none" strike="noStrike">
              <a:solidFill>
                <a:srgbClr val="000000"/>
              </a:solidFill>
              <a:effectLst/>
              <a:uFillTx/>
              <a:latin typeface="Calibri"/>
            </a:endParaRPr>
          </a:p>
        </p:txBody>
      </p:sp>
      <p:sp>
        <p:nvSpPr>
          <p:cNvPr id="488" name=""/>
          <p:cNvSpPr txBox="1"/>
          <p:nvPr/>
        </p:nvSpPr>
        <p:spPr>
          <a:xfrm>
            <a:off x="4457880" y="5713920"/>
            <a:ext cx="799920" cy="230400"/>
          </a:xfrm>
          <a:prstGeom prst="rect">
            <a:avLst/>
          </a:prstGeom>
          <a:noFill/>
          <a:ln w="0">
            <a:noFill/>
          </a:ln>
        </p:spPr>
        <p:txBody>
          <a:bodyPr lIns="90000" tIns="45000" rIns="90000" bIns="45000" anchor="t">
            <a:spAutoFit/>
          </a:bodyPr>
          <a:p>
            <a:r>
              <a:rPr lang="en-US" sz="1100" b="0" u="none" strike="noStrike">
                <a:solidFill>
                  <a:srgbClr val="000000"/>
                </a:solidFill>
                <a:effectLst/>
                <a:uFillTx/>
                <a:latin typeface="Calibri"/>
              </a:rPr>
              <a:t>Figure 3.2</a:t>
            </a:r>
            <a:endParaRPr lang="en-US" sz="1100" b="0" u="none" strike="noStrik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PlaceHolder 1"/>
          <p:cNvSpPr>
            <a:spLocks noGrp="1"/>
          </p:cNvSpPr>
          <p:nvPr>
            <p:ph type="title"/>
          </p:nvPr>
        </p:nvSpPr>
        <p:spPr>
          <a:xfrm>
            <a:off x="0" y="228600"/>
            <a:ext cx="12188880" cy="911160"/>
          </a:xfrm>
          <a:prstGeom prst="rect">
            <a:avLst/>
          </a:prstGeom>
          <a:noFill/>
          <a:ln w="0">
            <a:noFill/>
          </a:ln>
        </p:spPr>
        <p:txBody>
          <a:bodyPr lIns="91440" tIns="45720" rIns="91440" bIns="45720" anchor="ctr">
            <a:noAutofit/>
          </a:bodyPr>
          <a:p>
            <a:pPr indent="0" algn="ctr">
              <a:lnSpc>
                <a:spcPct val="90000"/>
              </a:lnSpc>
              <a:buNone/>
              <a:tabLst>
                <a:tab pos="0" algn="l"/>
              </a:tabLst>
            </a:pPr>
            <a:r>
              <a:rPr lang="en-US" sz="3600" b="1" u="none" strike="noStrike">
                <a:solidFill>
                  <a:srgbClr val="002060"/>
                </a:solidFill>
                <a:effectLst/>
                <a:uFillTx/>
                <a:latin typeface="Calibri"/>
                <a:ea typeface="Calibri"/>
              </a:rPr>
              <a:t>CONCLUSION</a:t>
            </a:r>
            <a:endParaRPr lang="en-US" sz="3600" b="0" u="none" strike="noStrike">
              <a:solidFill>
                <a:srgbClr val="000000"/>
              </a:solidFill>
              <a:effectLst/>
              <a:uFillTx/>
              <a:latin typeface="Arial"/>
            </a:endParaRPr>
          </a:p>
        </p:txBody>
      </p:sp>
      <p:sp>
        <p:nvSpPr>
          <p:cNvPr id="490" name="PlaceHolder 2"/>
          <p:cNvSpPr>
            <a:spLocks noGrp="1"/>
          </p:cNvSpPr>
          <p:nvPr>
            <p:ph/>
          </p:nvPr>
        </p:nvSpPr>
        <p:spPr>
          <a:xfrm>
            <a:off x="457200" y="1386720"/>
            <a:ext cx="11198160" cy="4347720"/>
          </a:xfrm>
          <a:prstGeom prst="rect">
            <a:avLst/>
          </a:prstGeom>
          <a:noFill/>
          <a:ln w="0">
            <a:noFill/>
          </a:ln>
        </p:spPr>
        <p:txBody>
          <a:bodyPr lIns="91440" tIns="45720" rIns="91440" bIns="45720" anchor="t">
            <a:normAutofit fontScale="85000" lnSpcReduction="19999"/>
          </a:bodyPr>
          <a:p>
            <a:pPr marL="228600" indent="0" algn="l">
              <a:lnSpc>
                <a:spcPct val="90000"/>
              </a:lnSpc>
              <a:spcBef>
                <a:spcPts val="1417"/>
              </a:spcBef>
              <a:buNone/>
              <a:tabLst>
                <a:tab pos="0" algn="l"/>
              </a:tabLst>
            </a:pPr>
            <a:r>
              <a:rPr lang="en-US" sz="4000" b="0" u="none" strike="noStrike">
                <a:solidFill>
                  <a:schemeClr val="dk1"/>
                </a:solidFill>
                <a:effectLst/>
                <a:uFillTx/>
                <a:latin typeface="Calibri"/>
                <a:ea typeface="Calibri"/>
              </a:rPr>
              <a:t>This research set out to address the challenge of packet loss in WMNs by designing and simulating a TVAR model for packet loss prediction. Simulation results confirmed that in highly volatile environments, the model successfully tracked the trends of the network and adapted to sudden regime shifts with minimal lag. By shifting the network management paradigm from reactive to proactive, this research contributes to the development of more resilient, cost-effective, and reliable wireless infrastructure, paving the way for improved QoS in future smart grid and mesh deployments.</a:t>
            </a:r>
            <a:endParaRPr lang="en-US" sz="4000" b="0" u="none" strike="noStrike">
              <a:solidFill>
                <a:srgbClr val="000000"/>
              </a:solidFill>
              <a:effectLst/>
              <a:uFillTx/>
              <a:latin typeface="Arial"/>
            </a:endParaRPr>
          </a:p>
        </p:txBody>
      </p:sp>
      <p:sp>
        <p:nvSpPr>
          <p:cNvPr id="491" name="Google Shape;595;p16"/>
          <p:cNvSpPr/>
          <p:nvPr/>
        </p:nvSpPr>
        <p:spPr>
          <a:xfrm>
            <a:off x="571680" y="6176880"/>
            <a:ext cx="951480" cy="6775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FFFFFF"/>
                </a:solidFill>
                <a:effectLst/>
                <a:uFillTx/>
                <a:latin typeface="Calibri"/>
                <a:ea typeface="Calibri"/>
              </a:rPr>
              <a:t>Page 18</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PlaceHolder 1"/>
          <p:cNvSpPr>
            <a:spLocks noGrp="1"/>
          </p:cNvSpPr>
          <p:nvPr>
            <p:ph type="title"/>
          </p:nvPr>
        </p:nvSpPr>
        <p:spPr>
          <a:xfrm>
            <a:off x="0" y="228600"/>
            <a:ext cx="12188880" cy="606240"/>
          </a:xfrm>
          <a:prstGeom prst="rect">
            <a:avLst/>
          </a:prstGeom>
          <a:noFill/>
          <a:ln w="0">
            <a:noFill/>
          </a:ln>
        </p:spPr>
        <p:txBody>
          <a:bodyPr lIns="91440" tIns="45720" rIns="91440" bIns="45720" anchor="ctr">
            <a:normAutofit/>
          </a:bodyPr>
          <a:p>
            <a:pPr indent="0" algn="ctr">
              <a:lnSpc>
                <a:spcPct val="80000"/>
              </a:lnSpc>
              <a:buNone/>
              <a:tabLst>
                <a:tab pos="0" algn="l"/>
              </a:tabLst>
            </a:pPr>
            <a:r>
              <a:rPr lang="en-US" sz="3600" b="1" u="none" strike="noStrike">
                <a:solidFill>
                  <a:srgbClr val="002060"/>
                </a:solidFill>
                <a:effectLst/>
                <a:uFillTx/>
                <a:latin typeface="Calibri"/>
                <a:ea typeface="Calibri"/>
              </a:rPr>
              <a:t>REFERENCES</a:t>
            </a:r>
            <a:endParaRPr lang="en-US" sz="3600" b="0" u="none" strike="noStrike">
              <a:solidFill>
                <a:srgbClr val="000000"/>
              </a:solidFill>
              <a:effectLst/>
              <a:uFillTx/>
              <a:latin typeface="Arial"/>
            </a:endParaRPr>
          </a:p>
        </p:txBody>
      </p:sp>
      <p:sp>
        <p:nvSpPr>
          <p:cNvPr id="493" name="PlaceHolder 2"/>
          <p:cNvSpPr>
            <a:spLocks noGrp="1"/>
          </p:cNvSpPr>
          <p:nvPr>
            <p:ph/>
          </p:nvPr>
        </p:nvSpPr>
        <p:spPr>
          <a:xfrm>
            <a:off x="164520" y="838080"/>
            <a:ext cx="11945160" cy="4733640"/>
          </a:xfrm>
          <a:prstGeom prst="rect">
            <a:avLst/>
          </a:prstGeom>
          <a:noFill/>
          <a:ln w="0">
            <a:noFill/>
          </a:ln>
        </p:spPr>
        <p:txBody>
          <a:bodyPr lIns="91440" tIns="45720" rIns="91440" bIns="45720" anchor="t">
            <a:noAutofit/>
          </a:bodyPr>
          <a:p>
            <a:pPr indent="0" algn="l">
              <a:lnSpc>
                <a:spcPct val="90000"/>
              </a:lnSpc>
              <a:spcBef>
                <a:spcPts val="1417"/>
              </a:spcBef>
              <a:buNone/>
              <a:tabLst>
                <a:tab pos="0" algn="l"/>
              </a:tabLst>
            </a:pPr>
            <a:r>
              <a:rPr lang="en-US" sz="2000" b="0" u="none" strike="noStrike">
                <a:solidFill>
                  <a:schemeClr val="dk1"/>
                </a:solidFill>
                <a:effectLst/>
                <a:uFillTx/>
                <a:latin typeface="Calibri"/>
                <a:ea typeface="Calibri"/>
              </a:rPr>
              <a:t>1] A. Albuero, Wireless Mesh Networks. Arcler Press, 2021.</a:t>
            </a:r>
            <a:endParaRPr lang="en-US" sz="2000" b="0" u="none" strike="noStrike">
              <a:solidFill>
                <a:srgbClr val="000000"/>
              </a:solidFill>
              <a:effectLst/>
              <a:uFillTx/>
              <a:latin typeface="Arial"/>
            </a:endParaRPr>
          </a:p>
          <a:p>
            <a:pPr indent="0" algn="l">
              <a:lnSpc>
                <a:spcPct val="90000"/>
              </a:lnSpc>
              <a:spcBef>
                <a:spcPts val="2180"/>
              </a:spcBef>
              <a:buNone/>
              <a:tabLst>
                <a:tab pos="0" algn="l"/>
              </a:tabLst>
            </a:pPr>
            <a:r>
              <a:rPr lang="en-US" sz="2000" b="0" u="none" strike="noStrike">
                <a:solidFill>
                  <a:schemeClr val="dk1"/>
                </a:solidFill>
                <a:effectLst/>
                <a:uFillTx/>
                <a:latin typeface="Calibri"/>
                <a:ea typeface="Calibri"/>
              </a:rPr>
              <a:t>[2] Grand View Research, "Wireless Mesh Network Market Size, Share &amp; Trends Analysis Report By Radio Frequency (2.4 GHz, 5 GHz), By Application (Video Surveillance, Home Networking), By End-use (Oil &amp; Gas, Mining), And Segment Forecasts, 2023 - 2030," Grand View Research, San Francisco, CA, Feb. 27, 2023. [Online]. Available: </a:t>
            </a:r>
            <a:r>
              <a:rPr lang="en-US" sz="2000" b="0" u="sng" strike="noStrike">
                <a:solidFill>
                  <a:schemeClr val="hlink"/>
                </a:solidFill>
                <a:effectLst/>
                <a:uFillTx/>
                <a:latin typeface="Calibri"/>
                <a:ea typeface="Calibri"/>
                <a:hlinkClick r:id="rId1"/>
              </a:rPr>
              <a:t>https://www.grandviewresearch.com/industry-analysis/wireless-mesh-network-wmn-market</a:t>
            </a:r>
            <a:endParaRPr lang="en-US" sz="2000" b="0" u="none" strike="noStrike">
              <a:solidFill>
                <a:srgbClr val="000000"/>
              </a:solidFill>
              <a:effectLst/>
              <a:uFillTx/>
              <a:latin typeface="Arial"/>
            </a:endParaRPr>
          </a:p>
          <a:p>
            <a:pPr indent="0" algn="l">
              <a:lnSpc>
                <a:spcPct val="90000"/>
              </a:lnSpc>
              <a:spcBef>
                <a:spcPts val="2180"/>
              </a:spcBef>
              <a:buNone/>
              <a:tabLst>
                <a:tab pos="0" algn="l"/>
              </a:tabLst>
            </a:pPr>
            <a:r>
              <a:rPr lang="en-US" sz="2000" b="0" u="none" strike="noStrike">
                <a:solidFill>
                  <a:schemeClr val="dk1"/>
                </a:solidFill>
                <a:effectLst/>
                <a:uFillTx/>
                <a:latin typeface="Calibri"/>
                <a:ea typeface="Calibri"/>
              </a:rPr>
              <a:t>[3] L. Davoli and G. Ferrari, Wireless Mesh Networks for IoT and Smart Cities. 2022.</a:t>
            </a:r>
            <a:endParaRPr lang="en-US" sz="2000" b="0" u="none" strike="noStrike">
              <a:solidFill>
                <a:srgbClr val="000000"/>
              </a:solidFill>
              <a:effectLst/>
              <a:uFillTx/>
              <a:latin typeface="Arial"/>
            </a:endParaRPr>
          </a:p>
          <a:p>
            <a:pPr indent="0" algn="l">
              <a:lnSpc>
                <a:spcPct val="90000"/>
              </a:lnSpc>
              <a:spcBef>
                <a:spcPts val="2180"/>
              </a:spcBef>
              <a:buNone/>
              <a:tabLst>
                <a:tab pos="0" algn="l"/>
              </a:tabLst>
            </a:pPr>
            <a:r>
              <a:rPr lang="en-US" sz="2000" b="0" u="none" strike="noStrike">
                <a:solidFill>
                  <a:schemeClr val="dk1"/>
                </a:solidFill>
                <a:effectLst/>
                <a:uFillTx/>
                <a:latin typeface="Calibri"/>
                <a:ea typeface="Calibri"/>
              </a:rPr>
              <a:t>[4] P. Shinde, Y. Kathane, E. Varpe, T. Jagtap, and P. Thakkar, “Performance Analysis of MANET Protocols: A Comparative Study of DSR, AODV, DSDV, and OLSR Based on Packet Delivery Ratio, Average Throughput, and Average Delay ,” vol. 11, no. 5, pp. 194–197, May 2024, doi: </a:t>
            </a:r>
            <a:r>
              <a:rPr lang="en-US" sz="2000" b="0" u="sng" strike="noStrike">
                <a:solidFill>
                  <a:schemeClr val="hlink"/>
                </a:solidFill>
                <a:effectLst/>
                <a:uFillTx/>
                <a:latin typeface="Calibri"/>
                <a:ea typeface="Calibri"/>
                <a:hlinkClick r:id="rId2"/>
              </a:rPr>
              <a:t>https://doi.org/10.17148/IARJSET.2024.11527</a:t>
            </a:r>
            <a:r>
              <a:rPr lang="en-US" sz="2000" b="0" u="none" strike="noStrike">
                <a:solidFill>
                  <a:schemeClr val="dk1"/>
                </a:solidFill>
                <a:effectLst/>
                <a:uFillTx/>
                <a:latin typeface="Calibri"/>
                <a:ea typeface="Calibri"/>
              </a:rPr>
              <a:t>.</a:t>
            </a:r>
            <a:endParaRPr lang="en-US" sz="2000" b="0" u="none" strike="noStrike">
              <a:solidFill>
                <a:srgbClr val="000000"/>
              </a:solidFill>
              <a:effectLst/>
              <a:uFillTx/>
              <a:latin typeface="Arial"/>
            </a:endParaRPr>
          </a:p>
          <a:p>
            <a:pPr indent="0" algn="l">
              <a:lnSpc>
                <a:spcPct val="90000"/>
              </a:lnSpc>
              <a:spcBef>
                <a:spcPts val="2180"/>
              </a:spcBef>
              <a:buNone/>
              <a:tabLst>
                <a:tab pos="0" algn="l"/>
              </a:tabLst>
            </a:pPr>
            <a:r>
              <a:rPr lang="en-US" sz="2000" b="0" u="none" strike="noStrike">
                <a:solidFill>
                  <a:schemeClr val="dk1"/>
                </a:solidFill>
                <a:effectLst/>
                <a:uFillTx/>
                <a:latin typeface="Calibri"/>
                <a:ea typeface="Calibri"/>
              </a:rPr>
              <a:t>[5] D. Thakre and S. Awaya, “Performance Study of AODV, OLSR, and DSDV Routing Protocols in Mobile AD HOC Networks,” vol. 10, no. 2, pp. 38–58, 2024, doi: </a:t>
            </a:r>
            <a:r>
              <a:rPr lang="en-US" sz="2000" b="0" u="sng" strike="noStrike">
                <a:solidFill>
                  <a:schemeClr val="hlink"/>
                </a:solidFill>
                <a:effectLst/>
                <a:uFillTx/>
                <a:latin typeface="Calibri"/>
                <a:ea typeface="Calibri"/>
                <a:hlinkClick r:id="rId3"/>
              </a:rPr>
              <a:t>https://doi.org/10.37628/IJMET</a:t>
            </a:r>
            <a:r>
              <a:rPr lang="en-US" sz="2000" b="0" u="none" strike="noStrike">
                <a:solidFill>
                  <a:schemeClr val="dk1"/>
                </a:solidFill>
                <a:effectLst/>
                <a:uFillTx/>
                <a:latin typeface="Calibri"/>
                <a:ea typeface="Calibri"/>
              </a:rPr>
              <a:t>.</a:t>
            </a:r>
            <a:endParaRPr lang="en-US" sz="2000" b="0" u="none" strike="noStrike">
              <a:solidFill>
                <a:srgbClr val="000000"/>
              </a:solidFill>
              <a:effectLst/>
              <a:uFillTx/>
              <a:latin typeface="Arial"/>
            </a:endParaRPr>
          </a:p>
          <a:p>
            <a:pPr indent="0" algn="l">
              <a:lnSpc>
                <a:spcPct val="90000"/>
              </a:lnSpc>
              <a:spcBef>
                <a:spcPts val="2180"/>
              </a:spcBef>
              <a:buNone/>
              <a:tabLst>
                <a:tab pos="0" algn="l"/>
              </a:tabLst>
            </a:pPr>
            <a:r>
              <a:rPr lang="en-US" sz="2000" b="0" u="none" strike="noStrike">
                <a:solidFill>
                  <a:schemeClr val="dk1"/>
                </a:solidFill>
                <a:effectLst/>
                <a:uFillTx/>
                <a:latin typeface="Calibri"/>
                <a:ea typeface="Calibri"/>
              </a:rPr>
              <a:t>[6] V. N. Katambire, R. Musabe, A. Uwitonze, and D. Mukanyiligira, “Forecasting the Traffic Flow by Using ARIMA and LSTM Models: Case of Muhima Junction,” Forecasting, vol. 5, no. 4, pp. 616–628, Dec. 2023, doi: </a:t>
            </a:r>
            <a:r>
              <a:rPr lang="en-US" sz="2000" b="0" u="sng" strike="noStrike">
                <a:solidFill>
                  <a:schemeClr val="hlink"/>
                </a:solidFill>
                <a:effectLst/>
                <a:uFillTx/>
                <a:latin typeface="Calibri"/>
                <a:ea typeface="Calibri"/>
                <a:hlinkClick r:id="rId4"/>
              </a:rPr>
              <a:t>https://doi.org/10.3390/forecast5040034</a:t>
            </a:r>
            <a:r>
              <a:rPr lang="en-US" sz="2000" b="0" u="none" strike="noStrike">
                <a:solidFill>
                  <a:schemeClr val="dk1"/>
                </a:solidFill>
                <a:effectLst/>
                <a:uFillTx/>
                <a:latin typeface="Calibri"/>
                <a:ea typeface="Calibri"/>
              </a:rPr>
              <a:t>.</a:t>
            </a:r>
            <a:endParaRPr lang="en-US" sz="2000" b="0" u="none" strike="noStrike">
              <a:solidFill>
                <a:srgbClr val="000000"/>
              </a:solidFill>
              <a:effectLst/>
              <a:uFillTx/>
              <a:latin typeface="Arial"/>
            </a:endParaRPr>
          </a:p>
        </p:txBody>
      </p:sp>
      <p:sp>
        <p:nvSpPr>
          <p:cNvPr id="494" name="Google Shape;602;p17"/>
          <p:cNvSpPr/>
          <p:nvPr/>
        </p:nvSpPr>
        <p:spPr>
          <a:xfrm>
            <a:off x="571680" y="6176880"/>
            <a:ext cx="951480" cy="6775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FFFFFF"/>
                </a:solidFill>
                <a:effectLst/>
                <a:uFillTx/>
                <a:latin typeface="Calibri"/>
                <a:ea typeface="Calibri"/>
              </a:rPr>
              <a:t>Page 19</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PlaceHolder 1"/>
          <p:cNvSpPr>
            <a:spLocks noGrp="1"/>
          </p:cNvSpPr>
          <p:nvPr>
            <p:ph type="title"/>
          </p:nvPr>
        </p:nvSpPr>
        <p:spPr>
          <a:xfrm>
            <a:off x="0" y="228600"/>
            <a:ext cx="12188880" cy="606240"/>
          </a:xfrm>
          <a:prstGeom prst="rect">
            <a:avLst/>
          </a:prstGeom>
          <a:noFill/>
          <a:ln w="0">
            <a:noFill/>
          </a:ln>
        </p:spPr>
        <p:txBody>
          <a:bodyPr lIns="91440" tIns="45720" rIns="91440" bIns="45720" anchor="ctr">
            <a:normAutofit/>
          </a:bodyPr>
          <a:p>
            <a:pPr indent="0" algn="ctr">
              <a:lnSpc>
                <a:spcPct val="80000"/>
              </a:lnSpc>
              <a:buNone/>
              <a:tabLst>
                <a:tab pos="0" algn="l"/>
              </a:tabLst>
            </a:pPr>
            <a:r>
              <a:rPr lang="en-US" sz="3600" b="1" u="none" strike="noStrike">
                <a:solidFill>
                  <a:srgbClr val="002060"/>
                </a:solidFill>
                <a:effectLst/>
                <a:uFillTx/>
                <a:latin typeface="Calibri"/>
                <a:ea typeface="Calibri"/>
              </a:rPr>
              <a:t>REFERENCES</a:t>
            </a:r>
            <a:endParaRPr lang="en-US" sz="3600" b="0" u="none" strike="noStrike">
              <a:solidFill>
                <a:srgbClr val="000000"/>
              </a:solidFill>
              <a:effectLst/>
              <a:uFillTx/>
              <a:latin typeface="Arial"/>
            </a:endParaRPr>
          </a:p>
        </p:txBody>
      </p:sp>
      <p:sp>
        <p:nvSpPr>
          <p:cNvPr id="496" name="PlaceHolder 2"/>
          <p:cNvSpPr>
            <a:spLocks noGrp="1"/>
          </p:cNvSpPr>
          <p:nvPr>
            <p:ph/>
          </p:nvPr>
        </p:nvSpPr>
        <p:spPr>
          <a:xfrm>
            <a:off x="0" y="838080"/>
            <a:ext cx="12188880" cy="5330880"/>
          </a:xfrm>
          <a:prstGeom prst="rect">
            <a:avLst/>
          </a:prstGeom>
          <a:noFill/>
          <a:ln w="0">
            <a:noFill/>
          </a:ln>
        </p:spPr>
        <p:txBody>
          <a:bodyPr lIns="91440" tIns="45720" rIns="91440" bIns="45720" anchor="t">
            <a:noAutofit/>
          </a:bodyPr>
          <a:p>
            <a:pPr indent="0" algn="l">
              <a:lnSpc>
                <a:spcPct val="90000"/>
              </a:lnSpc>
              <a:spcBef>
                <a:spcPts val="1417"/>
              </a:spcBef>
              <a:buNone/>
              <a:tabLst>
                <a:tab pos="0" algn="l"/>
              </a:tabLst>
            </a:pPr>
            <a:r>
              <a:rPr lang="en-US" sz="2000" b="0" u="none" strike="noStrike">
                <a:solidFill>
                  <a:schemeClr val="dk1"/>
                </a:solidFill>
                <a:effectLst/>
                <a:uFillTx/>
                <a:latin typeface="Calibri"/>
                <a:ea typeface="Calibri"/>
              </a:rPr>
              <a:t>[7] S. Bonthu, “Hybrid Traditional and Deep Learning Approaches for Network Traffic Forecasting with Real-Time Anomaly Detection,” A Comparative Study of ARIMA, LSTM, and ARIMA-LSTM Hybrid Model, May 2025.</a:t>
            </a:r>
            <a:endParaRPr lang="en-US" sz="2000" b="0" u="none" strike="noStrike">
              <a:solidFill>
                <a:srgbClr val="000000"/>
              </a:solidFill>
              <a:effectLst/>
              <a:uFillTx/>
              <a:latin typeface="Arial"/>
            </a:endParaRPr>
          </a:p>
          <a:p>
            <a:pPr indent="0" algn="l">
              <a:lnSpc>
                <a:spcPct val="90000"/>
              </a:lnSpc>
              <a:spcBef>
                <a:spcPts val="2180"/>
              </a:spcBef>
              <a:buNone/>
              <a:tabLst>
                <a:tab pos="0" algn="l"/>
              </a:tabLst>
            </a:pPr>
            <a:r>
              <a:rPr lang="en-US" sz="2000" b="0" u="none" strike="noStrike">
                <a:solidFill>
                  <a:schemeClr val="dk1"/>
                </a:solidFill>
                <a:effectLst/>
                <a:uFillTx/>
                <a:latin typeface="Calibri"/>
                <a:ea typeface="Calibri"/>
              </a:rPr>
              <a:t>[8] X. Wu, C. Wu, and P. Deng, “Prediction of Packet Loss Rate in Non-Stationary Networks Based on Time-Varying Autoregressive Sequences,” Electronics, vol. 12, no. 5, pp. 1103–1103, Feb. 2023, doi: </a:t>
            </a:r>
            <a:r>
              <a:rPr lang="en-US" sz="2000" b="0" u="sng" strike="noStrike">
                <a:solidFill>
                  <a:schemeClr val="hlink"/>
                </a:solidFill>
                <a:effectLst/>
                <a:uFillTx/>
                <a:latin typeface="Calibri"/>
                <a:ea typeface="Calibri"/>
                <a:hlinkClick r:id="rId1"/>
              </a:rPr>
              <a:t>https://doi.org/10.3390/electronics12051103</a:t>
            </a:r>
            <a:r>
              <a:rPr lang="en-US" sz="2000" b="0" u="none" strike="noStrike">
                <a:solidFill>
                  <a:schemeClr val="dk1"/>
                </a:solidFill>
                <a:effectLst/>
                <a:uFillTx/>
                <a:latin typeface="Calibri"/>
                <a:ea typeface="Calibri"/>
              </a:rPr>
              <a:t>.</a:t>
            </a:r>
            <a:endParaRPr lang="en-US" sz="2000" b="0" u="none" strike="noStrike">
              <a:solidFill>
                <a:srgbClr val="000000"/>
              </a:solidFill>
              <a:effectLst/>
              <a:uFillTx/>
              <a:latin typeface="Arial"/>
            </a:endParaRPr>
          </a:p>
          <a:p>
            <a:pPr indent="0" algn="l">
              <a:lnSpc>
                <a:spcPct val="90000"/>
              </a:lnSpc>
              <a:spcBef>
                <a:spcPts val="2180"/>
              </a:spcBef>
              <a:buNone/>
              <a:tabLst>
                <a:tab pos="0" algn="l"/>
              </a:tabLst>
            </a:pPr>
            <a:r>
              <a:rPr lang="en-US" sz="2000" b="0" u="none" strike="noStrike">
                <a:solidFill>
                  <a:schemeClr val="dk1"/>
                </a:solidFill>
                <a:effectLst/>
                <a:uFillTx/>
                <a:latin typeface="Calibri"/>
                <a:ea typeface="Calibri"/>
              </a:rPr>
              <a:t>[9] M. Najim Abdulleh and S. Yussof, “Performance Analysis of AODV, OLSR and GPSR MANET Routing Protocols with Respect to Network Size and Density,” Research Journal of Applied Sciences, Engineering and Technology, vol. 11, no. 4, pp. 400–406, Oct. 2015, doi: https://doi.org/10.19026/rjaset.11.1794.</a:t>
            </a:r>
            <a:endParaRPr lang="en-US" sz="2000" b="0" u="none" strike="noStrike">
              <a:solidFill>
                <a:srgbClr val="000000"/>
              </a:solidFill>
              <a:effectLst/>
              <a:uFillTx/>
              <a:latin typeface="Arial"/>
            </a:endParaRPr>
          </a:p>
          <a:p>
            <a:pPr indent="0" algn="l">
              <a:lnSpc>
                <a:spcPct val="90000"/>
              </a:lnSpc>
              <a:spcBef>
                <a:spcPts val="2180"/>
              </a:spcBef>
              <a:buNone/>
              <a:tabLst>
                <a:tab pos="0" algn="l"/>
              </a:tabLst>
            </a:pPr>
            <a:r>
              <a:rPr lang="en-US" sz="2000" b="0" u="none" strike="noStrike">
                <a:solidFill>
                  <a:schemeClr val="dk1"/>
                </a:solidFill>
                <a:effectLst/>
                <a:uFillTx/>
                <a:latin typeface="Calibri"/>
                <a:ea typeface="Calibri"/>
              </a:rPr>
              <a:t>[10] E. Owoeye, T. Komolafe, I. Oke, S. Adegbola, I. Adeyemo, and A. Saka, “Adaptive Hybrid Routing for Wireless Mesh Networks in Smart Grid,” 2025, doi: https://doi.org/10.2139/ssrn.5752382.</a:t>
            </a:r>
            <a:endParaRPr lang="en-US" sz="2000" b="0" u="none" strike="noStrike">
              <a:solidFill>
                <a:srgbClr val="000000"/>
              </a:solidFill>
              <a:effectLst/>
              <a:uFillTx/>
              <a:latin typeface="Arial"/>
            </a:endParaRPr>
          </a:p>
          <a:p>
            <a:pPr indent="0" algn="l">
              <a:lnSpc>
                <a:spcPct val="90000"/>
              </a:lnSpc>
              <a:spcBef>
                <a:spcPts val="2180"/>
              </a:spcBef>
              <a:buNone/>
              <a:tabLst>
                <a:tab pos="0" algn="l"/>
              </a:tabLst>
            </a:pPr>
            <a:r>
              <a:rPr lang="en-US" sz="2000" b="0" u="none" strike="noStrike">
                <a:solidFill>
                  <a:schemeClr val="dk1"/>
                </a:solidFill>
                <a:effectLst/>
                <a:uFillTx/>
                <a:latin typeface="Calibri"/>
                <a:ea typeface="Calibri"/>
              </a:rPr>
              <a:t>[11] Z. Jia and C. Zhang, “Time-Varying Autoregressive Models: A Novel Approach Using Physics-Informed Neural Networks,” Entropy, vol. 27, no. 9, p. 934, Sep. 2025, doi: https://doi.org/10.3390/e27090934.</a:t>
            </a:r>
            <a:endParaRPr lang="en-US" sz="2000" b="0" u="none" strike="noStrike">
              <a:solidFill>
                <a:srgbClr val="000000"/>
              </a:solidFill>
              <a:effectLst/>
              <a:uFillTx/>
              <a:latin typeface="Arial"/>
            </a:endParaRPr>
          </a:p>
          <a:p>
            <a:pPr indent="0" algn="l">
              <a:lnSpc>
                <a:spcPct val="90000"/>
              </a:lnSpc>
              <a:spcBef>
                <a:spcPts val="2180"/>
              </a:spcBef>
              <a:buNone/>
              <a:tabLst>
                <a:tab pos="0" algn="l"/>
              </a:tabLst>
            </a:pPr>
            <a:r>
              <a:rPr lang="en-US" sz="2000" b="0" u="none" strike="noStrike">
                <a:solidFill>
                  <a:schemeClr val="dk1"/>
                </a:solidFill>
                <a:effectLst/>
                <a:uFillTx/>
                <a:latin typeface="Calibri"/>
                <a:ea typeface="Calibri"/>
              </a:rPr>
              <a:t>[12] GeeksforGeeks, "Introduction of Mobile Ad hoc Network (MANET)," GeeksforGeeks, 2024.[Online].Available:</a:t>
            </a:r>
            <a:r>
              <a:rPr lang="en-US" sz="2000" b="0" u="sng" strike="noStrike">
                <a:solidFill>
                  <a:schemeClr val="hlink"/>
                </a:solidFill>
                <a:effectLst/>
                <a:uFillTx/>
                <a:latin typeface="Calibri"/>
                <a:ea typeface="Calibri"/>
                <a:hlinkClick r:id="rId2"/>
              </a:rPr>
              <a:t> https://www.geeksforgeeks.org/computer-networks/introduction-of-mobile-ad-hoc-network-manet/</a:t>
            </a:r>
            <a:r>
              <a:rPr lang="en-US" sz="2000" b="0" u="none" strike="noStrike">
                <a:solidFill>
                  <a:schemeClr val="dk1"/>
                </a:solidFill>
                <a:effectLst/>
                <a:uFillTx/>
                <a:latin typeface="Calibri"/>
                <a:ea typeface="Calibri"/>
              </a:rPr>
              <a:t>. [Accessed: June 14, 2026]. </a:t>
            </a:r>
            <a:endParaRPr lang="en-US" sz="2000" b="0" u="none" strike="noStrike">
              <a:solidFill>
                <a:srgbClr val="000000"/>
              </a:solidFill>
              <a:effectLst/>
              <a:uFillTx/>
              <a:latin typeface="Arial"/>
            </a:endParaRPr>
          </a:p>
        </p:txBody>
      </p:sp>
      <p:sp>
        <p:nvSpPr>
          <p:cNvPr id="497" name="Google Shape;609;p18"/>
          <p:cNvSpPr/>
          <p:nvPr/>
        </p:nvSpPr>
        <p:spPr>
          <a:xfrm>
            <a:off x="571680" y="6176880"/>
            <a:ext cx="951480" cy="6775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FFFFFF"/>
                </a:solidFill>
                <a:effectLst/>
                <a:uFillTx/>
                <a:latin typeface="Calibri"/>
                <a:ea typeface="Calibri"/>
              </a:rPr>
              <a:t>Page 20</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8" name="PlaceHolder 1"/>
          <p:cNvSpPr>
            <a:spLocks noGrp="1"/>
          </p:cNvSpPr>
          <p:nvPr>
            <p:ph type="title"/>
          </p:nvPr>
        </p:nvSpPr>
        <p:spPr>
          <a:xfrm>
            <a:off x="0" y="228600"/>
            <a:ext cx="12188880" cy="606240"/>
          </a:xfrm>
          <a:prstGeom prst="rect">
            <a:avLst/>
          </a:prstGeom>
          <a:noFill/>
          <a:ln w="0">
            <a:noFill/>
          </a:ln>
        </p:spPr>
        <p:txBody>
          <a:bodyPr lIns="91440" tIns="45720" rIns="91440" bIns="45720" anchor="ctr">
            <a:normAutofit/>
          </a:bodyPr>
          <a:p>
            <a:pPr indent="0" algn="ctr">
              <a:lnSpc>
                <a:spcPct val="80000"/>
              </a:lnSpc>
              <a:buNone/>
              <a:tabLst>
                <a:tab pos="0" algn="l"/>
              </a:tabLst>
            </a:pPr>
            <a:r>
              <a:rPr lang="en-US" sz="3600" b="1" u="none" strike="noStrike">
                <a:solidFill>
                  <a:srgbClr val="002060"/>
                </a:solidFill>
                <a:effectLst/>
                <a:uFillTx/>
                <a:latin typeface="Calibri"/>
                <a:ea typeface="Calibri"/>
              </a:rPr>
              <a:t>REFERENCES</a:t>
            </a:r>
            <a:endParaRPr lang="en-US" sz="3600" b="0" u="none" strike="noStrike">
              <a:solidFill>
                <a:srgbClr val="000000"/>
              </a:solidFill>
              <a:effectLst/>
              <a:uFillTx/>
              <a:latin typeface="Arial"/>
            </a:endParaRPr>
          </a:p>
        </p:txBody>
      </p:sp>
      <p:sp>
        <p:nvSpPr>
          <p:cNvPr id="499" name="PlaceHolder 2"/>
          <p:cNvSpPr>
            <a:spLocks noGrp="1"/>
          </p:cNvSpPr>
          <p:nvPr>
            <p:ph/>
          </p:nvPr>
        </p:nvSpPr>
        <p:spPr>
          <a:xfrm>
            <a:off x="0" y="838080"/>
            <a:ext cx="12188880" cy="5330880"/>
          </a:xfrm>
          <a:prstGeom prst="rect">
            <a:avLst/>
          </a:prstGeom>
          <a:noFill/>
          <a:ln w="0">
            <a:noFill/>
          </a:ln>
        </p:spPr>
        <p:txBody>
          <a:bodyPr lIns="91440" tIns="45720" rIns="91440" bIns="45720" anchor="t">
            <a:noAutofit/>
          </a:bodyPr>
          <a:p>
            <a:pPr indent="0" algn="l">
              <a:lnSpc>
                <a:spcPct val="90000"/>
              </a:lnSpc>
              <a:spcBef>
                <a:spcPts val="1417"/>
              </a:spcBef>
              <a:buNone/>
              <a:tabLst>
                <a:tab pos="0" algn="l"/>
              </a:tabLst>
            </a:pPr>
            <a:r>
              <a:rPr lang="en-US" sz="2000" b="0" u="none" strike="noStrike">
                <a:solidFill>
                  <a:schemeClr val="dk1"/>
                </a:solidFill>
                <a:effectLst/>
                <a:uFillTx/>
                <a:latin typeface="Calibri"/>
                <a:ea typeface="Calibri"/>
              </a:rPr>
              <a:t>[13] J. M. B. Haslbeck, L. F. Bringmann, and L. J. Waldorp, “A tutorial on Estimating Time-Varying Vector Autoregressive Models,” Multivariate Behavioral Research, vol. 56, no. 1, pp. 120–149, Apr. 2020, doi: 10.1080/00273171.2020.1743630.</a:t>
            </a:r>
            <a:endParaRPr lang="en-US" sz="2000" b="0" u="none" strike="noStrike">
              <a:solidFill>
                <a:srgbClr val="000000"/>
              </a:solidFill>
              <a:effectLst/>
              <a:uFillTx/>
              <a:latin typeface="Arial"/>
            </a:endParaRPr>
          </a:p>
          <a:p>
            <a:pPr indent="0" algn="l">
              <a:lnSpc>
                <a:spcPct val="90000"/>
              </a:lnSpc>
              <a:spcBef>
                <a:spcPts val="2180"/>
              </a:spcBef>
              <a:buNone/>
              <a:tabLst>
                <a:tab pos="0" algn="l"/>
              </a:tabLst>
            </a:pPr>
            <a:r>
              <a:rPr lang="en-US" sz="2000" b="0" u="none" strike="noStrike">
                <a:solidFill>
                  <a:schemeClr val="dk1"/>
                </a:solidFill>
                <a:effectLst/>
                <a:uFillTx/>
                <a:latin typeface="Calibri"/>
                <a:ea typeface="Calibri"/>
              </a:rPr>
              <a:t>[14] R. Abduljabbar, H. Dia, P.-W. Tsai, and S. Liyanage, “Short-Term Traffic Forecasting: An LSTM Network for Spatial-Temporal Speed Prediction,” Future Transportation, vol. 1, no. 1, pp. 21–37, Mar. 2021, doi: 10.3390/futuretransp1010003.</a:t>
            </a:r>
            <a:endParaRPr lang="en-US" sz="2000" b="0" u="none" strike="noStrike">
              <a:solidFill>
                <a:srgbClr val="000000"/>
              </a:solidFill>
              <a:effectLst/>
              <a:uFillTx/>
              <a:latin typeface="Arial"/>
            </a:endParaRPr>
          </a:p>
          <a:p>
            <a:pPr indent="0" algn="l">
              <a:lnSpc>
                <a:spcPct val="90000"/>
              </a:lnSpc>
              <a:spcBef>
                <a:spcPts val="2180"/>
              </a:spcBef>
              <a:buNone/>
              <a:tabLst>
                <a:tab pos="0" algn="l"/>
              </a:tabLst>
            </a:pPr>
            <a:r>
              <a:rPr lang="en-US" sz="2000" b="0" u="none" strike="noStrike">
                <a:solidFill>
                  <a:schemeClr val="dk1"/>
                </a:solidFill>
                <a:effectLst/>
                <a:uFillTx/>
                <a:latin typeface="Calibri"/>
                <a:ea typeface="Calibri"/>
              </a:rPr>
              <a:t>[15] “Comparative Study of Routing Protocols,” vol. 13, no. 10, Oct. 2024.</a:t>
            </a:r>
            <a:endParaRPr lang="en-US" sz="2000" b="0" u="none" strike="noStrike">
              <a:solidFill>
                <a:srgbClr val="000000"/>
              </a:solidFill>
              <a:effectLst/>
              <a:uFillTx/>
              <a:latin typeface="Arial"/>
            </a:endParaRPr>
          </a:p>
          <a:p>
            <a:pPr indent="0" algn="l">
              <a:lnSpc>
                <a:spcPct val="90000"/>
              </a:lnSpc>
              <a:spcBef>
                <a:spcPts val="2180"/>
              </a:spcBef>
              <a:buNone/>
              <a:tabLst>
                <a:tab pos="0" algn="l"/>
              </a:tabLst>
            </a:pPr>
            <a:r>
              <a:rPr lang="en-US" sz="2000" b="0" u="none" strike="noStrike">
                <a:solidFill>
                  <a:schemeClr val="dk1"/>
                </a:solidFill>
                <a:effectLst/>
                <a:uFillTx/>
                <a:latin typeface="Calibri"/>
                <a:ea typeface="Calibri"/>
              </a:rPr>
              <a:t>[16] H. Yu, K. Zeng and P. Mohapatra, (2011). Measurement-Based Short-Term Performance Prediction in Wireless Mesh Networks. 2011 Proceedings of 20th International Conference on Computer Communications and Networks (ICCCN), pp.1–6. doi:</a:t>
            </a:r>
            <a:r>
              <a:rPr lang="en-US" sz="2000" b="0" u="sng" strike="noStrike">
                <a:solidFill>
                  <a:schemeClr val="hlink"/>
                </a:solidFill>
                <a:effectLst/>
                <a:uFillTx/>
                <a:latin typeface="Calibri"/>
                <a:ea typeface="Calibri"/>
                <a:hlinkClick r:id="rId1"/>
              </a:rPr>
              <a:t>https://doi.org/10.1109/icccn.2011.6005763</a:t>
            </a:r>
            <a:r>
              <a:rPr lang="en-US" sz="2000" b="0" u="none" strike="noStrike">
                <a:solidFill>
                  <a:schemeClr val="dk1"/>
                </a:solidFill>
                <a:effectLst/>
                <a:uFillTx/>
                <a:latin typeface="Calibri"/>
                <a:ea typeface="Calibri"/>
              </a:rPr>
              <a:t>.</a:t>
            </a:r>
            <a:endParaRPr lang="en-US" sz="2000" b="0" u="none" strike="noStrike">
              <a:solidFill>
                <a:srgbClr val="000000"/>
              </a:solidFill>
              <a:effectLst/>
              <a:uFillTx/>
              <a:latin typeface="Arial"/>
            </a:endParaRPr>
          </a:p>
          <a:p>
            <a:pPr indent="0" algn="l">
              <a:lnSpc>
                <a:spcPct val="90000"/>
              </a:lnSpc>
              <a:spcBef>
                <a:spcPts val="2180"/>
              </a:spcBef>
              <a:buNone/>
              <a:tabLst>
                <a:tab pos="0" algn="l"/>
              </a:tabLst>
            </a:pPr>
            <a:r>
              <a:rPr lang="en-US" sz="2000" b="0" u="none" strike="noStrike">
                <a:solidFill>
                  <a:schemeClr val="dk1"/>
                </a:solidFill>
                <a:effectLst/>
                <a:uFillTx/>
                <a:latin typeface="Calibri"/>
                <a:ea typeface="Calibri"/>
              </a:rPr>
              <a:t>[17] A. Mozo, B. Ordozgoiti, and S. Gómez-Canaval, “Forecasting short-term data center network traffic load with convolutional neural networks,” PLOS ONE, vol. 13, no. 2, p. e0191939, Feb. 2018, doi: </a:t>
            </a:r>
            <a:r>
              <a:rPr lang="en-US" sz="2000" b="0" u="sng" strike="noStrike">
                <a:solidFill>
                  <a:schemeClr val="hlink"/>
                </a:solidFill>
                <a:effectLst/>
                <a:uFillTx/>
                <a:latin typeface="Calibri"/>
                <a:ea typeface="Calibri"/>
                <a:hlinkClick r:id="rId2"/>
              </a:rPr>
              <a:t>https://doi.org/10.1371/journal.pone.0191939</a:t>
            </a:r>
            <a:r>
              <a:rPr lang="en-US" sz="2000" b="0" u="none" strike="noStrike">
                <a:solidFill>
                  <a:schemeClr val="dk1"/>
                </a:solidFill>
                <a:effectLst/>
                <a:uFillTx/>
                <a:latin typeface="Calibri"/>
                <a:ea typeface="Calibri"/>
              </a:rPr>
              <a:t>.</a:t>
            </a:r>
            <a:endParaRPr lang="en-US" sz="2000" b="0" u="none" strike="noStrike">
              <a:solidFill>
                <a:srgbClr val="000000"/>
              </a:solidFill>
              <a:effectLst/>
              <a:uFillTx/>
              <a:latin typeface="Arial"/>
            </a:endParaRPr>
          </a:p>
          <a:p>
            <a:pPr indent="0" algn="l">
              <a:lnSpc>
                <a:spcPct val="90000"/>
              </a:lnSpc>
              <a:spcBef>
                <a:spcPts val="2180"/>
              </a:spcBef>
              <a:buNone/>
              <a:tabLst>
                <a:tab pos="0" algn="l"/>
              </a:tabLst>
            </a:pPr>
            <a:r>
              <a:rPr lang="en-US" sz="2000" b="0" u="none" strike="noStrike">
                <a:solidFill>
                  <a:schemeClr val="dk1"/>
                </a:solidFill>
                <a:effectLst/>
                <a:uFillTx/>
                <a:latin typeface="Calibri"/>
                <a:ea typeface="Calibri"/>
              </a:rPr>
              <a:t>[18] J. Brownlee, Introduction to Time Series Forecasting With Python. Machine Learning Mastery, edition 1.9, 2020.</a:t>
            </a:r>
            <a:endParaRPr lang="en-US" sz="2000" b="0" u="none" strike="noStrike">
              <a:solidFill>
                <a:srgbClr val="000000"/>
              </a:solidFill>
              <a:effectLst/>
              <a:uFillTx/>
              <a:latin typeface="Arial"/>
            </a:endParaRPr>
          </a:p>
        </p:txBody>
      </p:sp>
      <p:sp>
        <p:nvSpPr>
          <p:cNvPr id="500" name="Google Shape;616;p19"/>
          <p:cNvSpPr/>
          <p:nvPr/>
        </p:nvSpPr>
        <p:spPr>
          <a:xfrm>
            <a:off x="571680" y="6176880"/>
            <a:ext cx="951480" cy="6775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FFFFFF"/>
                </a:solidFill>
                <a:effectLst/>
                <a:uFillTx/>
                <a:latin typeface="Calibri"/>
                <a:ea typeface="Calibri"/>
              </a:rPr>
              <a:t>Page 21</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title"/>
          </p:nvPr>
        </p:nvSpPr>
        <p:spPr>
          <a:xfrm>
            <a:off x="0" y="228600"/>
            <a:ext cx="12188880" cy="606240"/>
          </a:xfrm>
          <a:prstGeom prst="rect">
            <a:avLst/>
          </a:prstGeom>
          <a:noFill/>
          <a:ln w="0">
            <a:noFill/>
          </a:ln>
        </p:spPr>
        <p:txBody>
          <a:bodyPr lIns="91440" tIns="45720" rIns="91440" bIns="45720" anchor="ctr">
            <a:normAutofit/>
          </a:bodyPr>
          <a:p>
            <a:pPr indent="0" algn="ctr">
              <a:lnSpc>
                <a:spcPct val="80000"/>
              </a:lnSpc>
              <a:buNone/>
              <a:tabLst>
                <a:tab pos="0" algn="l"/>
              </a:tabLst>
            </a:pPr>
            <a:r>
              <a:rPr lang="en-US" sz="3600" b="1" u="none" strike="noStrike">
                <a:solidFill>
                  <a:srgbClr val="002060"/>
                </a:solidFill>
                <a:effectLst/>
                <a:uFillTx/>
                <a:latin typeface="Calibri"/>
                <a:ea typeface="Calibri"/>
              </a:rPr>
              <a:t>REFERENCES</a:t>
            </a:r>
            <a:endParaRPr lang="en-US" sz="3600" b="0" u="none" strike="noStrike">
              <a:solidFill>
                <a:srgbClr val="000000"/>
              </a:solidFill>
              <a:effectLst/>
              <a:uFillTx/>
              <a:latin typeface="Arial"/>
            </a:endParaRPr>
          </a:p>
        </p:txBody>
      </p:sp>
      <p:sp>
        <p:nvSpPr>
          <p:cNvPr id="502" name="PlaceHolder 2"/>
          <p:cNvSpPr>
            <a:spLocks noGrp="1"/>
          </p:cNvSpPr>
          <p:nvPr>
            <p:ph/>
          </p:nvPr>
        </p:nvSpPr>
        <p:spPr>
          <a:xfrm>
            <a:off x="0" y="838080"/>
            <a:ext cx="12188880" cy="5330880"/>
          </a:xfrm>
          <a:prstGeom prst="rect">
            <a:avLst/>
          </a:prstGeom>
          <a:noFill/>
          <a:ln w="0">
            <a:noFill/>
          </a:ln>
        </p:spPr>
        <p:txBody>
          <a:bodyPr lIns="91440" tIns="45720" rIns="91440" bIns="45720" anchor="t">
            <a:noAutofit/>
          </a:bodyPr>
          <a:p>
            <a:pPr indent="0" algn="l">
              <a:lnSpc>
                <a:spcPct val="90000"/>
              </a:lnSpc>
              <a:spcBef>
                <a:spcPts val="1417"/>
              </a:spcBef>
              <a:buNone/>
              <a:tabLst>
                <a:tab pos="0" algn="l"/>
              </a:tabLst>
            </a:pPr>
            <a:r>
              <a:rPr lang="en-US" sz="2000" b="0" u="none" strike="noStrike">
                <a:solidFill>
                  <a:schemeClr val="dk1"/>
                </a:solidFill>
                <a:effectLst/>
                <a:uFillTx/>
                <a:latin typeface="Calibri"/>
                <a:ea typeface="Calibri"/>
              </a:rPr>
              <a:t>  [19] D. A. Dugaev and E. Siemens, “A Wireless Mesh Network NS-3 Simulation Model: Implementation and Performance Comparison With a Real Test-Bed,” International Conference on Applied Innovation in IT, vol. 2, no. 1, Feb. 2019, doi: 10.13142/kt10002.01.</a:t>
            </a:r>
            <a:endParaRPr lang="en-US" sz="2000" b="0" u="none" strike="noStrike">
              <a:solidFill>
                <a:srgbClr val="000000"/>
              </a:solidFill>
              <a:effectLst/>
              <a:uFillTx/>
              <a:latin typeface="Arial"/>
            </a:endParaRPr>
          </a:p>
        </p:txBody>
      </p:sp>
      <p:sp>
        <p:nvSpPr>
          <p:cNvPr id="503" name="Google Shape;623;p20"/>
          <p:cNvSpPr/>
          <p:nvPr/>
        </p:nvSpPr>
        <p:spPr>
          <a:xfrm>
            <a:off x="571680" y="6176880"/>
            <a:ext cx="951480" cy="67752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US" sz="1400" b="0" u="none" strike="noStrike">
                <a:solidFill>
                  <a:srgbClr val="FFFFFF"/>
                </a:solidFill>
                <a:effectLst/>
                <a:uFillTx/>
                <a:latin typeface="Calibri"/>
                <a:ea typeface="Calibri"/>
              </a:rPr>
              <a:t>Page 22</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PlaceHolder 1"/>
          <p:cNvSpPr>
            <a:spLocks noGrp="1"/>
          </p:cNvSpPr>
          <p:nvPr>
            <p:ph type="title"/>
          </p:nvPr>
        </p:nvSpPr>
        <p:spPr>
          <a:xfrm>
            <a:off x="838080" y="1600560"/>
            <a:ext cx="10512000" cy="1321920"/>
          </a:xfrm>
          <a:prstGeom prst="rect">
            <a:avLst/>
          </a:prstGeom>
          <a:noFill/>
          <a:ln w="0">
            <a:noFill/>
          </a:ln>
        </p:spPr>
        <p:txBody>
          <a:bodyPr lIns="91440" tIns="45720" rIns="91440" bIns="45720" anchor="ctr">
            <a:noAutofit/>
          </a:bodyPr>
          <a:p>
            <a:pPr indent="0" algn="ctr">
              <a:lnSpc>
                <a:spcPct val="90000"/>
              </a:lnSpc>
              <a:buNone/>
              <a:tabLst>
                <a:tab pos="0" algn="l"/>
              </a:tabLst>
            </a:pPr>
            <a:r>
              <a:rPr lang="en-US" sz="9000" b="1" u="sng" strike="noStrike">
                <a:solidFill>
                  <a:srgbClr val="E30000"/>
                </a:solidFill>
                <a:effectLst/>
                <a:uFillTx/>
                <a:latin typeface="Calibri"/>
                <a:ea typeface="Calibri"/>
              </a:rPr>
              <a:t>THANK YOU</a:t>
            </a:r>
            <a:endParaRPr lang="en-US" sz="9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1.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67</TotalTime>
  <Application>LibreOffice/26.2.6.3$Windows_X86_64 LibreOffice_project/8221e31b3ac356a1623c672912a3d2b492f7e3d1</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2026-10-22T05:44:39Z</dcterms:modified>
  <cp:revision>16</cp:revision>
  <dc:subject/>
  <dc:title/>
</cp:coreProperties>
</file>

<file path=docProps/custom.xml><?xml version="1.0" encoding="utf-8"?>
<Properties xmlns="http://schemas.openxmlformats.org/officeDocument/2006/custom-properties" xmlns:vt="http://schemas.openxmlformats.org/officeDocument/2006/docPropsVTypes"/>
</file>